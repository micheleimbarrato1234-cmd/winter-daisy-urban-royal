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62" r:id="rId2"/>
    <p:sldId id="290" r:id="rId3"/>
    <p:sldId id="308" r:id="rId4"/>
    <p:sldId id="291" r:id="rId5"/>
    <p:sldId id="309" r:id="rId6"/>
    <p:sldId id="337" r:id="rId7"/>
    <p:sldId id="310" r:id="rId8"/>
    <p:sldId id="311" r:id="rId9"/>
    <p:sldId id="338" r:id="rId10"/>
    <p:sldId id="312" r:id="rId11"/>
    <p:sldId id="313" r:id="rId12"/>
    <p:sldId id="314" r:id="rId13"/>
    <p:sldId id="315" r:id="rId14"/>
    <p:sldId id="339" r:id="rId15"/>
    <p:sldId id="340" r:id="rId16"/>
    <p:sldId id="333" r:id="rId17"/>
    <p:sldId id="334" r:id="rId18"/>
    <p:sldId id="335" r:id="rId19"/>
    <p:sldId id="341" r:id="rId20"/>
    <p:sldId id="336" r:id="rId21"/>
    <p:sldId id="317" r:id="rId22"/>
    <p:sldId id="318" r:id="rId23"/>
    <p:sldId id="319" r:id="rId24"/>
    <p:sldId id="342" r:id="rId25"/>
    <p:sldId id="320" r:id="rId26"/>
    <p:sldId id="323" r:id="rId27"/>
    <p:sldId id="322" r:id="rId28"/>
    <p:sldId id="324" r:id="rId29"/>
    <p:sldId id="343" r:id="rId30"/>
    <p:sldId id="325" r:id="rId31"/>
    <p:sldId id="326" r:id="rId32"/>
    <p:sldId id="328" r:id="rId33"/>
    <p:sldId id="327" r:id="rId34"/>
    <p:sldId id="329" r:id="rId35"/>
    <p:sldId id="330" r:id="rId36"/>
    <p:sldId id="332" r:id="rId37"/>
    <p:sldId id="344" r:id="rId38"/>
    <p:sldId id="345" r:id="rId39"/>
    <p:sldId id="346" r:id="rId40"/>
    <p:sldId id="292" r:id="rId41"/>
    <p:sldId id="26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C9DB1F-F246-422E-9D69-5E2B0FB7BEA5}">
          <p14:sldIdLst>
            <p14:sldId id="262"/>
            <p14:sldId id="290"/>
            <p14:sldId id="308"/>
            <p14:sldId id="291"/>
            <p14:sldId id="309"/>
            <p14:sldId id="337"/>
            <p14:sldId id="310"/>
            <p14:sldId id="311"/>
            <p14:sldId id="338"/>
            <p14:sldId id="312"/>
            <p14:sldId id="313"/>
            <p14:sldId id="314"/>
            <p14:sldId id="315"/>
            <p14:sldId id="339"/>
            <p14:sldId id="340"/>
            <p14:sldId id="333"/>
            <p14:sldId id="334"/>
            <p14:sldId id="335"/>
            <p14:sldId id="341"/>
            <p14:sldId id="336"/>
            <p14:sldId id="317"/>
            <p14:sldId id="318"/>
            <p14:sldId id="319"/>
            <p14:sldId id="342"/>
            <p14:sldId id="320"/>
            <p14:sldId id="323"/>
            <p14:sldId id="322"/>
            <p14:sldId id="324"/>
            <p14:sldId id="343"/>
            <p14:sldId id="325"/>
            <p14:sldId id="326"/>
            <p14:sldId id="328"/>
            <p14:sldId id="327"/>
            <p14:sldId id="329"/>
            <p14:sldId id="330"/>
            <p14:sldId id="332"/>
            <p14:sldId id="344"/>
            <p14:sldId id="345"/>
            <p14:sldId id="346"/>
            <p14:sldId id="292"/>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DAD"/>
    <a:srgbClr val="8FD6EA"/>
    <a:srgbClr val="FFD200"/>
    <a:srgbClr val="E6007E"/>
    <a:srgbClr val="8C0078"/>
    <a:srgbClr val="04572F"/>
    <a:srgbClr val="EEEFF1"/>
    <a:srgbClr val="A6ADB5"/>
    <a:srgbClr val="8191A5"/>
    <a:srgbClr val="C0C8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4660"/>
  </p:normalViewPr>
  <p:slideViewPr>
    <p:cSldViewPr snapToGrid="0">
      <p:cViewPr varScale="1">
        <p:scale>
          <a:sx n="74" d="100"/>
          <a:sy n="74"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43B43-F286-48C1-BBED-D571E17C6AE3}"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7A20C-0A41-4975-BF38-102D39C80972}" type="slidenum">
              <a:rPr lang="en-US" smtClean="0"/>
              <a:t>‹N›</a:t>
            </a:fld>
            <a:endParaRPr lang="en-US"/>
          </a:p>
        </p:txBody>
      </p:sp>
    </p:spTree>
    <p:extLst>
      <p:ext uri="{BB962C8B-B14F-4D97-AF65-F5344CB8AC3E}">
        <p14:creationId xmlns:p14="http://schemas.microsoft.com/office/powerpoint/2010/main" val="2864226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8E59B-3326-4FD4-8806-9EAC0DB7D607}" type="slidenum">
              <a:rPr lang="en-US" smtClean="0"/>
              <a:t>1</a:t>
            </a:fld>
            <a:endParaRPr lang="en-US" dirty="0"/>
          </a:p>
        </p:txBody>
      </p:sp>
    </p:spTree>
    <p:extLst>
      <p:ext uri="{BB962C8B-B14F-4D97-AF65-F5344CB8AC3E}">
        <p14:creationId xmlns:p14="http://schemas.microsoft.com/office/powerpoint/2010/main" val="1724441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8E59B-3326-4FD4-8806-9EAC0DB7D60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25012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www.st.com/trademarks"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077965"/>
            <a:ext cx="5795963" cy="2702071"/>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FA767B04-DB20-575B-553B-88ACD76553EF}"/>
              </a:ext>
            </a:extLst>
          </p:cNvPr>
          <p:cNvSpPr>
            <a:spLocks noGrp="1"/>
          </p:cNvSpPr>
          <p:nvPr>
            <p:ph type="pic" sz="quarter" idx="12" hasCustomPrompt="1"/>
          </p:nvPr>
        </p:nvSpPr>
        <p:spPr>
          <a:xfrm>
            <a:off x="300038" y="0"/>
            <a:ext cx="5495544" cy="6858000"/>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dirty="0"/>
              <a:t>Drag and drop </a:t>
            </a:r>
            <a:br>
              <a:rPr lang="en-US" dirty="0"/>
            </a:br>
            <a:r>
              <a:rPr lang="en-US" dirty="0"/>
              <a:t>a picture here</a:t>
            </a:r>
          </a:p>
        </p:txBody>
      </p:sp>
      <p:pic>
        <p:nvPicPr>
          <p:cNvPr id="6" name="Graphic 7">
            <a:extLst>
              <a:ext uri="{FF2B5EF4-FFF2-40B4-BE49-F238E27FC236}">
                <a16:creationId xmlns:a16="http://schemas.microsoft.com/office/drawing/2014/main" id="{0A935D2C-8C8E-184B-D8FC-8FF74926C0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86242" y="47623"/>
            <a:ext cx="1857226" cy="1280160"/>
          </a:xfrm>
          <a:prstGeom prst="rect">
            <a:avLst/>
          </a:prstGeom>
        </p:spPr>
      </p:pic>
    </p:spTree>
    <p:extLst>
      <p:ext uri="{BB962C8B-B14F-4D97-AF65-F5344CB8AC3E}">
        <p14:creationId xmlns:p14="http://schemas.microsoft.com/office/powerpoint/2010/main" val="361179049"/>
      </p:ext>
    </p:extLst>
  </p:cSld>
  <p:clrMapOvr>
    <a:masterClrMapping/>
  </p:clrMapOvr>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911470" y="1964458"/>
            <a:ext cx="7807324" cy="2929084"/>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911470"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pic>
        <p:nvPicPr>
          <p:cNvPr id="4" name="Graphic 14">
            <a:extLst>
              <a:ext uri="{FF2B5EF4-FFF2-40B4-BE49-F238E27FC236}">
                <a16:creationId xmlns:a16="http://schemas.microsoft.com/office/drawing/2014/main" id="{70CC30A6-5943-4618-79CD-9E122FDCAE6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86242" y="47623"/>
            <a:ext cx="1857226" cy="1280160"/>
          </a:xfrm>
          <a:prstGeom prst="rect">
            <a:avLst/>
          </a:prstGeom>
        </p:spPr>
      </p:pic>
      <p:sp>
        <p:nvSpPr>
          <p:cNvPr id="7" name="Rectangle 6">
            <a:extLst>
              <a:ext uri="{FF2B5EF4-FFF2-40B4-BE49-F238E27FC236}">
                <a16:creationId xmlns:a16="http://schemas.microsoft.com/office/drawing/2014/main" id="{E09F09FF-C8AF-EE46-958B-11187A34AAE5}"/>
              </a:ext>
            </a:extLst>
          </p:cNvPr>
          <p:cNvSpPr/>
          <p:nvPr userDrawn="1"/>
        </p:nvSpPr>
        <p:spPr>
          <a:xfrm>
            <a:off x="-228" y="0"/>
            <a:ext cx="30026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6950517"/>
      </p:ext>
    </p:extLst>
  </p:cSld>
  <p:clrMapOvr>
    <a:masterClrMapping/>
  </p:clrMapOvr>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p:txBody>
          <a:bodyPr/>
          <a:lstStyle>
            <a:lvl1pPr>
              <a:defRPr/>
            </a:lvl1pPr>
          </a:lstStyle>
          <a:p>
            <a:r>
              <a:rPr lang="en-US" dirty="0"/>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33052DD4-CDE3-4E33-AB80-AED4CE4AC39A}" type="datetimeFigureOut">
              <a:rPr lang="en-US" smtClean="0"/>
              <a:t>8/29/2026</a:t>
            </a:fld>
            <a:endParaRPr lang="en-US"/>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40A7B169-58CE-4E65-B1F9-ACF9E46440C2}" type="slidenum">
              <a:rPr lang="en-US" smtClean="0"/>
              <a:t>‹N›</a:t>
            </a:fld>
            <a:endParaRPr lang="en-US"/>
          </a:p>
        </p:txBody>
      </p:sp>
    </p:spTree>
    <p:extLst>
      <p:ext uri="{BB962C8B-B14F-4D97-AF65-F5344CB8AC3E}">
        <p14:creationId xmlns:p14="http://schemas.microsoft.com/office/powerpoint/2010/main" val="3897428650"/>
      </p:ext>
    </p:extLst>
  </p:cSld>
  <p:clrMapOvr>
    <a:masterClrMapping/>
  </p:clrMapOvr>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dirty="0"/>
              <a:t>Section title</a:t>
            </a:r>
          </a:p>
        </p:txBody>
      </p:sp>
      <p:pic>
        <p:nvPicPr>
          <p:cNvPr id="3" name="Graphic 5">
            <a:extLst>
              <a:ext uri="{FF2B5EF4-FFF2-40B4-BE49-F238E27FC236}">
                <a16:creationId xmlns:a16="http://schemas.microsoft.com/office/drawing/2014/main" id="{7B0BAF98-BF01-8628-815D-6C637563DA9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61974" y="6155372"/>
            <a:ext cx="928614" cy="640080"/>
          </a:xfrm>
          <a:prstGeom prst="rect">
            <a:avLst/>
          </a:prstGeom>
        </p:spPr>
      </p:pic>
      <p:sp>
        <p:nvSpPr>
          <p:cNvPr id="5" name="Picture Placeholder 6">
            <a:extLst>
              <a:ext uri="{FF2B5EF4-FFF2-40B4-BE49-F238E27FC236}">
                <a16:creationId xmlns:a16="http://schemas.microsoft.com/office/drawing/2014/main" id="{C4CE3442-CD9D-76CA-881D-CEA1B2E3BE72}"/>
              </a:ext>
            </a:extLst>
          </p:cNvPr>
          <p:cNvSpPr>
            <a:spLocks noGrp="1"/>
          </p:cNvSpPr>
          <p:nvPr>
            <p:ph type="pic" sz="quarter" idx="10" hasCustomPrompt="1"/>
          </p:nvPr>
        </p:nvSpPr>
        <p:spPr>
          <a:xfrm>
            <a:off x="0" y="1304925"/>
            <a:ext cx="12192000" cy="4787900"/>
          </a:xfrm>
          <a:custGeom>
            <a:avLst/>
            <a:gdLst>
              <a:gd name="connsiteX0" fmla="*/ 0 w 12192000"/>
              <a:gd name="connsiteY0" fmla="*/ 0 h 4787900"/>
              <a:gd name="connsiteX1" fmla="*/ 2819399 w 12192000"/>
              <a:gd name="connsiteY1" fmla="*/ 0 h 4787900"/>
              <a:gd name="connsiteX2" fmla="*/ 2819399 w 12192000"/>
              <a:gd name="connsiteY2" fmla="*/ 599281 h 4787900"/>
              <a:gd name="connsiteX3" fmla="*/ 12192000 w 12192000"/>
              <a:gd name="connsiteY3" fmla="*/ 599281 h 4787900"/>
              <a:gd name="connsiteX4" fmla="*/ 12192000 w 12192000"/>
              <a:gd name="connsiteY4" fmla="*/ 4787900 h 4787900"/>
              <a:gd name="connsiteX5" fmla="*/ 0 w 12192000"/>
              <a:gd name="connsiteY5" fmla="*/ 478790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787900">
                <a:moveTo>
                  <a:pt x="0" y="0"/>
                </a:moveTo>
                <a:lnTo>
                  <a:pt x="2819399" y="0"/>
                </a:lnTo>
                <a:lnTo>
                  <a:pt x="2819399" y="599281"/>
                </a:lnTo>
                <a:lnTo>
                  <a:pt x="12192000" y="599281"/>
                </a:lnTo>
                <a:lnTo>
                  <a:pt x="12192000" y="4787900"/>
                </a:lnTo>
                <a:lnTo>
                  <a:pt x="0" y="4787900"/>
                </a:lnTo>
                <a:close/>
              </a:path>
            </a:pathLst>
          </a:custGeom>
          <a:noFill/>
        </p:spPr>
        <p:txBody>
          <a:bodyPr wrap="square" anchor="ctr">
            <a:noAutofit/>
          </a:bodyPr>
          <a:lstStyle>
            <a:lvl1pPr marL="0" indent="0" algn="ctr">
              <a:buNone/>
              <a:defRPr>
                <a:solidFill>
                  <a:srgbClr val="C0C8D2"/>
                </a:solidFill>
              </a:defRPr>
            </a:lvl1pPr>
          </a:lstStyle>
          <a:p>
            <a:r>
              <a:rPr lang="en-US" dirty="0"/>
              <a:t>Drag and drop a picture here (optional)</a:t>
            </a:r>
          </a:p>
        </p:txBody>
      </p:sp>
    </p:spTree>
    <p:extLst>
      <p:ext uri="{BB962C8B-B14F-4D97-AF65-F5344CB8AC3E}">
        <p14:creationId xmlns:p14="http://schemas.microsoft.com/office/powerpoint/2010/main" val="68647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33052DD4-CDE3-4E33-AB80-AED4CE4AC39A}" type="datetimeFigureOut">
              <a:rPr lang="en-US" smtClean="0"/>
              <a:t>8/29/2026</a:t>
            </a:fld>
            <a:endParaRPr lang="en-US"/>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40A7B169-58CE-4E65-B1F9-ACF9E46440C2}" type="slidenum">
              <a:rPr lang="en-US" smtClean="0"/>
              <a:t>‹N›</a:t>
            </a:fld>
            <a:endParaRPr lang="en-US"/>
          </a:p>
        </p:txBody>
      </p:sp>
    </p:spTree>
    <p:extLst>
      <p:ext uri="{BB962C8B-B14F-4D97-AF65-F5344CB8AC3E}">
        <p14:creationId xmlns:p14="http://schemas.microsoft.com/office/powerpoint/2010/main" val="4156552837"/>
      </p:ext>
    </p:extLst>
  </p:cSld>
  <p:clrMapOvr>
    <a:masterClrMapping/>
  </p:clrMapOvr>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33052DD4-CDE3-4E33-AB80-AED4CE4AC39A}" type="datetimeFigureOut">
              <a:rPr lang="en-US" smtClean="0"/>
              <a:t>8/29/2026</a:t>
            </a:fld>
            <a:endParaRPr lang="en-US"/>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40A7B169-58CE-4E65-B1F9-ACF9E46440C2}" type="slidenum">
              <a:rPr lang="en-US" smtClean="0"/>
              <a:t>‹N›</a:t>
            </a:fld>
            <a:endParaRPr lang="en-US"/>
          </a:p>
        </p:txBody>
      </p:sp>
    </p:spTree>
    <p:extLst>
      <p:ext uri="{BB962C8B-B14F-4D97-AF65-F5344CB8AC3E}">
        <p14:creationId xmlns:p14="http://schemas.microsoft.com/office/powerpoint/2010/main" val="1050055051"/>
      </p:ext>
    </p:extLst>
  </p:cSld>
  <p:clrMapOvr>
    <a:masterClrMapping/>
  </p:clrMapOvr>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33052DD4-CDE3-4E33-AB80-AED4CE4AC39A}" type="datetimeFigureOut">
              <a:rPr lang="en-US" smtClean="0"/>
              <a:t>8/29/2026</a:t>
            </a:fld>
            <a:endParaRPr lang="en-US"/>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40A7B169-58CE-4E65-B1F9-ACF9E46440C2}" type="slidenum">
              <a:rPr lang="en-US" smtClean="0"/>
              <a:t>‹N›</a:t>
            </a:fld>
            <a:endParaRPr lang="en-US"/>
          </a:p>
        </p:txBody>
      </p:sp>
    </p:spTree>
    <p:extLst>
      <p:ext uri="{BB962C8B-B14F-4D97-AF65-F5344CB8AC3E}">
        <p14:creationId xmlns:p14="http://schemas.microsoft.com/office/powerpoint/2010/main" val="12296206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Text Placeholder 22">
            <a:extLst>
              <a:ext uri="{FF2B5EF4-FFF2-40B4-BE49-F238E27FC236}">
                <a16:creationId xmlns:a16="http://schemas.microsoft.com/office/drawing/2014/main" id="{D15AA452-2F5A-B772-945B-B0CFC5F3FD90}"/>
              </a:ext>
            </a:extLst>
          </p:cNvPr>
          <p:cNvSpPr>
            <a:spLocks noGrp="1"/>
          </p:cNvSpPr>
          <p:nvPr>
            <p:ph type="body" sz="quarter" idx="14" hasCustomPrompt="1"/>
          </p:nvPr>
        </p:nvSpPr>
        <p:spPr>
          <a:xfrm>
            <a:off x="300038" y="1487433"/>
            <a:ext cx="731520" cy="731520"/>
          </a:xfrm>
          <a:solidFill>
            <a:schemeClr val="accent4"/>
          </a:solidFill>
        </p:spPr>
        <p:txBody>
          <a:bodyPr anchor="ctr"/>
          <a:lstStyle>
            <a:lvl1pPr marL="0" indent="0" algn="ctr">
              <a:buNone/>
              <a:defRPr sz="2800"/>
            </a:lvl1pPr>
          </a:lstStyle>
          <a:p>
            <a:pPr lvl="0"/>
            <a:r>
              <a:rPr lang="en-US" dirty="0"/>
              <a:t>#</a:t>
            </a:r>
          </a:p>
        </p:txBody>
      </p:sp>
      <p:sp>
        <p:nvSpPr>
          <p:cNvPr id="2" name="Title 1">
            <a:extLst>
              <a:ext uri="{FF2B5EF4-FFF2-40B4-BE49-F238E27FC236}">
                <a16:creationId xmlns:a16="http://schemas.microsoft.com/office/drawing/2014/main" id="{B389467D-4E3E-2E79-F1E3-71984118B362}"/>
              </a:ext>
            </a:extLst>
          </p:cNvPr>
          <p:cNvSpPr>
            <a:spLocks noGrp="1"/>
          </p:cNvSpPr>
          <p:nvPr>
            <p:ph type="title" hasCustomPrompt="1"/>
          </p:nvPr>
        </p:nvSpPr>
        <p:spPr/>
        <p:txBody>
          <a:bodyPr/>
          <a:lstStyle>
            <a:lvl1pPr>
              <a:defRPr/>
            </a:lvl1pPr>
          </a:lstStyle>
          <a:p>
            <a:r>
              <a:rPr lang="en-US" dirty="0"/>
              <a:t>Slide title</a:t>
            </a:r>
          </a:p>
        </p:txBody>
      </p:sp>
      <p:sp>
        <p:nvSpPr>
          <p:cNvPr id="3" name="Footer Placeholder 2">
            <a:extLst>
              <a:ext uri="{FF2B5EF4-FFF2-40B4-BE49-F238E27FC236}">
                <a16:creationId xmlns:a16="http://schemas.microsoft.com/office/drawing/2014/main" id="{B130C536-79BA-88B1-166F-BD74971E5AE6}"/>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C20DF25-812A-35DC-2783-1BC33FB9C8AC}"/>
              </a:ext>
            </a:extLst>
          </p:cNvPr>
          <p:cNvSpPr>
            <a:spLocks noGrp="1"/>
          </p:cNvSpPr>
          <p:nvPr>
            <p:ph type="sldNum" sz="quarter" idx="11"/>
          </p:nvPr>
        </p:nvSpPr>
        <p:spPr/>
        <p:txBody>
          <a:bodyPr/>
          <a:lstStyle/>
          <a:p>
            <a:fld id="{40A7B169-58CE-4E65-B1F9-ACF9E46440C2}" type="slidenum">
              <a:rPr lang="en-US" smtClean="0"/>
              <a:t>‹N›</a:t>
            </a:fld>
            <a:endParaRPr lang="en-US"/>
          </a:p>
        </p:txBody>
      </p:sp>
      <p:sp>
        <p:nvSpPr>
          <p:cNvPr id="5" name="Date Placeholder 4">
            <a:extLst>
              <a:ext uri="{FF2B5EF4-FFF2-40B4-BE49-F238E27FC236}">
                <a16:creationId xmlns:a16="http://schemas.microsoft.com/office/drawing/2014/main" id="{FE15D2CF-A487-DE9E-414F-462D62049E40}"/>
              </a:ext>
            </a:extLst>
          </p:cNvPr>
          <p:cNvSpPr>
            <a:spLocks noGrp="1"/>
          </p:cNvSpPr>
          <p:nvPr>
            <p:ph type="dt" sz="half" idx="12"/>
          </p:nvPr>
        </p:nvSpPr>
        <p:spPr/>
        <p:txBody>
          <a:bodyPr/>
          <a:lstStyle/>
          <a:p>
            <a:fld id="{33052DD4-CDE3-4E33-AB80-AED4CE4AC39A}" type="datetimeFigureOut">
              <a:rPr lang="en-US" smtClean="0"/>
              <a:t>8/29/2026</a:t>
            </a:fld>
            <a:endParaRPr lang="en-US"/>
          </a:p>
        </p:txBody>
      </p:sp>
      <p:sp>
        <p:nvSpPr>
          <p:cNvPr id="23" name="Text Placeholder 22">
            <a:extLst>
              <a:ext uri="{FF2B5EF4-FFF2-40B4-BE49-F238E27FC236}">
                <a16:creationId xmlns:a16="http://schemas.microsoft.com/office/drawing/2014/main" id="{229F6FE6-9902-64DD-A000-F3C8D011E5A1}"/>
              </a:ext>
            </a:extLst>
          </p:cNvPr>
          <p:cNvSpPr>
            <a:spLocks noGrp="1"/>
          </p:cNvSpPr>
          <p:nvPr>
            <p:ph type="body" sz="quarter" idx="13" hasCustomPrompt="1"/>
          </p:nvPr>
        </p:nvSpPr>
        <p:spPr>
          <a:xfrm>
            <a:off x="1091649" y="1487433"/>
            <a:ext cx="4754880" cy="731520"/>
          </a:xfrm>
        </p:spPr>
        <p:txBody>
          <a:bodyPr anchor="ctr"/>
          <a:lstStyle>
            <a:lvl1pPr marL="0" indent="0">
              <a:buNone/>
              <a:defRPr sz="2800"/>
            </a:lvl1pPr>
          </a:lstStyle>
          <a:p>
            <a:pPr lvl="0"/>
            <a:r>
              <a:rPr lang="en-US" dirty="0"/>
              <a:t>Topic</a:t>
            </a:r>
          </a:p>
        </p:txBody>
      </p:sp>
      <p:sp>
        <p:nvSpPr>
          <p:cNvPr id="25" name="Text Placeholder 22">
            <a:extLst>
              <a:ext uri="{FF2B5EF4-FFF2-40B4-BE49-F238E27FC236}">
                <a16:creationId xmlns:a16="http://schemas.microsoft.com/office/drawing/2014/main" id="{6E4D8103-4194-5038-5BB3-B27BD01622E3}"/>
              </a:ext>
            </a:extLst>
          </p:cNvPr>
          <p:cNvSpPr>
            <a:spLocks noGrp="1"/>
          </p:cNvSpPr>
          <p:nvPr>
            <p:ph type="body" sz="quarter" idx="15" hasCustomPrompt="1"/>
          </p:nvPr>
        </p:nvSpPr>
        <p:spPr>
          <a:xfrm>
            <a:off x="300038" y="2624425"/>
            <a:ext cx="731520" cy="731520"/>
          </a:xfrm>
          <a:solidFill>
            <a:schemeClr val="accent4"/>
          </a:solidFill>
        </p:spPr>
        <p:txBody>
          <a:bodyPr anchor="ctr"/>
          <a:lstStyle>
            <a:lvl1pPr marL="0" indent="0" algn="ctr">
              <a:buNone/>
              <a:defRPr sz="2800"/>
            </a:lvl1pPr>
          </a:lstStyle>
          <a:p>
            <a:pPr lvl="0"/>
            <a:r>
              <a:rPr lang="en-US" dirty="0"/>
              <a:t>#</a:t>
            </a:r>
          </a:p>
        </p:txBody>
      </p:sp>
      <p:sp>
        <p:nvSpPr>
          <p:cNvPr id="26" name="Text Placeholder 22">
            <a:extLst>
              <a:ext uri="{FF2B5EF4-FFF2-40B4-BE49-F238E27FC236}">
                <a16:creationId xmlns:a16="http://schemas.microsoft.com/office/drawing/2014/main" id="{B333E01B-74F4-BD5A-C789-5CB514934AA4}"/>
              </a:ext>
            </a:extLst>
          </p:cNvPr>
          <p:cNvSpPr>
            <a:spLocks noGrp="1"/>
          </p:cNvSpPr>
          <p:nvPr>
            <p:ph type="body" sz="quarter" idx="16" hasCustomPrompt="1"/>
          </p:nvPr>
        </p:nvSpPr>
        <p:spPr>
          <a:xfrm>
            <a:off x="1091649" y="2624425"/>
            <a:ext cx="4754880" cy="731520"/>
          </a:xfrm>
        </p:spPr>
        <p:txBody>
          <a:bodyPr anchor="ctr"/>
          <a:lstStyle>
            <a:lvl1pPr marL="0" indent="0">
              <a:buNone/>
              <a:defRPr sz="2800"/>
            </a:lvl1pPr>
          </a:lstStyle>
          <a:p>
            <a:pPr lvl="0"/>
            <a:r>
              <a:rPr lang="en-US" dirty="0"/>
              <a:t>Topic</a:t>
            </a:r>
          </a:p>
        </p:txBody>
      </p:sp>
      <p:sp>
        <p:nvSpPr>
          <p:cNvPr id="27" name="Text Placeholder 22">
            <a:extLst>
              <a:ext uri="{FF2B5EF4-FFF2-40B4-BE49-F238E27FC236}">
                <a16:creationId xmlns:a16="http://schemas.microsoft.com/office/drawing/2014/main" id="{09017772-3244-6F37-2086-3BFA0683EAB0}"/>
              </a:ext>
            </a:extLst>
          </p:cNvPr>
          <p:cNvSpPr>
            <a:spLocks noGrp="1"/>
          </p:cNvSpPr>
          <p:nvPr>
            <p:ph type="body" sz="quarter" idx="17" hasCustomPrompt="1"/>
          </p:nvPr>
        </p:nvSpPr>
        <p:spPr>
          <a:xfrm>
            <a:off x="300038" y="3761417"/>
            <a:ext cx="731520" cy="731520"/>
          </a:xfrm>
          <a:solidFill>
            <a:schemeClr val="accent4"/>
          </a:solidFill>
        </p:spPr>
        <p:txBody>
          <a:bodyPr anchor="ctr"/>
          <a:lstStyle>
            <a:lvl1pPr marL="0" indent="0" algn="ctr">
              <a:buNone/>
              <a:defRPr sz="2800"/>
            </a:lvl1pPr>
          </a:lstStyle>
          <a:p>
            <a:pPr lvl="0"/>
            <a:r>
              <a:rPr lang="en-US" dirty="0"/>
              <a:t>#</a:t>
            </a:r>
          </a:p>
        </p:txBody>
      </p:sp>
      <p:sp>
        <p:nvSpPr>
          <p:cNvPr id="28" name="Text Placeholder 22">
            <a:extLst>
              <a:ext uri="{FF2B5EF4-FFF2-40B4-BE49-F238E27FC236}">
                <a16:creationId xmlns:a16="http://schemas.microsoft.com/office/drawing/2014/main" id="{0A08BA30-CC2E-1C99-57CB-92CBBB68B610}"/>
              </a:ext>
            </a:extLst>
          </p:cNvPr>
          <p:cNvSpPr>
            <a:spLocks noGrp="1"/>
          </p:cNvSpPr>
          <p:nvPr>
            <p:ph type="body" sz="quarter" idx="18" hasCustomPrompt="1"/>
          </p:nvPr>
        </p:nvSpPr>
        <p:spPr>
          <a:xfrm>
            <a:off x="1091649" y="3761417"/>
            <a:ext cx="4754880" cy="731520"/>
          </a:xfrm>
        </p:spPr>
        <p:txBody>
          <a:bodyPr anchor="ctr"/>
          <a:lstStyle>
            <a:lvl1pPr marL="0" indent="0">
              <a:buNone/>
              <a:defRPr sz="2800"/>
            </a:lvl1pPr>
          </a:lstStyle>
          <a:p>
            <a:pPr lvl="0"/>
            <a:r>
              <a:rPr lang="en-US" dirty="0"/>
              <a:t>Topic</a:t>
            </a:r>
          </a:p>
        </p:txBody>
      </p:sp>
      <p:sp>
        <p:nvSpPr>
          <p:cNvPr id="29" name="Text Placeholder 22">
            <a:extLst>
              <a:ext uri="{FF2B5EF4-FFF2-40B4-BE49-F238E27FC236}">
                <a16:creationId xmlns:a16="http://schemas.microsoft.com/office/drawing/2014/main" id="{E74361AC-E7BF-9BB0-D531-28E15A7ED06C}"/>
              </a:ext>
            </a:extLst>
          </p:cNvPr>
          <p:cNvSpPr>
            <a:spLocks noGrp="1"/>
          </p:cNvSpPr>
          <p:nvPr>
            <p:ph type="body" sz="quarter" idx="19" hasCustomPrompt="1"/>
          </p:nvPr>
        </p:nvSpPr>
        <p:spPr>
          <a:xfrm>
            <a:off x="300038"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0" name="Text Placeholder 22">
            <a:extLst>
              <a:ext uri="{FF2B5EF4-FFF2-40B4-BE49-F238E27FC236}">
                <a16:creationId xmlns:a16="http://schemas.microsoft.com/office/drawing/2014/main" id="{A2A63932-A9F1-75DE-B4ED-0D62394486DB}"/>
              </a:ext>
            </a:extLst>
          </p:cNvPr>
          <p:cNvSpPr>
            <a:spLocks noGrp="1"/>
          </p:cNvSpPr>
          <p:nvPr>
            <p:ph type="body" sz="quarter" idx="20" hasCustomPrompt="1"/>
          </p:nvPr>
        </p:nvSpPr>
        <p:spPr>
          <a:xfrm>
            <a:off x="1091649" y="4898408"/>
            <a:ext cx="4754880" cy="731520"/>
          </a:xfrm>
        </p:spPr>
        <p:txBody>
          <a:bodyPr anchor="ctr"/>
          <a:lstStyle>
            <a:lvl1pPr marL="0" indent="0">
              <a:buNone/>
              <a:defRPr sz="2800"/>
            </a:lvl1pPr>
          </a:lstStyle>
          <a:p>
            <a:pPr lvl="0"/>
            <a:r>
              <a:rPr lang="en-US" dirty="0"/>
              <a:t>Topic</a:t>
            </a:r>
          </a:p>
        </p:txBody>
      </p:sp>
      <p:sp>
        <p:nvSpPr>
          <p:cNvPr id="31" name="Text Placeholder 22">
            <a:extLst>
              <a:ext uri="{FF2B5EF4-FFF2-40B4-BE49-F238E27FC236}">
                <a16:creationId xmlns:a16="http://schemas.microsoft.com/office/drawing/2014/main" id="{B2E5A9C1-A2AB-4259-82F1-2AE3DFFDBA6C}"/>
              </a:ext>
            </a:extLst>
          </p:cNvPr>
          <p:cNvSpPr>
            <a:spLocks noGrp="1"/>
          </p:cNvSpPr>
          <p:nvPr>
            <p:ph type="body" sz="quarter" idx="21" hasCustomPrompt="1"/>
          </p:nvPr>
        </p:nvSpPr>
        <p:spPr>
          <a:xfrm>
            <a:off x="6096000" y="1487433"/>
            <a:ext cx="731520" cy="731520"/>
          </a:xfrm>
          <a:solidFill>
            <a:schemeClr val="accent4"/>
          </a:solidFill>
        </p:spPr>
        <p:txBody>
          <a:bodyPr anchor="ctr"/>
          <a:lstStyle>
            <a:lvl1pPr marL="0" indent="0" algn="ctr">
              <a:buNone/>
              <a:defRPr sz="2800"/>
            </a:lvl1pPr>
          </a:lstStyle>
          <a:p>
            <a:pPr lvl="0"/>
            <a:r>
              <a:rPr lang="en-US" dirty="0"/>
              <a:t>#</a:t>
            </a:r>
          </a:p>
        </p:txBody>
      </p:sp>
      <p:sp>
        <p:nvSpPr>
          <p:cNvPr id="32" name="Text Placeholder 22">
            <a:extLst>
              <a:ext uri="{FF2B5EF4-FFF2-40B4-BE49-F238E27FC236}">
                <a16:creationId xmlns:a16="http://schemas.microsoft.com/office/drawing/2014/main" id="{461B435B-C211-8417-11B1-5F46A1AC5953}"/>
              </a:ext>
            </a:extLst>
          </p:cNvPr>
          <p:cNvSpPr>
            <a:spLocks noGrp="1"/>
          </p:cNvSpPr>
          <p:nvPr>
            <p:ph type="body" sz="quarter" idx="22" hasCustomPrompt="1"/>
          </p:nvPr>
        </p:nvSpPr>
        <p:spPr>
          <a:xfrm>
            <a:off x="6887611" y="1487433"/>
            <a:ext cx="4754880" cy="731520"/>
          </a:xfrm>
        </p:spPr>
        <p:txBody>
          <a:bodyPr anchor="ctr"/>
          <a:lstStyle>
            <a:lvl1pPr marL="0" indent="0">
              <a:buNone/>
              <a:defRPr sz="2800"/>
            </a:lvl1pPr>
          </a:lstStyle>
          <a:p>
            <a:pPr lvl="0"/>
            <a:r>
              <a:rPr lang="en-US" dirty="0"/>
              <a:t>Topic</a:t>
            </a:r>
          </a:p>
        </p:txBody>
      </p:sp>
      <p:sp>
        <p:nvSpPr>
          <p:cNvPr id="33" name="Text Placeholder 22">
            <a:extLst>
              <a:ext uri="{FF2B5EF4-FFF2-40B4-BE49-F238E27FC236}">
                <a16:creationId xmlns:a16="http://schemas.microsoft.com/office/drawing/2014/main" id="{23E32E66-08FD-72CE-DA85-9B3671D6D2E1}"/>
              </a:ext>
            </a:extLst>
          </p:cNvPr>
          <p:cNvSpPr>
            <a:spLocks noGrp="1"/>
          </p:cNvSpPr>
          <p:nvPr>
            <p:ph type="body" sz="quarter" idx="23" hasCustomPrompt="1"/>
          </p:nvPr>
        </p:nvSpPr>
        <p:spPr>
          <a:xfrm>
            <a:off x="6096000" y="2624425"/>
            <a:ext cx="731520" cy="731520"/>
          </a:xfrm>
          <a:solidFill>
            <a:schemeClr val="accent4"/>
          </a:solidFill>
        </p:spPr>
        <p:txBody>
          <a:bodyPr anchor="ctr"/>
          <a:lstStyle>
            <a:lvl1pPr marL="0" indent="0" algn="ctr">
              <a:buNone/>
              <a:defRPr sz="2800"/>
            </a:lvl1pPr>
          </a:lstStyle>
          <a:p>
            <a:pPr lvl="0"/>
            <a:r>
              <a:rPr lang="en-US" dirty="0"/>
              <a:t>#</a:t>
            </a:r>
          </a:p>
        </p:txBody>
      </p:sp>
      <p:sp>
        <p:nvSpPr>
          <p:cNvPr id="34" name="Text Placeholder 22">
            <a:extLst>
              <a:ext uri="{FF2B5EF4-FFF2-40B4-BE49-F238E27FC236}">
                <a16:creationId xmlns:a16="http://schemas.microsoft.com/office/drawing/2014/main" id="{E0F050B4-6ECE-8FF8-A1AA-3F4C2FBA89D6}"/>
              </a:ext>
            </a:extLst>
          </p:cNvPr>
          <p:cNvSpPr>
            <a:spLocks noGrp="1"/>
          </p:cNvSpPr>
          <p:nvPr>
            <p:ph type="body" sz="quarter" idx="24" hasCustomPrompt="1"/>
          </p:nvPr>
        </p:nvSpPr>
        <p:spPr>
          <a:xfrm>
            <a:off x="6887611" y="2624425"/>
            <a:ext cx="4754880" cy="731520"/>
          </a:xfrm>
        </p:spPr>
        <p:txBody>
          <a:bodyPr anchor="ctr"/>
          <a:lstStyle>
            <a:lvl1pPr marL="0" indent="0">
              <a:buNone/>
              <a:defRPr sz="2800"/>
            </a:lvl1pPr>
          </a:lstStyle>
          <a:p>
            <a:pPr lvl="0"/>
            <a:r>
              <a:rPr lang="en-US" dirty="0"/>
              <a:t>Topic</a:t>
            </a:r>
          </a:p>
        </p:txBody>
      </p:sp>
      <p:sp>
        <p:nvSpPr>
          <p:cNvPr id="35" name="Text Placeholder 22">
            <a:extLst>
              <a:ext uri="{FF2B5EF4-FFF2-40B4-BE49-F238E27FC236}">
                <a16:creationId xmlns:a16="http://schemas.microsoft.com/office/drawing/2014/main" id="{C57D1331-E3D7-C1FD-541B-C64045C74224}"/>
              </a:ext>
            </a:extLst>
          </p:cNvPr>
          <p:cNvSpPr>
            <a:spLocks noGrp="1"/>
          </p:cNvSpPr>
          <p:nvPr>
            <p:ph type="body" sz="quarter" idx="25" hasCustomPrompt="1"/>
          </p:nvPr>
        </p:nvSpPr>
        <p:spPr>
          <a:xfrm>
            <a:off x="6096000" y="3761417"/>
            <a:ext cx="731520" cy="731520"/>
          </a:xfrm>
          <a:solidFill>
            <a:schemeClr val="accent4"/>
          </a:solidFill>
        </p:spPr>
        <p:txBody>
          <a:bodyPr anchor="ctr"/>
          <a:lstStyle>
            <a:lvl1pPr marL="0" indent="0" algn="ctr">
              <a:buNone/>
              <a:defRPr sz="2800"/>
            </a:lvl1pPr>
          </a:lstStyle>
          <a:p>
            <a:pPr lvl="0"/>
            <a:r>
              <a:rPr lang="en-US" dirty="0"/>
              <a:t>#</a:t>
            </a:r>
          </a:p>
        </p:txBody>
      </p:sp>
      <p:sp>
        <p:nvSpPr>
          <p:cNvPr id="36" name="Text Placeholder 22">
            <a:extLst>
              <a:ext uri="{FF2B5EF4-FFF2-40B4-BE49-F238E27FC236}">
                <a16:creationId xmlns:a16="http://schemas.microsoft.com/office/drawing/2014/main" id="{FCBB95E6-B6D9-2B1A-115E-09D087D4660E}"/>
              </a:ext>
            </a:extLst>
          </p:cNvPr>
          <p:cNvSpPr>
            <a:spLocks noGrp="1"/>
          </p:cNvSpPr>
          <p:nvPr>
            <p:ph type="body" sz="quarter" idx="26" hasCustomPrompt="1"/>
          </p:nvPr>
        </p:nvSpPr>
        <p:spPr>
          <a:xfrm>
            <a:off x="6887611" y="3761417"/>
            <a:ext cx="4754880" cy="731520"/>
          </a:xfrm>
        </p:spPr>
        <p:txBody>
          <a:bodyPr anchor="ctr"/>
          <a:lstStyle>
            <a:lvl1pPr marL="0" indent="0">
              <a:buNone/>
              <a:defRPr sz="2800"/>
            </a:lvl1pPr>
          </a:lstStyle>
          <a:p>
            <a:pPr lvl="0"/>
            <a:r>
              <a:rPr lang="en-US" dirty="0"/>
              <a:t>Topic</a:t>
            </a:r>
          </a:p>
        </p:txBody>
      </p:sp>
      <p:sp>
        <p:nvSpPr>
          <p:cNvPr id="37" name="Text Placeholder 22">
            <a:extLst>
              <a:ext uri="{FF2B5EF4-FFF2-40B4-BE49-F238E27FC236}">
                <a16:creationId xmlns:a16="http://schemas.microsoft.com/office/drawing/2014/main" id="{1AED3D0D-2221-0F28-6404-8DE7BBE38091}"/>
              </a:ext>
            </a:extLst>
          </p:cNvPr>
          <p:cNvSpPr>
            <a:spLocks noGrp="1"/>
          </p:cNvSpPr>
          <p:nvPr>
            <p:ph type="body" sz="quarter" idx="27" hasCustomPrompt="1"/>
          </p:nvPr>
        </p:nvSpPr>
        <p:spPr>
          <a:xfrm>
            <a:off x="6096000"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8" name="Text Placeholder 22">
            <a:extLst>
              <a:ext uri="{FF2B5EF4-FFF2-40B4-BE49-F238E27FC236}">
                <a16:creationId xmlns:a16="http://schemas.microsoft.com/office/drawing/2014/main" id="{A72B0B48-D3AF-3DBD-FB54-005779ED399C}"/>
              </a:ext>
            </a:extLst>
          </p:cNvPr>
          <p:cNvSpPr>
            <a:spLocks noGrp="1"/>
          </p:cNvSpPr>
          <p:nvPr>
            <p:ph type="body" sz="quarter" idx="28" hasCustomPrompt="1"/>
          </p:nvPr>
        </p:nvSpPr>
        <p:spPr>
          <a:xfrm>
            <a:off x="6887611" y="4898408"/>
            <a:ext cx="4754880" cy="731520"/>
          </a:xfrm>
        </p:spPr>
        <p:txBody>
          <a:bodyPr anchor="ctr"/>
          <a:lstStyle>
            <a:lvl1pPr marL="0" indent="0">
              <a:buNone/>
              <a:defRPr sz="2800"/>
            </a:lvl1pPr>
          </a:lstStyle>
          <a:p>
            <a:pPr lvl="0"/>
            <a:r>
              <a:rPr lang="en-US" dirty="0"/>
              <a:t>Topic</a:t>
            </a:r>
          </a:p>
        </p:txBody>
      </p:sp>
    </p:spTree>
    <p:extLst>
      <p:ext uri="{BB962C8B-B14F-4D97-AF65-F5344CB8AC3E}">
        <p14:creationId xmlns:p14="http://schemas.microsoft.com/office/powerpoint/2010/main" val="366135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F8E72F1-E261-A4D3-03FD-FCC351987924}"/>
              </a:ext>
            </a:extLst>
          </p:cNvPr>
          <p:cNvGrpSpPr/>
          <p:nvPr userDrawn="1"/>
        </p:nvGrpSpPr>
        <p:grpSpPr>
          <a:xfrm>
            <a:off x="0" y="0"/>
            <a:ext cx="12192000" cy="6858000"/>
            <a:chOff x="0" y="0"/>
            <a:chExt cx="12192000" cy="6858000"/>
          </a:xfrm>
        </p:grpSpPr>
        <p:sp>
          <p:nvSpPr>
            <p:cNvPr id="12" name="Rectangle 11">
              <a:extLst>
                <a:ext uri="{FF2B5EF4-FFF2-40B4-BE49-F238E27FC236}">
                  <a16:creationId xmlns:a16="http://schemas.microsoft.com/office/drawing/2014/main" id="{2A1E53E3-FC79-490F-927D-EDA5C06E6818}"/>
                </a:ext>
              </a:extLst>
            </p:cNvPr>
            <p:cNvSpPr/>
            <p:nvPr userDrawn="1"/>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07C8CE8D-FE25-40F5-A966-5717F85ACF9F}"/>
                </a:ext>
              </a:extLst>
            </p:cNvPr>
            <p:cNvPicPr>
              <a:picLocks noChangeAspect="1"/>
            </p:cNvPicPr>
            <p:nvPr userDrawn="1"/>
          </p:nvPicPr>
          <p:blipFill>
            <a:blip r:embed="rId2"/>
            <a:stretch>
              <a:fillRect/>
            </a:stretch>
          </p:blipFill>
          <p:spPr>
            <a:xfrm>
              <a:off x="2959336" y="1565049"/>
              <a:ext cx="6273328" cy="2280102"/>
            </a:xfrm>
            <a:prstGeom prst="rect">
              <a:avLst/>
            </a:prstGeom>
          </p:spPr>
        </p:pic>
        <p:sp>
          <p:nvSpPr>
            <p:cNvPr id="4" name="Rectangle 3">
              <a:extLst>
                <a:ext uri="{FF2B5EF4-FFF2-40B4-BE49-F238E27FC236}">
                  <a16:creationId xmlns:a16="http://schemas.microsoft.com/office/drawing/2014/main" id="{D994F7AD-3707-136B-D04F-5BE5160AF4A4}"/>
                </a:ext>
              </a:extLst>
            </p:cNvPr>
            <p:cNvSpPr/>
            <p:nvPr userDrawn="1"/>
          </p:nvSpPr>
          <p:spPr>
            <a:xfrm>
              <a:off x="0" y="5580993"/>
              <a:ext cx="12192000" cy="12770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 name="Rectangle 5">
              <a:extLst>
                <a:ext uri="{FF2B5EF4-FFF2-40B4-BE49-F238E27FC236}">
                  <a16:creationId xmlns:a16="http://schemas.microsoft.com/office/drawing/2014/main" id="{A970C644-A64B-B0FF-7271-99A256079D04}"/>
                </a:ext>
              </a:extLst>
            </p:cNvPr>
            <p:cNvSpPr/>
            <p:nvPr userDrawn="1"/>
          </p:nvSpPr>
          <p:spPr>
            <a:xfrm>
              <a:off x="219558" y="5822714"/>
              <a:ext cx="9395219" cy="830997"/>
            </a:xfrm>
            <a:prstGeom prst="rect">
              <a:avLst/>
            </a:prstGeom>
          </p:spPr>
          <p:txBody>
            <a:bodyPr wrap="square">
              <a:spAutoFit/>
            </a:bodyPr>
            <a:lstStyle/>
            <a:p>
              <a:r>
                <a:rPr lang="en-US" sz="1200" dirty="0">
                  <a:solidFill>
                    <a:srgbClr val="00234B"/>
                  </a:solidFill>
                  <a:latin typeface="Arial" panose="020B0604020202020204" pitchFamily="34" charset="0"/>
                </a:rPr>
                <a:t>© STMicroelectronics - All rights reserved.</a:t>
              </a:r>
              <a:br>
                <a:rPr lang="en-US" sz="1200" dirty="0">
                  <a:solidFill>
                    <a:srgbClr val="00234B"/>
                  </a:solidFill>
                  <a:latin typeface="Arial" panose="020B0604020202020204" pitchFamily="34" charset="0"/>
                </a:rPr>
              </a:br>
              <a:r>
                <a:rPr lang="en-US" sz="1200" kern="1200" dirty="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dirty="0">
                  <a:solidFill>
                    <a:srgbClr val="00234B"/>
                  </a:solidFill>
                  <a:latin typeface="Arial" panose="020B0604020202020204" pitchFamily="34" charset="0"/>
                  <a:ea typeface="+mn-ea"/>
                  <a:cs typeface="+mn-cs"/>
                  <a:hlinkClick r:id="rId3">
                    <a:extLst>
                      <a:ext uri="{A12FA001-AC4F-418D-AE19-62706E023703}">
                        <ahyp:hlinkClr xmlns:ahyp="http://schemas.microsoft.com/office/drawing/2018/hyperlinkcolor" val="tx"/>
                      </a:ext>
                    </a:extLst>
                  </a:hlinkClick>
                </a:rPr>
                <a:t>www.st.com/trademarks</a:t>
              </a:r>
              <a:r>
                <a:rPr lang="en-US" sz="1200" kern="1200" dirty="0">
                  <a:solidFill>
                    <a:srgbClr val="00234B"/>
                  </a:solidFill>
                  <a:latin typeface="Arial" panose="020B0604020202020204" pitchFamily="34" charset="0"/>
                  <a:ea typeface="+mn-ea"/>
                  <a:cs typeface="+mn-cs"/>
                </a:rPr>
                <a:t>. </a:t>
              </a:r>
              <a:br>
                <a:rPr lang="en-US" sz="1200" kern="1200" dirty="0">
                  <a:solidFill>
                    <a:srgbClr val="00234B"/>
                  </a:solidFill>
                  <a:latin typeface="Arial" panose="020B0604020202020204" pitchFamily="34" charset="0"/>
                  <a:ea typeface="+mn-ea"/>
                  <a:cs typeface="+mn-cs"/>
                </a:rPr>
              </a:br>
              <a:r>
                <a:rPr lang="en-US" sz="1200" kern="1200" dirty="0">
                  <a:solidFill>
                    <a:srgbClr val="00234B"/>
                  </a:solidFill>
                  <a:latin typeface="Arial" panose="020B0604020202020204" pitchFamily="34" charset="0"/>
                  <a:ea typeface="+mn-ea"/>
                  <a:cs typeface="+mn-cs"/>
                </a:rPr>
                <a:t>All other product or service names are the property of their respective owners.</a:t>
              </a:r>
            </a:p>
          </p:txBody>
        </p:sp>
        <p:pic>
          <p:nvPicPr>
            <p:cNvPr id="7" name="Graphic 6">
              <a:extLst>
                <a:ext uri="{FF2B5EF4-FFF2-40B4-BE49-F238E27FC236}">
                  <a16:creationId xmlns:a16="http://schemas.microsoft.com/office/drawing/2014/main" id="{DF6297DC-F8E9-1EA8-8CF6-587BC0B48C5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66753" y="5668010"/>
              <a:ext cx="1591910" cy="1097280"/>
            </a:xfrm>
            <a:prstGeom prst="rect">
              <a:avLst/>
            </a:prstGeom>
          </p:spPr>
        </p:pic>
      </p:grpSp>
    </p:spTree>
    <p:extLst>
      <p:ext uri="{BB962C8B-B14F-4D97-AF65-F5344CB8AC3E}">
        <p14:creationId xmlns:p14="http://schemas.microsoft.com/office/powerpoint/2010/main" val="630001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dirty="0"/>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40A7B169-58CE-4E65-B1F9-ACF9E46440C2}" type="slidenum">
              <a:rPr lang="en-US" smtClean="0"/>
              <a:t>‹N›</a:t>
            </a:fld>
            <a:endParaRPr lang="en-US"/>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33052DD4-CDE3-4E33-AB80-AED4CE4AC39A}" type="datetimeFigureOut">
              <a:rPr lang="en-US" smtClean="0"/>
              <a:t>8/29/2026</a:t>
            </a:fld>
            <a:endParaRPr lang="en-US"/>
          </a:p>
        </p:txBody>
      </p:sp>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DC1749DD-5CB4-BAFF-5C24-97F0F00F15F6}"/>
              </a:ext>
            </a:extLst>
          </p:cNvPr>
          <p:cNvGrpSpPr/>
          <p:nvPr userDrawn="1"/>
        </p:nvGrpSpPr>
        <p:grpSpPr>
          <a:xfrm>
            <a:off x="-350520" y="4319928"/>
            <a:ext cx="317500" cy="952500"/>
            <a:chOff x="-342900" y="4319928"/>
            <a:chExt cx="317500" cy="952500"/>
          </a:xfrm>
        </p:grpSpPr>
        <p:sp>
          <p:nvSpPr>
            <p:cNvPr id="43" name="ColorPatch">
              <a:extLst>
                <a:ext uri="{FF2B5EF4-FFF2-40B4-BE49-F238E27FC236}">
                  <a16:creationId xmlns:a16="http://schemas.microsoft.com/office/drawing/2014/main" id="{A2E2F886-C330-51CE-B5C9-AB46F1404BB1}"/>
                </a:ext>
              </a:extLst>
            </p:cNvPr>
            <p:cNvSpPr/>
            <p:nvPr userDrawn="1"/>
          </p:nvSpPr>
          <p:spPr>
            <a:xfrm>
              <a:off x="-342900" y="4954928"/>
              <a:ext cx="317500" cy="317500"/>
            </a:xfrm>
            <a:prstGeom prst="rect">
              <a:avLst/>
            </a:prstGeom>
            <a:solidFill>
              <a:srgbClr val="EEEFF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4" name="ColorPatch">
              <a:extLst>
                <a:ext uri="{FF2B5EF4-FFF2-40B4-BE49-F238E27FC236}">
                  <a16:creationId xmlns:a16="http://schemas.microsoft.com/office/drawing/2014/main" id="{FDB36328-023C-D8C1-7E6B-A648091D0ED0}"/>
                </a:ext>
              </a:extLst>
            </p:cNvPr>
            <p:cNvSpPr/>
            <p:nvPr userDrawn="1"/>
          </p:nvSpPr>
          <p:spPr>
            <a:xfrm>
              <a:off x="-342900" y="4637428"/>
              <a:ext cx="317500" cy="317500"/>
            </a:xfrm>
            <a:prstGeom prst="rect">
              <a:avLst/>
            </a:prstGeom>
            <a:solidFill>
              <a:srgbClr val="A6ADB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5" name="ColorPatch">
              <a:extLst>
                <a:ext uri="{FF2B5EF4-FFF2-40B4-BE49-F238E27FC236}">
                  <a16:creationId xmlns:a16="http://schemas.microsoft.com/office/drawing/2014/main" id="{9F8E65A1-0412-05F6-3F82-8EB79873A102}"/>
                </a:ext>
              </a:extLst>
            </p:cNvPr>
            <p:cNvSpPr/>
            <p:nvPr userDrawn="1"/>
          </p:nvSpPr>
          <p:spPr>
            <a:xfrm>
              <a:off x="-342900" y="4319928"/>
              <a:ext cx="317500" cy="317500"/>
            </a:xfrm>
            <a:prstGeom prst="rect">
              <a:avLst/>
            </a:prstGeom>
            <a:solidFill>
              <a:srgbClr val="525A6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49" name="Group 48">
            <a:extLst>
              <a:ext uri="{FF2B5EF4-FFF2-40B4-BE49-F238E27FC236}">
                <a16:creationId xmlns:a16="http://schemas.microsoft.com/office/drawing/2014/main" id="{7732C244-0C14-30D0-0478-36AA2A9F0B44}"/>
              </a:ext>
            </a:extLst>
          </p:cNvPr>
          <p:cNvGrpSpPr/>
          <p:nvPr userDrawn="1"/>
        </p:nvGrpSpPr>
        <p:grpSpPr>
          <a:xfrm>
            <a:off x="-350520" y="2879952"/>
            <a:ext cx="317500" cy="1270000"/>
            <a:chOff x="-342900" y="2879952"/>
            <a:chExt cx="317500" cy="1270000"/>
          </a:xfrm>
        </p:grpSpPr>
        <p:sp>
          <p:nvSpPr>
            <p:cNvPr id="50" name="ColorPatch">
              <a:extLst>
                <a:ext uri="{FF2B5EF4-FFF2-40B4-BE49-F238E27FC236}">
                  <a16:creationId xmlns:a16="http://schemas.microsoft.com/office/drawing/2014/main" id="{31E1361B-325C-EE46-1B21-F5A3ABF1D2F3}"/>
                </a:ext>
              </a:extLst>
            </p:cNvPr>
            <p:cNvSpPr/>
            <p:nvPr userDrawn="1"/>
          </p:nvSpPr>
          <p:spPr>
            <a:xfrm>
              <a:off x="-342900" y="3832452"/>
              <a:ext cx="317500" cy="317500"/>
            </a:xfrm>
            <a:prstGeom prst="rect">
              <a:avLst/>
            </a:prstGeom>
            <a:solidFill>
              <a:srgbClr val="FFF4B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1" name="ColorPatch">
              <a:extLst>
                <a:ext uri="{FF2B5EF4-FFF2-40B4-BE49-F238E27FC236}">
                  <a16:creationId xmlns:a16="http://schemas.microsoft.com/office/drawing/2014/main" id="{721D0BC2-53DB-3884-688A-247574811D85}"/>
                </a:ext>
              </a:extLst>
            </p:cNvPr>
            <p:cNvSpPr/>
            <p:nvPr userDrawn="1"/>
          </p:nvSpPr>
          <p:spPr>
            <a:xfrm>
              <a:off x="-342900" y="3515520"/>
              <a:ext cx="317500" cy="317500"/>
            </a:xfrm>
            <a:prstGeom prst="rect">
              <a:avLst/>
            </a:prstGeom>
            <a:solidFill>
              <a:srgbClr val="FFE87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2" name="ColorPatch">
              <a:extLst>
                <a:ext uri="{FF2B5EF4-FFF2-40B4-BE49-F238E27FC236}">
                  <a16:creationId xmlns:a16="http://schemas.microsoft.com/office/drawing/2014/main" id="{3D10437D-D613-EB33-523B-3A294D6295FE}"/>
                </a:ext>
              </a:extLst>
            </p:cNvPr>
            <p:cNvSpPr/>
            <p:nvPr userDrawn="1"/>
          </p:nvSpPr>
          <p:spPr>
            <a:xfrm>
              <a:off x="-342900" y="3197452"/>
              <a:ext cx="317500" cy="317500"/>
            </a:xfrm>
            <a:prstGeom prst="rect">
              <a:avLst/>
            </a:prstGeom>
            <a:solidFill>
              <a:srgbClr val="FFDD4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3" name="ColorPatch">
              <a:extLst>
                <a:ext uri="{FF2B5EF4-FFF2-40B4-BE49-F238E27FC236}">
                  <a16:creationId xmlns:a16="http://schemas.microsoft.com/office/drawing/2014/main" id="{7605F83F-A2B9-B477-973E-B28376961D98}"/>
                </a:ext>
              </a:extLst>
            </p:cNvPr>
            <p:cNvSpPr/>
            <p:nvPr userDrawn="1"/>
          </p:nvSpPr>
          <p:spPr>
            <a:xfrm>
              <a:off x="-342900" y="2879952"/>
              <a:ext cx="317500" cy="317500"/>
            </a:xfrm>
            <a:prstGeom prst="rect">
              <a:avLst/>
            </a:prstGeom>
            <a:solidFill>
              <a:srgbClr val="FFD2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4" name="Group 53">
            <a:extLst>
              <a:ext uri="{FF2B5EF4-FFF2-40B4-BE49-F238E27FC236}">
                <a16:creationId xmlns:a16="http://schemas.microsoft.com/office/drawing/2014/main" id="{F75168C8-3C72-052F-C7C0-7CD4B023E7F9}"/>
              </a:ext>
            </a:extLst>
          </p:cNvPr>
          <p:cNvGrpSpPr/>
          <p:nvPr userDrawn="1"/>
        </p:nvGrpSpPr>
        <p:grpSpPr>
          <a:xfrm>
            <a:off x="-350520" y="1439976"/>
            <a:ext cx="317500" cy="1270000"/>
            <a:chOff x="-342900" y="1439976"/>
            <a:chExt cx="317500" cy="1270000"/>
          </a:xfrm>
        </p:grpSpPr>
        <p:sp>
          <p:nvSpPr>
            <p:cNvPr id="55" name="ColorPatch">
              <a:extLst>
                <a:ext uri="{FF2B5EF4-FFF2-40B4-BE49-F238E27FC236}">
                  <a16:creationId xmlns:a16="http://schemas.microsoft.com/office/drawing/2014/main" id="{4A6E12F2-EF64-A2CC-1E25-B6F6B23289F8}"/>
                </a:ext>
              </a:extLst>
            </p:cNvPr>
            <p:cNvSpPr/>
            <p:nvPr userDrawn="1"/>
          </p:nvSpPr>
          <p:spPr>
            <a:xfrm>
              <a:off x="-342900" y="2392476"/>
              <a:ext cx="317500" cy="317500"/>
            </a:xfrm>
            <a:prstGeom prst="rect">
              <a:avLst/>
            </a:prstGeom>
            <a:solidFill>
              <a:srgbClr val="CEECF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6" name="ColorPatch">
              <a:extLst>
                <a:ext uri="{FF2B5EF4-FFF2-40B4-BE49-F238E27FC236}">
                  <a16:creationId xmlns:a16="http://schemas.microsoft.com/office/drawing/2014/main" id="{DF4090A9-80E3-4F93-64FD-1A4F5C9704A1}"/>
                </a:ext>
              </a:extLst>
            </p:cNvPr>
            <p:cNvSpPr/>
            <p:nvPr userDrawn="1"/>
          </p:nvSpPr>
          <p:spPr>
            <a:xfrm>
              <a:off x="-342900" y="2074976"/>
              <a:ext cx="317500" cy="317500"/>
            </a:xfrm>
            <a:prstGeom prst="rect">
              <a:avLst/>
            </a:prstGeom>
            <a:solidFill>
              <a:srgbClr val="9DD9F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7" name="ColorPatch">
              <a:extLst>
                <a:ext uri="{FF2B5EF4-FFF2-40B4-BE49-F238E27FC236}">
                  <a16:creationId xmlns:a16="http://schemas.microsoft.com/office/drawing/2014/main" id="{383C7A3C-7DEE-3289-0A64-6DC893E895F6}"/>
                </a:ext>
              </a:extLst>
            </p:cNvPr>
            <p:cNvSpPr/>
            <p:nvPr userDrawn="1"/>
          </p:nvSpPr>
          <p:spPr>
            <a:xfrm>
              <a:off x="-342900" y="1757476"/>
              <a:ext cx="317500" cy="317500"/>
            </a:xfrm>
            <a:prstGeom prst="rect">
              <a:avLst/>
            </a:prstGeom>
            <a:solidFill>
              <a:srgbClr val="6DC7EC"/>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8" name="ColorPatch">
              <a:extLst>
                <a:ext uri="{FF2B5EF4-FFF2-40B4-BE49-F238E27FC236}">
                  <a16:creationId xmlns:a16="http://schemas.microsoft.com/office/drawing/2014/main" id="{199B6E69-48B5-574D-A56E-8532B8036346}"/>
                </a:ext>
              </a:extLst>
            </p:cNvPr>
            <p:cNvSpPr/>
            <p:nvPr userDrawn="1"/>
          </p:nvSpPr>
          <p:spPr>
            <a:xfrm>
              <a:off x="-342900" y="1439976"/>
              <a:ext cx="317500" cy="317500"/>
            </a:xfrm>
            <a:prstGeom prst="rect">
              <a:avLst/>
            </a:prstGeom>
            <a:solidFill>
              <a:srgbClr val="3CB4E6"/>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9" name="Group 58">
            <a:extLst>
              <a:ext uri="{FF2B5EF4-FFF2-40B4-BE49-F238E27FC236}">
                <a16:creationId xmlns:a16="http://schemas.microsoft.com/office/drawing/2014/main" id="{776E4B5F-4E90-DA3A-7C84-81947655F1ED}"/>
              </a:ext>
            </a:extLst>
          </p:cNvPr>
          <p:cNvGrpSpPr/>
          <p:nvPr userDrawn="1"/>
        </p:nvGrpSpPr>
        <p:grpSpPr>
          <a:xfrm>
            <a:off x="-350520" y="0"/>
            <a:ext cx="317500" cy="1271047"/>
            <a:chOff x="-342900" y="0"/>
            <a:chExt cx="317500" cy="1271047"/>
          </a:xfrm>
        </p:grpSpPr>
        <p:sp>
          <p:nvSpPr>
            <p:cNvPr id="60" name="ColorPatch">
              <a:extLst>
                <a:ext uri="{FF2B5EF4-FFF2-40B4-BE49-F238E27FC236}">
                  <a16:creationId xmlns:a16="http://schemas.microsoft.com/office/drawing/2014/main" id="{E8CC3E9E-61E4-65A9-2FB7-B210351E32AB}"/>
                </a:ext>
              </a:extLst>
            </p:cNvPr>
            <p:cNvSpPr/>
            <p:nvPr userDrawn="1"/>
          </p:nvSpPr>
          <p:spPr>
            <a:xfrm>
              <a:off x="-342900" y="953547"/>
              <a:ext cx="317500" cy="317500"/>
            </a:xfrm>
            <a:prstGeom prst="rect">
              <a:avLst/>
            </a:prstGeom>
            <a:solidFill>
              <a:srgbClr val="C0C8D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1" name="ColorPatch">
              <a:extLst>
                <a:ext uri="{FF2B5EF4-FFF2-40B4-BE49-F238E27FC236}">
                  <a16:creationId xmlns:a16="http://schemas.microsoft.com/office/drawing/2014/main" id="{52979BF7-37B7-C9E0-012F-AF2421299EA0}"/>
                </a:ext>
              </a:extLst>
            </p:cNvPr>
            <p:cNvSpPr/>
            <p:nvPr userDrawn="1"/>
          </p:nvSpPr>
          <p:spPr>
            <a:xfrm>
              <a:off x="-342900" y="635000"/>
              <a:ext cx="317500" cy="317500"/>
            </a:xfrm>
            <a:prstGeom prst="rect">
              <a:avLst/>
            </a:prstGeom>
            <a:solidFill>
              <a:srgbClr val="8191A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2" name="ColorPatch">
              <a:extLst>
                <a:ext uri="{FF2B5EF4-FFF2-40B4-BE49-F238E27FC236}">
                  <a16:creationId xmlns:a16="http://schemas.microsoft.com/office/drawing/2014/main" id="{4F93A17E-06C6-9F0F-291B-C51A93E99B57}"/>
                </a:ext>
              </a:extLst>
            </p:cNvPr>
            <p:cNvSpPr/>
            <p:nvPr userDrawn="1"/>
          </p:nvSpPr>
          <p:spPr>
            <a:xfrm>
              <a:off x="-342900" y="317500"/>
              <a:ext cx="317500" cy="317500"/>
            </a:xfrm>
            <a:prstGeom prst="rect">
              <a:avLst/>
            </a:prstGeom>
            <a:solidFill>
              <a:srgbClr val="425A7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3" name="ColorPatch">
              <a:extLst>
                <a:ext uri="{FF2B5EF4-FFF2-40B4-BE49-F238E27FC236}">
                  <a16:creationId xmlns:a16="http://schemas.microsoft.com/office/drawing/2014/main" id="{435540DC-615B-FEFF-859B-65830CAC8FD4}"/>
                </a:ext>
              </a:extLst>
            </p:cNvPr>
            <p:cNvSpPr/>
            <p:nvPr userDrawn="1"/>
          </p:nvSpPr>
          <p:spPr>
            <a:xfrm>
              <a:off x="-342900" y="0"/>
              <a:ext cx="317500" cy="317500"/>
            </a:xfrm>
            <a:prstGeom prst="rect">
              <a:avLst/>
            </a:prstGeom>
            <a:solidFill>
              <a:srgbClr val="03234B"/>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pic>
        <p:nvPicPr>
          <p:cNvPr id="7" name="Graphic 6">
            <a:extLst>
              <a:ext uri="{FF2B5EF4-FFF2-40B4-BE49-F238E27FC236}">
                <a16:creationId xmlns:a16="http://schemas.microsoft.com/office/drawing/2014/main" id="{1B25AE6E-5128-CFAA-FFCC-CE0BB6C809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1974" y="6155372"/>
            <a:ext cx="928614" cy="640080"/>
          </a:xfrm>
          <a:prstGeom prst="rect">
            <a:avLst/>
          </a:prstGeom>
        </p:spPr>
      </p:pic>
    </p:spTree>
    <p:extLst>
      <p:ext uri="{BB962C8B-B14F-4D97-AF65-F5344CB8AC3E}">
        <p14:creationId xmlns:p14="http://schemas.microsoft.com/office/powerpoint/2010/main" val="1712531357"/>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3" r:id="rId3"/>
    <p:sldLayoutId id="2147483664" r:id="rId4"/>
    <p:sldLayoutId id="2147483665" r:id="rId5"/>
    <p:sldLayoutId id="2147483666" r:id="rId6"/>
    <p:sldLayoutId id="2147483667" r:id="rId7"/>
    <p:sldLayoutId id="2147483669" r:id="rId8"/>
    <p:sldLayoutId id="2147483671" r:id="rId9"/>
  </p:sldLayoutIdLst>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hyperlink" Target="http://www.st.com/" TargetMode="Externa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brandportal.s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FB49D3ED-12A5-44AC-B654-9458A5FBEC88}"/>
              </a:ext>
            </a:extLst>
          </p:cNvPr>
          <p:cNvSpPr>
            <a:spLocks noGrp="1"/>
          </p:cNvSpPr>
          <p:nvPr>
            <p:ph type="ctrTitle"/>
          </p:nvPr>
        </p:nvSpPr>
        <p:spPr>
          <a:xfrm>
            <a:off x="6095999" y="2077965"/>
            <a:ext cx="5795963" cy="2702071"/>
          </a:xfrm>
        </p:spPr>
        <p:txBody>
          <a:bodyPr/>
          <a:lstStyle/>
          <a:p>
            <a:pPr>
              <a:lnSpc>
                <a:spcPct val="108000"/>
              </a:lnSpc>
            </a:pPr>
            <a:r>
              <a:rPr lang="en-US" sz="3800" dirty="0">
                <a:solidFill>
                  <a:srgbClr val="FFFFFF"/>
                </a:solidFill>
                <a:ea typeface="Calibri" pitchFamily="34" charset="-122"/>
                <a:cs typeface="Calibri" pitchFamily="34" charset="-120"/>
              </a:rPr>
              <a:t>CAN Interface for Automation of the Dyno Bench</a:t>
            </a:r>
            <a:br>
              <a:rPr lang="en-US" dirty="0"/>
            </a:br>
            <a:endParaRPr lang="it-IT" dirty="0"/>
          </a:p>
        </p:txBody>
      </p:sp>
      <p:sp>
        <p:nvSpPr>
          <p:cNvPr id="16" name="Subtitle 15">
            <a:extLst>
              <a:ext uri="{FF2B5EF4-FFF2-40B4-BE49-F238E27FC236}">
                <a16:creationId xmlns:a16="http://schemas.microsoft.com/office/drawing/2014/main" id="{12613E07-DCF2-4461-AFF5-7A705127F66B}"/>
              </a:ext>
            </a:extLst>
          </p:cNvPr>
          <p:cNvSpPr>
            <a:spLocks noGrp="1"/>
          </p:cNvSpPr>
          <p:nvPr>
            <p:ph type="subTitle" idx="1"/>
          </p:nvPr>
        </p:nvSpPr>
        <p:spPr>
          <a:xfrm>
            <a:off x="6095999" y="5015060"/>
            <a:ext cx="5795963" cy="1077764"/>
          </a:xfrm>
        </p:spPr>
        <p:txBody>
          <a:bodyPr/>
          <a:lstStyle/>
          <a:p>
            <a:r>
              <a:rPr lang="it-IT" b="1" dirty="0"/>
              <a:t>Michele IMBARRATO</a:t>
            </a:r>
          </a:p>
          <a:p>
            <a:r>
              <a:rPr lang="it-IT" b="1" dirty="0"/>
              <a:t>SRA LAB</a:t>
            </a:r>
          </a:p>
        </p:txBody>
      </p:sp>
      <p:pic>
        <p:nvPicPr>
          <p:cNvPr id="3" name="Immagine 2">
            <a:extLst>
              <a:ext uri="{FF2B5EF4-FFF2-40B4-BE49-F238E27FC236}">
                <a16:creationId xmlns:a16="http://schemas.microsoft.com/office/drawing/2014/main" id="{F49A4348-3835-B220-AC95-259940FA51C8}"/>
              </a:ext>
            </a:extLst>
          </p:cNvPr>
          <p:cNvPicPr>
            <a:picLocks noChangeAspect="1"/>
          </p:cNvPicPr>
          <p:nvPr/>
        </p:nvPicPr>
        <p:blipFill>
          <a:blip r:embed="rId3"/>
          <a:stretch>
            <a:fillRect/>
          </a:stretch>
        </p:blipFill>
        <p:spPr>
          <a:xfrm>
            <a:off x="432086" y="0"/>
            <a:ext cx="5511263" cy="6858000"/>
          </a:xfrm>
          <a:prstGeom prst="rect">
            <a:avLst/>
          </a:prstGeom>
        </p:spPr>
      </p:pic>
    </p:spTree>
    <p:extLst>
      <p:ext uri="{BB962C8B-B14F-4D97-AF65-F5344CB8AC3E}">
        <p14:creationId xmlns:p14="http://schemas.microsoft.com/office/powerpoint/2010/main" val="193982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B3432E-AE69-5F85-0FC5-BB84AD77EF3E}"/>
              </a:ext>
            </a:extLst>
          </p:cNvPr>
          <p:cNvSpPr>
            <a:spLocks noGrp="1"/>
          </p:cNvSpPr>
          <p:nvPr>
            <p:ph type="title"/>
          </p:nvPr>
        </p:nvSpPr>
        <p:spPr>
          <a:xfrm>
            <a:off x="300037" y="-1"/>
            <a:ext cx="11609159" cy="1304925"/>
          </a:xfrm>
        </p:spPr>
        <p:txBody>
          <a:bodyPr/>
          <a:lstStyle/>
          <a:p>
            <a:r>
              <a:rPr lang="en-US" b="1" dirty="0">
                <a:solidFill>
                  <a:srgbClr val="03234B"/>
                </a:solidFill>
                <a:latin typeface="Calibri" pitchFamily="34" charset="0"/>
                <a:ea typeface="Calibri" pitchFamily="34" charset="-122"/>
                <a:cs typeface="Calibri" pitchFamily="34" charset="-120"/>
              </a:rPr>
              <a:t>Index of topics</a:t>
            </a:r>
            <a:endParaRPr lang="en-US" b="1" dirty="0"/>
          </a:p>
        </p:txBody>
      </p:sp>
      <p:sp>
        <p:nvSpPr>
          <p:cNvPr id="9" name="Text 0">
            <a:extLst>
              <a:ext uri="{FF2B5EF4-FFF2-40B4-BE49-F238E27FC236}">
                <a16:creationId xmlns:a16="http://schemas.microsoft.com/office/drawing/2014/main" id="{349F15EB-EB6A-348E-1703-2CB43474B515}"/>
              </a:ext>
            </a:extLst>
          </p:cNvPr>
          <p:cNvSpPr txBox="1"/>
          <p:nvPr/>
        </p:nvSpPr>
        <p:spPr>
          <a:xfrm>
            <a:off x="11147658" y="186890"/>
            <a:ext cx="7315200" cy="274320"/>
          </a:xfrm>
          <a:prstGeom prst="rect">
            <a:avLst/>
          </a:prstGeom>
          <a:noFill/>
          <a:ln/>
        </p:spPr>
        <p:txBody>
          <a:bodyPr wrap="square" lIns="0" tIns="0" rIns="0" bIns="0"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AGENDA</a:t>
            </a:r>
            <a:endParaRPr lang="en-US" sz="1100" dirty="0"/>
          </a:p>
        </p:txBody>
      </p:sp>
      <p:sp>
        <p:nvSpPr>
          <p:cNvPr id="41" name="Text 2">
            <a:extLst>
              <a:ext uri="{FF2B5EF4-FFF2-40B4-BE49-F238E27FC236}">
                <a16:creationId xmlns:a16="http://schemas.microsoft.com/office/drawing/2014/main" id="{8261C492-FCFF-7756-9635-BB6E9D270ECD}"/>
              </a:ext>
            </a:extLst>
          </p:cNvPr>
          <p:cNvSpPr txBox="1"/>
          <p:nvPr/>
        </p:nvSpPr>
        <p:spPr>
          <a:xfrm>
            <a:off x="688206" y="16156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01</a:t>
            </a:r>
            <a:endParaRPr lang="en-US" sz="2600" dirty="0"/>
          </a:p>
        </p:txBody>
      </p:sp>
      <p:sp>
        <p:nvSpPr>
          <p:cNvPr id="43" name="Text 3">
            <a:extLst>
              <a:ext uri="{FF2B5EF4-FFF2-40B4-BE49-F238E27FC236}">
                <a16:creationId xmlns:a16="http://schemas.microsoft.com/office/drawing/2014/main" id="{2A581F49-E9B0-A4B4-D8F3-5CC114BE0AE0}"/>
              </a:ext>
            </a:extLst>
          </p:cNvPr>
          <p:cNvSpPr txBox="1"/>
          <p:nvPr/>
        </p:nvSpPr>
        <p:spPr>
          <a:xfrm>
            <a:off x="688206" y="21093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Objective of the work </a:t>
            </a:r>
            <a:endParaRPr lang="en-US" sz="1500" dirty="0"/>
          </a:p>
        </p:txBody>
      </p:sp>
      <p:sp>
        <p:nvSpPr>
          <p:cNvPr id="45" name="Shape 4">
            <a:extLst>
              <a:ext uri="{FF2B5EF4-FFF2-40B4-BE49-F238E27FC236}">
                <a16:creationId xmlns:a16="http://schemas.microsoft.com/office/drawing/2014/main" id="{CAD1F546-A1FC-B193-C140-065A2ECC3E15}"/>
              </a:ext>
            </a:extLst>
          </p:cNvPr>
          <p:cNvSpPr/>
          <p:nvPr/>
        </p:nvSpPr>
        <p:spPr>
          <a:xfrm>
            <a:off x="688206" y="2575720"/>
            <a:ext cx="5257800" cy="0"/>
          </a:xfrm>
          <a:prstGeom prst="line">
            <a:avLst/>
          </a:prstGeom>
          <a:noFill/>
          <a:ln w="12700">
            <a:solidFill>
              <a:srgbClr val="DCE7F0"/>
            </a:solidFill>
            <a:prstDash val="solid"/>
          </a:ln>
        </p:spPr>
        <p:txBody>
          <a:bodyPr/>
          <a:lstStyle/>
          <a:p>
            <a:endParaRPr lang="it-IT"/>
          </a:p>
        </p:txBody>
      </p:sp>
      <p:sp>
        <p:nvSpPr>
          <p:cNvPr id="47" name="Text 5">
            <a:extLst>
              <a:ext uri="{FF2B5EF4-FFF2-40B4-BE49-F238E27FC236}">
                <a16:creationId xmlns:a16="http://schemas.microsoft.com/office/drawing/2014/main" id="{4D511CF0-BE58-5FC6-0A3E-C93D2A8783AF}"/>
              </a:ext>
            </a:extLst>
          </p:cNvPr>
          <p:cNvSpPr txBox="1"/>
          <p:nvPr/>
        </p:nvSpPr>
        <p:spPr>
          <a:xfrm>
            <a:off x="688206" y="27586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02</a:t>
            </a:r>
            <a:endParaRPr lang="en-US" sz="2600" dirty="0"/>
          </a:p>
        </p:txBody>
      </p:sp>
      <p:sp>
        <p:nvSpPr>
          <p:cNvPr id="49" name="Text 6">
            <a:extLst>
              <a:ext uri="{FF2B5EF4-FFF2-40B4-BE49-F238E27FC236}">
                <a16:creationId xmlns:a16="http://schemas.microsoft.com/office/drawing/2014/main" id="{D0CC69BF-32D7-C9A8-5324-A9BB2FFEB2BE}"/>
              </a:ext>
            </a:extLst>
          </p:cNvPr>
          <p:cNvSpPr txBox="1"/>
          <p:nvPr/>
        </p:nvSpPr>
        <p:spPr>
          <a:xfrm>
            <a:off x="688206" y="32523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Validation of the existing CAN library</a:t>
            </a:r>
            <a:endParaRPr lang="en-US" sz="1500" dirty="0"/>
          </a:p>
        </p:txBody>
      </p:sp>
      <p:sp>
        <p:nvSpPr>
          <p:cNvPr id="51" name="Shape 7">
            <a:extLst>
              <a:ext uri="{FF2B5EF4-FFF2-40B4-BE49-F238E27FC236}">
                <a16:creationId xmlns:a16="http://schemas.microsoft.com/office/drawing/2014/main" id="{252B4578-6B93-CE04-C057-E5BF48598B2F}"/>
              </a:ext>
            </a:extLst>
          </p:cNvPr>
          <p:cNvSpPr/>
          <p:nvPr/>
        </p:nvSpPr>
        <p:spPr>
          <a:xfrm>
            <a:off x="688206" y="3718720"/>
            <a:ext cx="5257800" cy="0"/>
          </a:xfrm>
          <a:prstGeom prst="line">
            <a:avLst/>
          </a:prstGeom>
          <a:noFill/>
          <a:ln w="12700">
            <a:solidFill>
              <a:srgbClr val="DCE7F0"/>
            </a:solidFill>
            <a:prstDash val="solid"/>
          </a:ln>
        </p:spPr>
        <p:txBody>
          <a:bodyPr/>
          <a:lstStyle/>
          <a:p>
            <a:endParaRPr lang="it-IT"/>
          </a:p>
        </p:txBody>
      </p:sp>
      <p:sp>
        <p:nvSpPr>
          <p:cNvPr id="53" name="Text 8">
            <a:extLst>
              <a:ext uri="{FF2B5EF4-FFF2-40B4-BE49-F238E27FC236}">
                <a16:creationId xmlns:a16="http://schemas.microsoft.com/office/drawing/2014/main" id="{4C1CCEAB-9874-3212-9EA9-D935A475E866}"/>
              </a:ext>
            </a:extLst>
          </p:cNvPr>
          <p:cNvSpPr txBox="1"/>
          <p:nvPr/>
        </p:nvSpPr>
        <p:spPr>
          <a:xfrm>
            <a:off x="688206" y="39016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03</a:t>
            </a:r>
            <a:endParaRPr lang="en-US" sz="2600" dirty="0"/>
          </a:p>
        </p:txBody>
      </p:sp>
      <p:sp>
        <p:nvSpPr>
          <p:cNvPr id="55" name="Text 9">
            <a:extLst>
              <a:ext uri="{FF2B5EF4-FFF2-40B4-BE49-F238E27FC236}">
                <a16:creationId xmlns:a16="http://schemas.microsoft.com/office/drawing/2014/main" id="{1DA71BD3-0550-C59E-DF36-B4A162A822D6}"/>
              </a:ext>
            </a:extLst>
          </p:cNvPr>
          <p:cNvSpPr txBox="1"/>
          <p:nvPr/>
        </p:nvSpPr>
        <p:spPr>
          <a:xfrm>
            <a:off x="688206" y="43953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Implemented changes and developments</a:t>
            </a:r>
            <a:endParaRPr lang="en-US" sz="1500" dirty="0"/>
          </a:p>
        </p:txBody>
      </p:sp>
      <p:sp>
        <p:nvSpPr>
          <p:cNvPr id="57" name="Shape 10">
            <a:extLst>
              <a:ext uri="{FF2B5EF4-FFF2-40B4-BE49-F238E27FC236}">
                <a16:creationId xmlns:a16="http://schemas.microsoft.com/office/drawing/2014/main" id="{FC2C7C57-22BD-C77E-0A4E-8C10C86B57AB}"/>
              </a:ext>
            </a:extLst>
          </p:cNvPr>
          <p:cNvSpPr/>
          <p:nvPr/>
        </p:nvSpPr>
        <p:spPr>
          <a:xfrm>
            <a:off x="688206" y="4861720"/>
            <a:ext cx="5257800" cy="0"/>
          </a:xfrm>
          <a:prstGeom prst="line">
            <a:avLst/>
          </a:prstGeom>
          <a:noFill/>
          <a:ln w="12700">
            <a:solidFill>
              <a:srgbClr val="DCE7F0"/>
            </a:solidFill>
            <a:prstDash val="solid"/>
          </a:ln>
        </p:spPr>
        <p:txBody>
          <a:bodyPr/>
          <a:lstStyle/>
          <a:p>
            <a:endParaRPr lang="it-IT"/>
          </a:p>
        </p:txBody>
      </p:sp>
      <p:sp>
        <p:nvSpPr>
          <p:cNvPr id="59" name="Text 11">
            <a:extLst>
              <a:ext uri="{FF2B5EF4-FFF2-40B4-BE49-F238E27FC236}">
                <a16:creationId xmlns:a16="http://schemas.microsoft.com/office/drawing/2014/main" id="{875432DD-8095-D898-9D5C-4F778DBB01D8}"/>
              </a:ext>
            </a:extLst>
          </p:cNvPr>
          <p:cNvSpPr txBox="1"/>
          <p:nvPr/>
        </p:nvSpPr>
        <p:spPr>
          <a:xfrm>
            <a:off x="688206" y="50446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04</a:t>
            </a:r>
            <a:endParaRPr lang="en-US" sz="2600" dirty="0"/>
          </a:p>
        </p:txBody>
      </p:sp>
      <p:sp>
        <p:nvSpPr>
          <p:cNvPr id="61" name="Text 12">
            <a:extLst>
              <a:ext uri="{FF2B5EF4-FFF2-40B4-BE49-F238E27FC236}">
                <a16:creationId xmlns:a16="http://schemas.microsoft.com/office/drawing/2014/main" id="{BA7CD4D6-AAB9-18F1-6CB0-7E3FE7E14F5E}"/>
              </a:ext>
            </a:extLst>
          </p:cNvPr>
          <p:cNvSpPr txBox="1"/>
          <p:nvPr/>
        </p:nvSpPr>
        <p:spPr>
          <a:xfrm>
            <a:off x="688206" y="55383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Advanced validation and debugging</a:t>
            </a:r>
            <a:endParaRPr lang="en-US" sz="1500" dirty="0"/>
          </a:p>
        </p:txBody>
      </p:sp>
      <p:sp>
        <p:nvSpPr>
          <p:cNvPr id="63" name="Text 13">
            <a:extLst>
              <a:ext uri="{FF2B5EF4-FFF2-40B4-BE49-F238E27FC236}">
                <a16:creationId xmlns:a16="http://schemas.microsoft.com/office/drawing/2014/main" id="{39AFF510-0BC9-29D2-4B18-2219E6988C87}"/>
              </a:ext>
            </a:extLst>
          </p:cNvPr>
          <p:cNvSpPr txBox="1"/>
          <p:nvPr/>
        </p:nvSpPr>
        <p:spPr>
          <a:xfrm>
            <a:off x="6311766" y="21871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05</a:t>
            </a:r>
            <a:endParaRPr lang="en-US" sz="2600" dirty="0"/>
          </a:p>
        </p:txBody>
      </p:sp>
      <p:sp>
        <p:nvSpPr>
          <p:cNvPr id="65" name="Text 14">
            <a:extLst>
              <a:ext uri="{FF2B5EF4-FFF2-40B4-BE49-F238E27FC236}">
                <a16:creationId xmlns:a16="http://schemas.microsoft.com/office/drawing/2014/main" id="{274FBECD-4517-FCA5-C606-9E24E8BAB771}"/>
              </a:ext>
            </a:extLst>
          </p:cNvPr>
          <p:cNvSpPr txBox="1"/>
          <p:nvPr/>
        </p:nvSpPr>
        <p:spPr>
          <a:xfrm>
            <a:off x="6311766" y="26808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DBC file: structure and updates</a:t>
            </a:r>
            <a:endParaRPr lang="en-US" sz="1500" dirty="0"/>
          </a:p>
        </p:txBody>
      </p:sp>
      <p:sp>
        <p:nvSpPr>
          <p:cNvPr id="67" name="Shape 15">
            <a:extLst>
              <a:ext uri="{FF2B5EF4-FFF2-40B4-BE49-F238E27FC236}">
                <a16:creationId xmlns:a16="http://schemas.microsoft.com/office/drawing/2014/main" id="{786B6CFD-7812-161F-F134-C22DA072F935}"/>
              </a:ext>
            </a:extLst>
          </p:cNvPr>
          <p:cNvSpPr/>
          <p:nvPr/>
        </p:nvSpPr>
        <p:spPr>
          <a:xfrm>
            <a:off x="6311766" y="3147220"/>
            <a:ext cx="5257800" cy="0"/>
          </a:xfrm>
          <a:prstGeom prst="line">
            <a:avLst/>
          </a:prstGeom>
          <a:noFill/>
          <a:ln w="12700">
            <a:solidFill>
              <a:srgbClr val="DCE7F0"/>
            </a:solidFill>
            <a:prstDash val="solid"/>
          </a:ln>
        </p:spPr>
        <p:txBody>
          <a:bodyPr/>
          <a:lstStyle/>
          <a:p>
            <a:endParaRPr lang="it-IT"/>
          </a:p>
        </p:txBody>
      </p:sp>
      <p:sp>
        <p:nvSpPr>
          <p:cNvPr id="69" name="Text 16">
            <a:extLst>
              <a:ext uri="{FF2B5EF4-FFF2-40B4-BE49-F238E27FC236}">
                <a16:creationId xmlns:a16="http://schemas.microsoft.com/office/drawing/2014/main" id="{BA8D829A-A0D3-F588-0D0A-28745EA2E19F}"/>
              </a:ext>
            </a:extLst>
          </p:cNvPr>
          <p:cNvSpPr txBox="1"/>
          <p:nvPr/>
        </p:nvSpPr>
        <p:spPr>
          <a:xfrm>
            <a:off x="6311766" y="33301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06</a:t>
            </a:r>
            <a:endParaRPr lang="en-US" sz="2600" dirty="0"/>
          </a:p>
        </p:txBody>
      </p:sp>
      <p:sp>
        <p:nvSpPr>
          <p:cNvPr id="71" name="Text 17">
            <a:extLst>
              <a:ext uri="{FF2B5EF4-FFF2-40B4-BE49-F238E27FC236}">
                <a16:creationId xmlns:a16="http://schemas.microsoft.com/office/drawing/2014/main" id="{9E5A94A5-75FC-5D86-6A94-0FDB8720FED9}"/>
              </a:ext>
            </a:extLst>
          </p:cNvPr>
          <p:cNvSpPr txBox="1"/>
          <p:nvPr/>
        </p:nvSpPr>
        <p:spPr>
          <a:xfrm>
            <a:off x="6311766" y="38238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Vector CANalyzer and GUI integration</a:t>
            </a:r>
            <a:endParaRPr lang="en-US" sz="1500" dirty="0"/>
          </a:p>
        </p:txBody>
      </p:sp>
      <p:sp>
        <p:nvSpPr>
          <p:cNvPr id="73" name="Shape 18">
            <a:extLst>
              <a:ext uri="{FF2B5EF4-FFF2-40B4-BE49-F238E27FC236}">
                <a16:creationId xmlns:a16="http://schemas.microsoft.com/office/drawing/2014/main" id="{20AB96CA-57F8-9D43-1065-2E2F872F5072}"/>
              </a:ext>
            </a:extLst>
          </p:cNvPr>
          <p:cNvSpPr/>
          <p:nvPr/>
        </p:nvSpPr>
        <p:spPr>
          <a:xfrm>
            <a:off x="6311766" y="4290220"/>
            <a:ext cx="5257800" cy="0"/>
          </a:xfrm>
          <a:prstGeom prst="line">
            <a:avLst/>
          </a:prstGeom>
          <a:noFill/>
          <a:ln w="12700">
            <a:solidFill>
              <a:srgbClr val="DCE7F0"/>
            </a:solidFill>
            <a:prstDash val="solid"/>
          </a:ln>
        </p:spPr>
        <p:txBody>
          <a:bodyPr/>
          <a:lstStyle/>
          <a:p>
            <a:endParaRPr lang="it-IT"/>
          </a:p>
        </p:txBody>
      </p:sp>
      <p:sp>
        <p:nvSpPr>
          <p:cNvPr id="75" name="Text 19">
            <a:extLst>
              <a:ext uri="{FF2B5EF4-FFF2-40B4-BE49-F238E27FC236}">
                <a16:creationId xmlns:a16="http://schemas.microsoft.com/office/drawing/2014/main" id="{CBE0AAB1-9EA4-7D8F-3F59-757AC7248934}"/>
              </a:ext>
            </a:extLst>
          </p:cNvPr>
          <p:cNvSpPr txBox="1"/>
          <p:nvPr/>
        </p:nvSpPr>
        <p:spPr>
          <a:xfrm>
            <a:off x="6311766" y="4473100"/>
            <a:ext cx="1005840" cy="502920"/>
          </a:xfrm>
          <a:prstGeom prst="rect">
            <a:avLst/>
          </a:prstGeom>
          <a:noFill/>
          <a:ln/>
        </p:spPr>
        <p:txBody>
          <a:bodyPr wrap="square" lIns="0" tIns="0" rIns="0" bIns="0" rtlCol="0" anchor="t"/>
          <a:lstStyle/>
          <a:p>
            <a:pPr marL="0" indent="0">
              <a:buNone/>
            </a:pPr>
            <a:r>
              <a:rPr lang="en-US" sz="2600" b="1" dirty="0">
                <a:solidFill>
                  <a:srgbClr val="3CB4E6"/>
                </a:solidFill>
                <a:latin typeface="Calibri" pitchFamily="34" charset="0"/>
                <a:ea typeface="Calibri" pitchFamily="34" charset="-122"/>
                <a:cs typeface="Calibri" pitchFamily="34" charset="-120"/>
              </a:rPr>
              <a:t>07</a:t>
            </a:r>
            <a:endParaRPr lang="en-US" sz="2600" dirty="0"/>
          </a:p>
        </p:txBody>
      </p:sp>
      <p:sp>
        <p:nvSpPr>
          <p:cNvPr id="77" name="Text 20">
            <a:extLst>
              <a:ext uri="{FF2B5EF4-FFF2-40B4-BE49-F238E27FC236}">
                <a16:creationId xmlns:a16="http://schemas.microsoft.com/office/drawing/2014/main" id="{CE0F30F7-7158-6A85-9EDF-7B56A12C452B}"/>
              </a:ext>
            </a:extLst>
          </p:cNvPr>
          <p:cNvSpPr txBox="1"/>
          <p:nvPr/>
        </p:nvSpPr>
        <p:spPr>
          <a:xfrm>
            <a:off x="6311766" y="4966876"/>
            <a:ext cx="5257800" cy="502920"/>
          </a:xfrm>
          <a:prstGeom prst="rect">
            <a:avLst/>
          </a:prstGeom>
          <a:noFill/>
          <a:ln/>
        </p:spPr>
        <p:txBody>
          <a:bodyPr wrap="square" lIns="0" tIns="0" rIns="0" bIns="0" rtlCol="0" anchor="t"/>
          <a:lstStyle/>
          <a:p>
            <a:pPr>
              <a:lnSpc>
                <a:spcPct val="108000"/>
              </a:lnSpc>
            </a:pPr>
            <a:r>
              <a:rPr lang="en-US" sz="1500" b="1" dirty="0">
                <a:solidFill>
                  <a:srgbClr val="03234B"/>
                </a:solidFill>
                <a:latin typeface="Calibri" pitchFamily="34" charset="0"/>
                <a:ea typeface="Calibri" pitchFamily="34" charset="-122"/>
                <a:cs typeface="Calibri" pitchFamily="34" charset="-120"/>
              </a:rPr>
              <a:t>Conclusions and results</a:t>
            </a:r>
            <a:endParaRPr lang="en-US" sz="1500" dirty="0"/>
          </a:p>
        </p:txBody>
      </p:sp>
      <p:sp>
        <p:nvSpPr>
          <p:cNvPr id="79" name="Shape 21">
            <a:extLst>
              <a:ext uri="{FF2B5EF4-FFF2-40B4-BE49-F238E27FC236}">
                <a16:creationId xmlns:a16="http://schemas.microsoft.com/office/drawing/2014/main" id="{3E28B8A3-03A2-D010-9D6F-71CDC2229CB5}"/>
              </a:ext>
            </a:extLst>
          </p:cNvPr>
          <p:cNvSpPr/>
          <p:nvPr/>
        </p:nvSpPr>
        <p:spPr>
          <a:xfrm>
            <a:off x="5991726" y="1542448"/>
            <a:ext cx="0" cy="4572000"/>
          </a:xfrm>
          <a:prstGeom prst="line">
            <a:avLst/>
          </a:prstGeom>
          <a:noFill/>
          <a:ln w="12700">
            <a:solidFill>
              <a:srgbClr val="DCE7F0"/>
            </a:solidFill>
            <a:prstDash val="solid"/>
          </a:ln>
        </p:spPr>
        <p:txBody>
          <a:bodyPr/>
          <a:lstStyle/>
          <a:p>
            <a:endParaRPr lang="it-IT"/>
          </a:p>
        </p:txBody>
      </p:sp>
    </p:spTree>
    <p:extLst>
      <p:ext uri="{BB962C8B-B14F-4D97-AF65-F5344CB8AC3E}">
        <p14:creationId xmlns:p14="http://schemas.microsoft.com/office/powerpoint/2010/main" val="155006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847B305E-B5E8-6D1D-FB76-83FA543E7706}"/>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Objective of the work</a:t>
            </a:r>
            <a:endParaRPr lang="it-IT" dirty="0"/>
          </a:p>
        </p:txBody>
      </p:sp>
      <p:sp>
        <p:nvSpPr>
          <p:cNvPr id="4" name="Text 0">
            <a:extLst>
              <a:ext uri="{FF2B5EF4-FFF2-40B4-BE49-F238E27FC236}">
                <a16:creationId xmlns:a16="http://schemas.microsoft.com/office/drawing/2014/main" id="{1EB63A35-8510-6285-BDEE-8363EEF9C219}"/>
              </a:ext>
            </a:extLst>
          </p:cNvPr>
          <p:cNvSpPr/>
          <p:nvPr/>
        </p:nvSpPr>
        <p:spPr>
          <a:xfrm>
            <a:off x="10911839" y="175500"/>
            <a:ext cx="9601200" cy="274320"/>
          </a:xfrm>
          <a:prstGeom prst="rect">
            <a:avLst/>
          </a:prstGeom>
          <a:noFill/>
          <a:ln/>
        </p:spPr>
        <p:txBody>
          <a:bodyPr wrap="square" rtlCol="0" anchor="ctr"/>
          <a:lstStyle/>
          <a:p>
            <a:r>
              <a:rPr lang="en-US" sz="1100" b="1" kern="0" spc="200" dirty="0">
                <a:solidFill>
                  <a:srgbClr val="0E7DAD"/>
                </a:solidFill>
                <a:latin typeface="Calibri" pitchFamily="34" charset="0"/>
                <a:ea typeface="Calibri" pitchFamily="34" charset="-122"/>
                <a:cs typeface="Calibri" pitchFamily="34" charset="-120"/>
              </a:rPr>
              <a:t>OBJECTIVE</a:t>
            </a:r>
            <a:endParaRPr lang="en-US" sz="1100" dirty="0">
              <a:solidFill>
                <a:prstClr val="black"/>
              </a:solidFill>
              <a:latin typeface="Calibri" panose="020F0502020204030204"/>
            </a:endParaRPr>
          </a:p>
        </p:txBody>
      </p:sp>
      <p:sp>
        <p:nvSpPr>
          <p:cNvPr id="6" name="Text 2">
            <a:extLst>
              <a:ext uri="{FF2B5EF4-FFF2-40B4-BE49-F238E27FC236}">
                <a16:creationId xmlns:a16="http://schemas.microsoft.com/office/drawing/2014/main" id="{6135E020-AE00-9612-B051-F97FB069D250}"/>
              </a:ext>
            </a:extLst>
          </p:cNvPr>
          <p:cNvSpPr/>
          <p:nvPr/>
        </p:nvSpPr>
        <p:spPr>
          <a:xfrm>
            <a:off x="548640" y="1522336"/>
            <a:ext cx="10607040" cy="822960"/>
          </a:xfrm>
          <a:prstGeom prst="rect">
            <a:avLst/>
          </a:prstGeom>
          <a:noFill/>
          <a:ln/>
        </p:spPr>
        <p:txBody>
          <a:bodyPr wrap="square" rtlCol="0" anchor="ctr"/>
          <a:lstStyle/>
          <a:p>
            <a:pPr>
              <a:lnSpc>
                <a:spcPct val="120000"/>
              </a:lnSpc>
            </a:pPr>
            <a:r>
              <a:rPr lang="en-US" sz="2000" dirty="0">
                <a:solidFill>
                  <a:srgbClr val="16212B"/>
                </a:solidFill>
                <a:latin typeface="Calibri" pitchFamily="34" charset="0"/>
                <a:ea typeface="Calibri" pitchFamily="34" charset="-122"/>
                <a:cs typeface="Calibri" pitchFamily="34" charset="-120"/>
              </a:rPr>
              <a:t>The aim of the project is to develop a CAN interface to automate the communication between the microcontroller (</a:t>
            </a:r>
            <a:r>
              <a:rPr lang="en-US" sz="2000" dirty="0" err="1">
                <a:solidFill>
                  <a:srgbClr val="16212B"/>
                </a:solidFill>
                <a:latin typeface="Calibri" pitchFamily="34" charset="0"/>
                <a:ea typeface="Calibri" pitchFamily="34" charset="-122"/>
                <a:cs typeface="Calibri" pitchFamily="34" charset="-120"/>
              </a:rPr>
              <a:t>uC</a:t>
            </a:r>
            <a:r>
              <a:rPr lang="en-US" sz="2000" dirty="0">
                <a:solidFill>
                  <a:srgbClr val="16212B"/>
                </a:solidFill>
                <a:latin typeface="Calibri" pitchFamily="34" charset="0"/>
                <a:ea typeface="Calibri" pitchFamily="34" charset="-122"/>
                <a:cs typeface="Calibri" pitchFamily="34" charset="-120"/>
              </a:rPr>
              <a:t>) and the Dyno bench software.</a:t>
            </a:r>
            <a:endParaRPr lang="en-US" sz="2000" dirty="0"/>
          </a:p>
        </p:txBody>
      </p:sp>
      <p:sp>
        <p:nvSpPr>
          <p:cNvPr id="8" name="Shape 3">
            <a:extLst>
              <a:ext uri="{FF2B5EF4-FFF2-40B4-BE49-F238E27FC236}">
                <a16:creationId xmlns:a16="http://schemas.microsoft.com/office/drawing/2014/main" id="{EC977767-8BAB-9920-EDC8-5B919EC5073B}"/>
              </a:ext>
            </a:extLst>
          </p:cNvPr>
          <p:cNvSpPr/>
          <p:nvPr/>
        </p:nvSpPr>
        <p:spPr>
          <a:xfrm>
            <a:off x="548640" y="2788920"/>
            <a:ext cx="3337560" cy="2651760"/>
          </a:xfrm>
          <a:prstGeom prst="rect">
            <a:avLst/>
          </a:prstGeom>
          <a:solidFill>
            <a:srgbClr val="F2F7FB"/>
          </a:solidFill>
          <a:ln w="12700">
            <a:solidFill>
              <a:srgbClr val="DCE7F0"/>
            </a:solidFill>
            <a:prstDash val="solid"/>
          </a:ln>
        </p:spPr>
        <p:txBody>
          <a:bodyPr/>
          <a:lstStyle/>
          <a:p>
            <a:endParaRPr lang="it-IT"/>
          </a:p>
        </p:txBody>
      </p:sp>
      <p:sp>
        <p:nvSpPr>
          <p:cNvPr id="10" name="Shape 4">
            <a:extLst>
              <a:ext uri="{FF2B5EF4-FFF2-40B4-BE49-F238E27FC236}">
                <a16:creationId xmlns:a16="http://schemas.microsoft.com/office/drawing/2014/main" id="{EE20251D-17FD-FAE5-411C-7B49BF2DE410}"/>
              </a:ext>
            </a:extLst>
          </p:cNvPr>
          <p:cNvSpPr/>
          <p:nvPr/>
        </p:nvSpPr>
        <p:spPr>
          <a:xfrm>
            <a:off x="868680" y="3108960"/>
            <a:ext cx="502920" cy="502920"/>
          </a:xfrm>
          <a:prstGeom prst="ellipse">
            <a:avLst/>
          </a:prstGeom>
          <a:solidFill>
            <a:srgbClr val="03234B"/>
          </a:solidFill>
          <a:ln/>
        </p:spPr>
        <p:txBody>
          <a:bodyPr/>
          <a:lstStyle/>
          <a:p>
            <a:endParaRPr lang="it-IT"/>
          </a:p>
        </p:txBody>
      </p:sp>
      <p:sp>
        <p:nvSpPr>
          <p:cNvPr id="12" name="Text 5">
            <a:extLst>
              <a:ext uri="{FF2B5EF4-FFF2-40B4-BE49-F238E27FC236}">
                <a16:creationId xmlns:a16="http://schemas.microsoft.com/office/drawing/2014/main" id="{1BBE01EE-7888-02B1-AEB7-43C8E4CE8597}"/>
              </a:ext>
            </a:extLst>
          </p:cNvPr>
          <p:cNvSpPr/>
          <p:nvPr/>
        </p:nvSpPr>
        <p:spPr>
          <a:xfrm>
            <a:off x="868680" y="310896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6">
            <a:extLst>
              <a:ext uri="{FF2B5EF4-FFF2-40B4-BE49-F238E27FC236}">
                <a16:creationId xmlns:a16="http://schemas.microsoft.com/office/drawing/2014/main" id="{E7252937-9BF2-229A-C39E-80FBC89754E8}"/>
              </a:ext>
            </a:extLst>
          </p:cNvPr>
          <p:cNvSpPr/>
          <p:nvPr/>
        </p:nvSpPr>
        <p:spPr>
          <a:xfrm>
            <a:off x="868680" y="3749040"/>
            <a:ext cx="2697480" cy="457200"/>
          </a:xfrm>
          <a:prstGeom prst="rect">
            <a:avLst/>
          </a:prstGeom>
          <a:noFill/>
          <a:ln/>
        </p:spPr>
        <p:txBody>
          <a:bodyPr wrap="square" rtlCol="0" anchor="ctr"/>
          <a:lstStyle/>
          <a:p>
            <a:r>
              <a:rPr lang="en-US" b="1">
                <a:solidFill>
                  <a:srgbClr val="03234B"/>
                </a:solidFill>
                <a:latin typeface="Calibri" pitchFamily="34" charset="0"/>
                <a:ea typeface="Calibri" pitchFamily="34" charset="-122"/>
                <a:cs typeface="Calibri" pitchFamily="34" charset="-120"/>
              </a:rPr>
              <a:t>Library validation</a:t>
            </a:r>
            <a:endParaRPr lang="en-US" dirty="0"/>
          </a:p>
        </p:txBody>
      </p:sp>
      <p:sp>
        <p:nvSpPr>
          <p:cNvPr id="16" name="Text 7">
            <a:extLst>
              <a:ext uri="{FF2B5EF4-FFF2-40B4-BE49-F238E27FC236}">
                <a16:creationId xmlns:a16="http://schemas.microsoft.com/office/drawing/2014/main" id="{652720BB-63F4-841F-928B-6329D9121D4B}"/>
              </a:ext>
            </a:extLst>
          </p:cNvPr>
          <p:cNvSpPr/>
          <p:nvPr/>
        </p:nvSpPr>
        <p:spPr>
          <a:xfrm>
            <a:off x="868680" y="4206240"/>
            <a:ext cx="2697480" cy="1051560"/>
          </a:xfrm>
          <a:prstGeom prst="rect">
            <a:avLst/>
          </a:prstGeom>
          <a:noFill/>
          <a:ln/>
        </p:spPr>
        <p:txBody>
          <a:bodyPr wrap="square" rtlCol="0" anchor="ctr"/>
          <a:lstStyle/>
          <a:p>
            <a:pPr>
              <a:lnSpc>
                <a:spcPct val="115000"/>
              </a:lnSpc>
            </a:pPr>
            <a:r>
              <a:rPr lang="en-US" sz="1600" dirty="0">
                <a:solidFill>
                  <a:srgbClr val="51606E"/>
                </a:solidFill>
                <a:latin typeface="Calibri" pitchFamily="34" charset="0"/>
                <a:ea typeface="Calibri" pitchFamily="34" charset="-122"/>
                <a:cs typeface="Calibri" pitchFamily="34" charset="-120"/>
              </a:rPr>
              <a:t>Verifying and Correcting the Existing SR5E1 CAN Library.</a:t>
            </a:r>
            <a:endParaRPr lang="en-US" sz="1600" dirty="0"/>
          </a:p>
        </p:txBody>
      </p:sp>
      <p:sp>
        <p:nvSpPr>
          <p:cNvPr id="18" name="Shape 8">
            <a:extLst>
              <a:ext uri="{FF2B5EF4-FFF2-40B4-BE49-F238E27FC236}">
                <a16:creationId xmlns:a16="http://schemas.microsoft.com/office/drawing/2014/main" id="{72B3F230-AF75-470E-7B0A-B70EABE9DF83}"/>
              </a:ext>
            </a:extLst>
          </p:cNvPr>
          <p:cNvSpPr/>
          <p:nvPr/>
        </p:nvSpPr>
        <p:spPr>
          <a:xfrm>
            <a:off x="4206240" y="2788920"/>
            <a:ext cx="3337560" cy="2651760"/>
          </a:xfrm>
          <a:prstGeom prst="rect">
            <a:avLst/>
          </a:prstGeom>
          <a:solidFill>
            <a:srgbClr val="F2F7FB"/>
          </a:solidFill>
          <a:ln w="12700">
            <a:solidFill>
              <a:srgbClr val="DCE7F0"/>
            </a:solidFill>
            <a:prstDash val="solid"/>
          </a:ln>
        </p:spPr>
        <p:txBody>
          <a:bodyPr/>
          <a:lstStyle/>
          <a:p>
            <a:endParaRPr lang="it-IT"/>
          </a:p>
        </p:txBody>
      </p:sp>
      <p:sp>
        <p:nvSpPr>
          <p:cNvPr id="20" name="Shape 9">
            <a:extLst>
              <a:ext uri="{FF2B5EF4-FFF2-40B4-BE49-F238E27FC236}">
                <a16:creationId xmlns:a16="http://schemas.microsoft.com/office/drawing/2014/main" id="{9E4851E1-0382-8192-4099-E2F2F98C64D1}"/>
              </a:ext>
            </a:extLst>
          </p:cNvPr>
          <p:cNvSpPr/>
          <p:nvPr/>
        </p:nvSpPr>
        <p:spPr>
          <a:xfrm>
            <a:off x="4526280" y="3108960"/>
            <a:ext cx="502920" cy="502920"/>
          </a:xfrm>
          <a:prstGeom prst="ellipse">
            <a:avLst/>
          </a:prstGeom>
          <a:solidFill>
            <a:srgbClr val="03234B"/>
          </a:solidFill>
          <a:ln/>
        </p:spPr>
        <p:txBody>
          <a:bodyPr/>
          <a:lstStyle/>
          <a:p>
            <a:endParaRPr lang="it-IT"/>
          </a:p>
        </p:txBody>
      </p:sp>
      <p:sp>
        <p:nvSpPr>
          <p:cNvPr id="22" name="Text 10">
            <a:extLst>
              <a:ext uri="{FF2B5EF4-FFF2-40B4-BE49-F238E27FC236}">
                <a16:creationId xmlns:a16="http://schemas.microsoft.com/office/drawing/2014/main" id="{855078DC-E592-4873-2AA9-E537F57811B7}"/>
              </a:ext>
            </a:extLst>
          </p:cNvPr>
          <p:cNvSpPr/>
          <p:nvPr/>
        </p:nvSpPr>
        <p:spPr>
          <a:xfrm>
            <a:off x="4526280" y="310896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11">
            <a:extLst>
              <a:ext uri="{FF2B5EF4-FFF2-40B4-BE49-F238E27FC236}">
                <a16:creationId xmlns:a16="http://schemas.microsoft.com/office/drawing/2014/main" id="{2F10A9FE-15BF-4E08-4E0C-60BA0F9C2C21}"/>
              </a:ext>
            </a:extLst>
          </p:cNvPr>
          <p:cNvSpPr/>
          <p:nvPr/>
        </p:nvSpPr>
        <p:spPr>
          <a:xfrm>
            <a:off x="4526280" y="3749040"/>
            <a:ext cx="2697480" cy="457200"/>
          </a:xfrm>
          <a:prstGeom prst="rect">
            <a:avLst/>
          </a:prstGeom>
          <a:noFill/>
          <a:ln/>
        </p:spPr>
        <p:txBody>
          <a:bodyPr wrap="square" rtlCol="0" anchor="ctr"/>
          <a:lstStyle/>
          <a:p>
            <a:r>
              <a:rPr lang="en-US" b="1" dirty="0">
                <a:solidFill>
                  <a:srgbClr val="03234B"/>
                </a:solidFill>
                <a:latin typeface="Calibri" pitchFamily="34" charset="0"/>
                <a:ea typeface="Calibri" pitchFamily="34" charset="-122"/>
                <a:cs typeface="Calibri" pitchFamily="34" charset="-120"/>
              </a:rPr>
              <a:t>Edit DBC file</a:t>
            </a:r>
            <a:endParaRPr lang="en-US" dirty="0"/>
          </a:p>
        </p:txBody>
      </p:sp>
      <p:sp>
        <p:nvSpPr>
          <p:cNvPr id="26" name="Text 12">
            <a:extLst>
              <a:ext uri="{FF2B5EF4-FFF2-40B4-BE49-F238E27FC236}">
                <a16:creationId xmlns:a16="http://schemas.microsoft.com/office/drawing/2014/main" id="{FDE29C41-D4C3-2A03-D860-6B97013AEAA8}"/>
              </a:ext>
            </a:extLst>
          </p:cNvPr>
          <p:cNvSpPr/>
          <p:nvPr/>
        </p:nvSpPr>
        <p:spPr>
          <a:xfrm>
            <a:off x="4526280" y="4206240"/>
            <a:ext cx="2697480" cy="1051560"/>
          </a:xfrm>
          <a:prstGeom prst="rect">
            <a:avLst/>
          </a:prstGeom>
          <a:noFill/>
          <a:ln/>
        </p:spPr>
        <p:txBody>
          <a:bodyPr wrap="square" rtlCol="0" anchor="ctr"/>
          <a:lstStyle/>
          <a:p>
            <a:pPr>
              <a:lnSpc>
                <a:spcPct val="115000"/>
              </a:lnSpc>
            </a:pPr>
            <a:r>
              <a:rPr lang="en-US" sz="1600" dirty="0">
                <a:solidFill>
                  <a:srgbClr val="51606E"/>
                </a:solidFill>
                <a:latin typeface="Calibri" pitchFamily="34" charset="0"/>
                <a:ea typeface="Calibri" pitchFamily="34" charset="-122"/>
                <a:cs typeface="Calibri" pitchFamily="34" charset="-120"/>
              </a:rPr>
              <a:t>Modification of the DBC file by adding new CAN messages.</a:t>
            </a:r>
            <a:endParaRPr lang="en-US" sz="1600" dirty="0"/>
          </a:p>
        </p:txBody>
      </p:sp>
      <p:sp>
        <p:nvSpPr>
          <p:cNvPr id="28" name="Shape 13">
            <a:extLst>
              <a:ext uri="{FF2B5EF4-FFF2-40B4-BE49-F238E27FC236}">
                <a16:creationId xmlns:a16="http://schemas.microsoft.com/office/drawing/2014/main" id="{7A5CE542-34D5-84D9-C3B2-D3F1F83C96E4}"/>
              </a:ext>
            </a:extLst>
          </p:cNvPr>
          <p:cNvSpPr/>
          <p:nvPr/>
        </p:nvSpPr>
        <p:spPr>
          <a:xfrm>
            <a:off x="7863840" y="2788920"/>
            <a:ext cx="3337560" cy="2651760"/>
          </a:xfrm>
          <a:prstGeom prst="rect">
            <a:avLst/>
          </a:prstGeom>
          <a:solidFill>
            <a:srgbClr val="F2F7FB"/>
          </a:solidFill>
          <a:ln w="12700">
            <a:solidFill>
              <a:srgbClr val="DCE7F0"/>
            </a:solidFill>
            <a:prstDash val="solid"/>
          </a:ln>
        </p:spPr>
        <p:txBody>
          <a:bodyPr/>
          <a:lstStyle/>
          <a:p>
            <a:endParaRPr lang="it-IT"/>
          </a:p>
        </p:txBody>
      </p:sp>
      <p:sp>
        <p:nvSpPr>
          <p:cNvPr id="30" name="Shape 14">
            <a:extLst>
              <a:ext uri="{FF2B5EF4-FFF2-40B4-BE49-F238E27FC236}">
                <a16:creationId xmlns:a16="http://schemas.microsoft.com/office/drawing/2014/main" id="{A80956BF-5B8C-ACF6-0A2A-CB9035FC7C92}"/>
              </a:ext>
            </a:extLst>
          </p:cNvPr>
          <p:cNvSpPr/>
          <p:nvPr/>
        </p:nvSpPr>
        <p:spPr>
          <a:xfrm>
            <a:off x="8183880" y="3108960"/>
            <a:ext cx="502920" cy="502920"/>
          </a:xfrm>
          <a:prstGeom prst="ellipse">
            <a:avLst/>
          </a:prstGeom>
          <a:solidFill>
            <a:srgbClr val="03234B"/>
          </a:solidFill>
          <a:ln/>
        </p:spPr>
        <p:txBody>
          <a:bodyPr/>
          <a:lstStyle/>
          <a:p>
            <a:endParaRPr lang="it-IT"/>
          </a:p>
        </p:txBody>
      </p:sp>
      <p:sp>
        <p:nvSpPr>
          <p:cNvPr id="32" name="Text 15">
            <a:extLst>
              <a:ext uri="{FF2B5EF4-FFF2-40B4-BE49-F238E27FC236}">
                <a16:creationId xmlns:a16="http://schemas.microsoft.com/office/drawing/2014/main" id="{D6094C22-AFB3-EBD0-3ACF-F42C5F58C100}"/>
              </a:ext>
            </a:extLst>
          </p:cNvPr>
          <p:cNvSpPr/>
          <p:nvPr/>
        </p:nvSpPr>
        <p:spPr>
          <a:xfrm>
            <a:off x="8183880" y="310896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4" name="Text 16">
            <a:extLst>
              <a:ext uri="{FF2B5EF4-FFF2-40B4-BE49-F238E27FC236}">
                <a16:creationId xmlns:a16="http://schemas.microsoft.com/office/drawing/2014/main" id="{33DEB8E8-1A96-E381-9E75-079F8110C049}"/>
              </a:ext>
            </a:extLst>
          </p:cNvPr>
          <p:cNvSpPr/>
          <p:nvPr/>
        </p:nvSpPr>
        <p:spPr>
          <a:xfrm>
            <a:off x="8183880" y="3749040"/>
            <a:ext cx="2697480" cy="457200"/>
          </a:xfrm>
          <a:prstGeom prst="rect">
            <a:avLst/>
          </a:prstGeom>
          <a:noFill/>
          <a:ln/>
        </p:spPr>
        <p:txBody>
          <a:bodyPr wrap="square" rtlCol="0" anchor="ctr"/>
          <a:lstStyle/>
          <a:p>
            <a:r>
              <a:rPr lang="en-US" b="1">
                <a:solidFill>
                  <a:srgbClr val="03234B"/>
                </a:solidFill>
                <a:latin typeface="Calibri" pitchFamily="34" charset="0"/>
                <a:ea typeface="Calibri" pitchFamily="34" charset="-122"/>
                <a:cs typeface="Calibri" pitchFamily="34" charset="-120"/>
              </a:rPr>
              <a:t>Creation of control GUI</a:t>
            </a:r>
            <a:endParaRPr lang="en-US" dirty="0"/>
          </a:p>
        </p:txBody>
      </p:sp>
      <p:sp>
        <p:nvSpPr>
          <p:cNvPr id="36" name="Text 17">
            <a:extLst>
              <a:ext uri="{FF2B5EF4-FFF2-40B4-BE49-F238E27FC236}">
                <a16:creationId xmlns:a16="http://schemas.microsoft.com/office/drawing/2014/main" id="{90BFEA76-369D-1BBD-EFD4-1562F2318AE4}"/>
              </a:ext>
            </a:extLst>
          </p:cNvPr>
          <p:cNvSpPr/>
          <p:nvPr/>
        </p:nvSpPr>
        <p:spPr>
          <a:xfrm>
            <a:off x="8183880" y="4206240"/>
            <a:ext cx="2697480" cy="1051560"/>
          </a:xfrm>
          <a:prstGeom prst="rect">
            <a:avLst/>
          </a:prstGeom>
          <a:noFill/>
          <a:ln/>
        </p:spPr>
        <p:txBody>
          <a:bodyPr wrap="square" rtlCol="0" anchor="ctr"/>
          <a:lstStyle/>
          <a:p>
            <a:pPr>
              <a:lnSpc>
                <a:spcPct val="115000"/>
              </a:lnSpc>
            </a:pPr>
            <a:r>
              <a:rPr lang="en-US" sz="1600" dirty="0">
                <a:solidFill>
                  <a:srgbClr val="51606E"/>
                </a:solidFill>
                <a:latin typeface="Calibri" pitchFamily="34" charset="0"/>
                <a:ea typeface="Calibri" pitchFamily="34" charset="-122"/>
                <a:cs typeface="Calibri" pitchFamily="34" charset="-120"/>
              </a:rPr>
              <a:t>Development of the control and monitoring graphical interface (GUI).</a:t>
            </a:r>
            <a:endParaRPr lang="en-US" sz="1600" dirty="0"/>
          </a:p>
        </p:txBody>
      </p:sp>
    </p:spTree>
    <p:extLst>
      <p:ext uri="{BB962C8B-B14F-4D97-AF65-F5344CB8AC3E}">
        <p14:creationId xmlns:p14="http://schemas.microsoft.com/office/powerpoint/2010/main" val="201992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6F1A30-1F85-0487-1A9C-F26878D0E0A0}"/>
              </a:ext>
            </a:extLst>
          </p:cNvPr>
          <p:cNvSpPr>
            <a:spLocks noGrp="1"/>
          </p:cNvSpPr>
          <p:nvPr>
            <p:ph type="title"/>
          </p:nvPr>
        </p:nvSpPr>
        <p:spPr>
          <a:xfrm>
            <a:off x="2819399" y="419894"/>
            <a:ext cx="9372601" cy="1484312"/>
          </a:xfrm>
        </p:spPr>
        <p:txBody>
          <a:bodyPr/>
          <a:lstStyle/>
          <a:p>
            <a:r>
              <a:rPr lang="en-US" dirty="0"/>
              <a:t>Validation of existing CAN library</a:t>
            </a:r>
          </a:p>
        </p:txBody>
      </p:sp>
    </p:spTree>
    <p:extLst>
      <p:ext uri="{BB962C8B-B14F-4D97-AF65-F5344CB8AC3E}">
        <p14:creationId xmlns:p14="http://schemas.microsoft.com/office/powerpoint/2010/main" val="2844948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13AA9735-2CE7-F3F5-B25B-B1365D057DAC}"/>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Architecture and offset rule</a:t>
            </a:r>
            <a:endParaRPr lang="it-IT" dirty="0"/>
          </a:p>
        </p:txBody>
      </p:sp>
      <p:sp>
        <p:nvSpPr>
          <p:cNvPr id="6" name="Text 0">
            <a:extLst>
              <a:ext uri="{FF2B5EF4-FFF2-40B4-BE49-F238E27FC236}">
                <a16:creationId xmlns:a16="http://schemas.microsoft.com/office/drawing/2014/main" id="{5DCD0D12-08C4-A28C-2A24-456CFD2D32CD}"/>
              </a:ext>
            </a:extLst>
          </p:cNvPr>
          <p:cNvSpPr/>
          <p:nvPr/>
        </p:nvSpPr>
        <p:spPr>
          <a:xfrm>
            <a:off x="10692598" y="206783"/>
            <a:ext cx="9601200" cy="274320"/>
          </a:xfrm>
          <a:prstGeom prst="rect">
            <a:avLst/>
          </a:prstGeom>
          <a:noFill/>
          <a:ln/>
        </p:spPr>
        <p:txBody>
          <a:bodyPr wrap="square" rtlCol="0" anchor="ctr"/>
          <a:lstStyle/>
          <a:p>
            <a:r>
              <a:rPr lang="en-US" sz="1100" b="1" kern="0" spc="200" dirty="0">
                <a:solidFill>
                  <a:srgbClr val="0E7DAD"/>
                </a:solidFill>
                <a:latin typeface="Calibri" pitchFamily="34" charset="0"/>
                <a:ea typeface="Calibri" pitchFamily="34" charset="-122"/>
                <a:cs typeface="Calibri" pitchFamily="34" charset="-120"/>
              </a:rPr>
              <a:t>CAN LIBRARY</a:t>
            </a:r>
            <a:endParaRPr lang="en-US" sz="1100" dirty="0">
              <a:solidFill>
                <a:srgbClr val="0E7DAD"/>
              </a:solidFill>
              <a:latin typeface="Calibri" panose="020F0502020204030204"/>
            </a:endParaRPr>
          </a:p>
        </p:txBody>
      </p:sp>
      <p:sp>
        <p:nvSpPr>
          <p:cNvPr id="8" name="Text 2">
            <a:extLst>
              <a:ext uri="{FF2B5EF4-FFF2-40B4-BE49-F238E27FC236}">
                <a16:creationId xmlns:a16="http://schemas.microsoft.com/office/drawing/2014/main" id="{5691B35B-55C0-7914-86B7-A7725B193C20}"/>
              </a:ext>
            </a:extLst>
          </p:cNvPr>
          <p:cNvSpPr/>
          <p:nvPr/>
        </p:nvSpPr>
        <p:spPr>
          <a:xfrm>
            <a:off x="548640" y="1496468"/>
            <a:ext cx="10607040" cy="960120"/>
          </a:xfrm>
          <a:prstGeom prst="rect">
            <a:avLst/>
          </a:prstGeom>
          <a:noFill/>
          <a:ln/>
        </p:spPr>
        <p:txBody>
          <a:bodyPr wrap="square" rtlCol="0" anchor="ctr"/>
          <a:lstStyle/>
          <a:p>
            <a:pPr>
              <a:lnSpc>
                <a:spcPct val="120000"/>
              </a:lnSpc>
            </a:pPr>
            <a:r>
              <a:rPr lang="en-US" dirty="0">
                <a:solidFill>
                  <a:srgbClr val="16212B"/>
                </a:solidFill>
                <a:latin typeface="Calibri" pitchFamily="34" charset="0"/>
                <a:ea typeface="Calibri" pitchFamily="34" charset="-122"/>
                <a:cs typeface="Calibri" pitchFamily="34" charset="-120"/>
              </a:rPr>
              <a:t>The initial library was designed to interface the test bench (Dyno bench) with the firmware of the Stellar-E microcontroller via CAN bus. It adopts the Dyno-to-Dishwasher (DYNO2DW) protocol: a translation function that converts the CAN commands of the bench into the format of the ST Motor Control Dishwasher protocol.</a:t>
            </a:r>
            <a:endParaRPr lang="en-US" dirty="0"/>
          </a:p>
        </p:txBody>
      </p:sp>
      <p:sp>
        <p:nvSpPr>
          <p:cNvPr id="10" name="Shape 3">
            <a:extLst>
              <a:ext uri="{FF2B5EF4-FFF2-40B4-BE49-F238E27FC236}">
                <a16:creationId xmlns:a16="http://schemas.microsoft.com/office/drawing/2014/main" id="{A0A034E0-BC9C-6731-CA3D-2BF5BA17CCD7}"/>
              </a:ext>
            </a:extLst>
          </p:cNvPr>
          <p:cNvSpPr/>
          <p:nvPr/>
        </p:nvSpPr>
        <p:spPr>
          <a:xfrm>
            <a:off x="548640" y="2880360"/>
            <a:ext cx="2880360" cy="914400"/>
          </a:xfrm>
          <a:prstGeom prst="rect">
            <a:avLst/>
          </a:prstGeom>
          <a:solidFill>
            <a:srgbClr val="F2F7FB"/>
          </a:solidFill>
          <a:ln w="15875">
            <a:solidFill>
              <a:srgbClr val="DCE7F0"/>
            </a:solidFill>
            <a:prstDash val="solid"/>
          </a:ln>
        </p:spPr>
        <p:txBody>
          <a:bodyPr/>
          <a:lstStyle/>
          <a:p>
            <a:endParaRPr lang="it-IT"/>
          </a:p>
        </p:txBody>
      </p:sp>
      <p:sp>
        <p:nvSpPr>
          <p:cNvPr id="12" name="Text 4">
            <a:extLst>
              <a:ext uri="{FF2B5EF4-FFF2-40B4-BE49-F238E27FC236}">
                <a16:creationId xmlns:a16="http://schemas.microsoft.com/office/drawing/2014/main" id="{4827DFF3-0852-8B04-4324-035B3D979519}"/>
              </a:ext>
            </a:extLst>
          </p:cNvPr>
          <p:cNvSpPr/>
          <p:nvPr/>
        </p:nvSpPr>
        <p:spPr>
          <a:xfrm>
            <a:off x="548640" y="2880360"/>
            <a:ext cx="2880360" cy="914400"/>
          </a:xfrm>
          <a:prstGeom prst="rect">
            <a:avLst/>
          </a:prstGeom>
          <a:noFill/>
          <a:ln/>
        </p:spPr>
        <p:txBody>
          <a:bodyPr wrap="square" rtlCol="0" anchor="ctr"/>
          <a:lstStyle/>
          <a:p>
            <a:pPr marL="0" indent="0" algn="ctr">
              <a:lnSpc>
                <a:spcPct val="105000"/>
              </a:lnSpc>
              <a:buNone/>
            </a:pPr>
            <a:r>
              <a:rPr lang="en-US" b="1" dirty="0">
                <a:solidFill>
                  <a:srgbClr val="03234B"/>
                </a:solidFill>
                <a:latin typeface="Calibri" pitchFamily="34" charset="0"/>
                <a:ea typeface="Calibri" pitchFamily="34" charset="-122"/>
                <a:cs typeface="Calibri" pitchFamily="34" charset="-120"/>
              </a:rPr>
              <a:t>Dyno Bench</a:t>
            </a:r>
            <a:endParaRPr lang="en-US" dirty="0"/>
          </a:p>
        </p:txBody>
      </p:sp>
      <p:sp>
        <p:nvSpPr>
          <p:cNvPr id="14" name="Shape 5">
            <a:extLst>
              <a:ext uri="{FF2B5EF4-FFF2-40B4-BE49-F238E27FC236}">
                <a16:creationId xmlns:a16="http://schemas.microsoft.com/office/drawing/2014/main" id="{633D34B7-82F2-DA0D-2BE1-1625B4C5B181}"/>
              </a:ext>
            </a:extLst>
          </p:cNvPr>
          <p:cNvSpPr/>
          <p:nvPr/>
        </p:nvSpPr>
        <p:spPr>
          <a:xfrm>
            <a:off x="3502152" y="3236976"/>
            <a:ext cx="539496" cy="201168"/>
          </a:xfrm>
          <a:prstGeom prst="rightArrow">
            <a:avLst/>
          </a:prstGeom>
          <a:solidFill>
            <a:srgbClr val="3CB4E6"/>
          </a:solidFill>
          <a:ln/>
        </p:spPr>
        <p:txBody>
          <a:bodyPr/>
          <a:lstStyle/>
          <a:p>
            <a:endParaRPr lang="it-IT"/>
          </a:p>
        </p:txBody>
      </p:sp>
      <p:sp>
        <p:nvSpPr>
          <p:cNvPr id="16" name="Shape 6">
            <a:extLst>
              <a:ext uri="{FF2B5EF4-FFF2-40B4-BE49-F238E27FC236}">
                <a16:creationId xmlns:a16="http://schemas.microsoft.com/office/drawing/2014/main" id="{50C686EF-CE6D-F7E0-8E82-F34C9D4CC73E}"/>
              </a:ext>
            </a:extLst>
          </p:cNvPr>
          <p:cNvSpPr/>
          <p:nvPr/>
        </p:nvSpPr>
        <p:spPr>
          <a:xfrm>
            <a:off x="4114800" y="2880360"/>
            <a:ext cx="2880360" cy="914400"/>
          </a:xfrm>
          <a:prstGeom prst="rect">
            <a:avLst/>
          </a:prstGeom>
          <a:solidFill>
            <a:srgbClr val="03234B"/>
          </a:solidFill>
          <a:ln w="15875">
            <a:solidFill>
              <a:srgbClr val="03234B"/>
            </a:solidFill>
            <a:prstDash val="solid"/>
          </a:ln>
        </p:spPr>
        <p:txBody>
          <a:bodyPr/>
          <a:lstStyle/>
          <a:p>
            <a:endParaRPr lang="it-IT"/>
          </a:p>
        </p:txBody>
      </p:sp>
      <p:sp>
        <p:nvSpPr>
          <p:cNvPr id="18" name="Text 7">
            <a:extLst>
              <a:ext uri="{FF2B5EF4-FFF2-40B4-BE49-F238E27FC236}">
                <a16:creationId xmlns:a16="http://schemas.microsoft.com/office/drawing/2014/main" id="{EB64D667-4EE9-3F35-5B05-833716208437}"/>
              </a:ext>
            </a:extLst>
          </p:cNvPr>
          <p:cNvSpPr/>
          <p:nvPr/>
        </p:nvSpPr>
        <p:spPr>
          <a:xfrm>
            <a:off x="4114800" y="2880360"/>
            <a:ext cx="2880360" cy="914400"/>
          </a:xfrm>
          <a:prstGeom prst="rect">
            <a:avLst/>
          </a:prstGeom>
          <a:noFill/>
          <a:ln/>
        </p:spPr>
        <p:txBody>
          <a:bodyPr wrap="square" rtlCol="0" anchor="ctr"/>
          <a:lstStyle/>
          <a:p>
            <a:pPr marL="0" indent="0" algn="ctr">
              <a:lnSpc>
                <a:spcPct val="105000"/>
              </a:lnSpc>
              <a:buNone/>
            </a:pPr>
            <a:r>
              <a:rPr lang="en-US" b="1" dirty="0">
                <a:solidFill>
                  <a:srgbClr val="FFFFFF"/>
                </a:solidFill>
                <a:latin typeface="Calibri" pitchFamily="34" charset="0"/>
                <a:ea typeface="Calibri" pitchFamily="34" charset="-122"/>
                <a:cs typeface="Calibri" pitchFamily="34" charset="-120"/>
              </a:rPr>
              <a:t> DYNO2DW</a:t>
            </a:r>
            <a:endParaRPr lang="en-US" dirty="0"/>
          </a:p>
          <a:p>
            <a:pPr algn="ctr">
              <a:lnSpc>
                <a:spcPct val="105000"/>
              </a:lnSpc>
            </a:pPr>
            <a:r>
              <a:rPr lang="en-US" b="1" dirty="0">
                <a:solidFill>
                  <a:srgbClr val="FFFFFF"/>
                </a:solidFill>
                <a:latin typeface="Calibri" pitchFamily="34" charset="0"/>
                <a:ea typeface="Calibri" pitchFamily="34" charset="-122"/>
                <a:cs typeface="Calibri" pitchFamily="34" charset="-120"/>
              </a:rPr>
              <a:t>(translation)</a:t>
            </a:r>
            <a:endParaRPr lang="en-US" dirty="0"/>
          </a:p>
        </p:txBody>
      </p:sp>
      <p:sp>
        <p:nvSpPr>
          <p:cNvPr id="20" name="Shape 8">
            <a:extLst>
              <a:ext uri="{FF2B5EF4-FFF2-40B4-BE49-F238E27FC236}">
                <a16:creationId xmlns:a16="http://schemas.microsoft.com/office/drawing/2014/main" id="{8F77FE6C-CE78-ACF8-569B-7B475BF2E0A0}"/>
              </a:ext>
            </a:extLst>
          </p:cNvPr>
          <p:cNvSpPr/>
          <p:nvPr/>
        </p:nvSpPr>
        <p:spPr>
          <a:xfrm>
            <a:off x="7068312" y="3236976"/>
            <a:ext cx="539496" cy="201168"/>
          </a:xfrm>
          <a:prstGeom prst="rightArrow">
            <a:avLst/>
          </a:prstGeom>
          <a:solidFill>
            <a:srgbClr val="3CB4E6"/>
          </a:solidFill>
          <a:ln/>
        </p:spPr>
        <p:txBody>
          <a:bodyPr/>
          <a:lstStyle/>
          <a:p>
            <a:endParaRPr lang="it-IT"/>
          </a:p>
        </p:txBody>
      </p:sp>
      <p:sp>
        <p:nvSpPr>
          <p:cNvPr id="22" name="Shape 9">
            <a:extLst>
              <a:ext uri="{FF2B5EF4-FFF2-40B4-BE49-F238E27FC236}">
                <a16:creationId xmlns:a16="http://schemas.microsoft.com/office/drawing/2014/main" id="{9B4EE5D3-452B-5C74-78E6-CF86E6B973B4}"/>
              </a:ext>
            </a:extLst>
          </p:cNvPr>
          <p:cNvSpPr/>
          <p:nvPr/>
        </p:nvSpPr>
        <p:spPr>
          <a:xfrm>
            <a:off x="7680960" y="2880360"/>
            <a:ext cx="2880360" cy="914400"/>
          </a:xfrm>
          <a:prstGeom prst="rect">
            <a:avLst/>
          </a:prstGeom>
          <a:solidFill>
            <a:srgbClr val="F2F7FB"/>
          </a:solidFill>
          <a:ln w="15875">
            <a:solidFill>
              <a:srgbClr val="DCE7F0"/>
            </a:solidFill>
            <a:prstDash val="solid"/>
          </a:ln>
        </p:spPr>
        <p:txBody>
          <a:bodyPr/>
          <a:lstStyle/>
          <a:p>
            <a:endParaRPr lang="it-IT"/>
          </a:p>
        </p:txBody>
      </p:sp>
      <p:sp>
        <p:nvSpPr>
          <p:cNvPr id="24" name="Text 10">
            <a:extLst>
              <a:ext uri="{FF2B5EF4-FFF2-40B4-BE49-F238E27FC236}">
                <a16:creationId xmlns:a16="http://schemas.microsoft.com/office/drawing/2014/main" id="{7BCF2017-E908-BB29-0233-1A1F63EB7191}"/>
              </a:ext>
            </a:extLst>
          </p:cNvPr>
          <p:cNvSpPr/>
          <p:nvPr/>
        </p:nvSpPr>
        <p:spPr>
          <a:xfrm>
            <a:off x="7680960" y="2880360"/>
            <a:ext cx="2880360" cy="914400"/>
          </a:xfrm>
          <a:prstGeom prst="rect">
            <a:avLst/>
          </a:prstGeom>
          <a:noFill/>
          <a:ln/>
        </p:spPr>
        <p:txBody>
          <a:bodyPr wrap="square" rtlCol="0" anchor="ctr"/>
          <a:lstStyle/>
          <a:p>
            <a:pPr marL="0" indent="0" algn="ctr">
              <a:lnSpc>
                <a:spcPct val="105000"/>
              </a:lnSpc>
              <a:buNone/>
            </a:pPr>
            <a:r>
              <a:rPr lang="en-US" b="1" dirty="0">
                <a:solidFill>
                  <a:srgbClr val="03234B"/>
                </a:solidFill>
                <a:latin typeface="Calibri" pitchFamily="34" charset="0"/>
                <a:ea typeface="Calibri" pitchFamily="34" charset="-122"/>
                <a:cs typeface="Calibri" pitchFamily="34" charset="-120"/>
              </a:rPr>
              <a:t>Firmware Stellar-E</a:t>
            </a:r>
            <a:endParaRPr lang="en-US" dirty="0"/>
          </a:p>
          <a:p>
            <a:pPr marL="0" indent="0" algn="ctr">
              <a:lnSpc>
                <a:spcPct val="105000"/>
              </a:lnSpc>
              <a:buNone/>
            </a:pPr>
            <a:r>
              <a:rPr lang="en-US" b="1" dirty="0">
                <a:solidFill>
                  <a:srgbClr val="03234B"/>
                </a:solidFill>
                <a:latin typeface="Calibri" pitchFamily="34" charset="0"/>
                <a:ea typeface="Calibri" pitchFamily="34" charset="-122"/>
                <a:cs typeface="Calibri" pitchFamily="34" charset="-120"/>
              </a:rPr>
              <a:t>(ST MC Protocol)</a:t>
            </a:r>
            <a:endParaRPr lang="en-US" dirty="0"/>
          </a:p>
        </p:txBody>
      </p:sp>
      <p:sp>
        <p:nvSpPr>
          <p:cNvPr id="26" name="Shape 11">
            <a:extLst>
              <a:ext uri="{FF2B5EF4-FFF2-40B4-BE49-F238E27FC236}">
                <a16:creationId xmlns:a16="http://schemas.microsoft.com/office/drawing/2014/main" id="{3AC6C3EC-5439-BACE-6696-36033B2FD081}"/>
              </a:ext>
            </a:extLst>
          </p:cNvPr>
          <p:cNvSpPr/>
          <p:nvPr/>
        </p:nvSpPr>
        <p:spPr>
          <a:xfrm>
            <a:off x="548640" y="4251960"/>
            <a:ext cx="5120640" cy="1417320"/>
          </a:xfrm>
          <a:prstGeom prst="rect">
            <a:avLst/>
          </a:prstGeom>
          <a:solidFill>
            <a:srgbClr val="FFFFFF"/>
          </a:solidFill>
          <a:ln w="12700">
            <a:solidFill>
              <a:srgbClr val="DCE7F0"/>
            </a:solidFill>
            <a:prstDash val="solid"/>
          </a:ln>
        </p:spPr>
        <p:txBody>
          <a:bodyPr/>
          <a:lstStyle/>
          <a:p>
            <a:endParaRPr lang="it-IT"/>
          </a:p>
        </p:txBody>
      </p:sp>
      <p:sp>
        <p:nvSpPr>
          <p:cNvPr id="28" name="Shape 12">
            <a:extLst>
              <a:ext uri="{FF2B5EF4-FFF2-40B4-BE49-F238E27FC236}">
                <a16:creationId xmlns:a16="http://schemas.microsoft.com/office/drawing/2014/main" id="{5679D624-741A-2E8D-133D-07903B21755B}"/>
              </a:ext>
            </a:extLst>
          </p:cNvPr>
          <p:cNvSpPr/>
          <p:nvPr/>
        </p:nvSpPr>
        <p:spPr>
          <a:xfrm>
            <a:off x="822960" y="4453128"/>
            <a:ext cx="128016" cy="128016"/>
          </a:xfrm>
          <a:prstGeom prst="ellipse">
            <a:avLst/>
          </a:prstGeom>
          <a:solidFill>
            <a:srgbClr val="3CB4E6"/>
          </a:solidFill>
          <a:ln/>
        </p:spPr>
        <p:txBody>
          <a:bodyPr/>
          <a:lstStyle/>
          <a:p>
            <a:endParaRPr lang="it-IT"/>
          </a:p>
        </p:txBody>
      </p:sp>
      <p:sp>
        <p:nvSpPr>
          <p:cNvPr id="30" name="Text 13">
            <a:extLst>
              <a:ext uri="{FF2B5EF4-FFF2-40B4-BE49-F238E27FC236}">
                <a16:creationId xmlns:a16="http://schemas.microsoft.com/office/drawing/2014/main" id="{A2F437CF-35F3-1D67-47EF-1A592B63ACDA}"/>
              </a:ext>
            </a:extLst>
          </p:cNvPr>
          <p:cNvSpPr/>
          <p:nvPr/>
        </p:nvSpPr>
        <p:spPr>
          <a:xfrm>
            <a:off x="1097280" y="4379976"/>
            <a:ext cx="4297680" cy="365760"/>
          </a:xfrm>
          <a:prstGeom prst="rect">
            <a:avLst/>
          </a:prstGeom>
          <a:noFill/>
          <a:ln/>
        </p:spPr>
        <p:txBody>
          <a:bodyPr wrap="square" rtlCol="0" anchor="ctr"/>
          <a:lstStyle/>
          <a:p>
            <a:pPr marL="0" indent="0">
              <a:buNone/>
            </a:pPr>
            <a:r>
              <a:rPr lang="en-US" sz="2000" b="1" dirty="0">
                <a:solidFill>
                  <a:srgbClr val="03234B"/>
                </a:solidFill>
                <a:latin typeface="Calibri" pitchFamily="34" charset="0"/>
                <a:ea typeface="Calibri" pitchFamily="34" charset="-122"/>
                <a:cs typeface="Calibri" pitchFamily="34" charset="-120"/>
              </a:rPr>
              <a:t>+0x30 Offset</a:t>
            </a:r>
            <a:endParaRPr lang="en-US" sz="2000" dirty="0"/>
          </a:p>
        </p:txBody>
      </p:sp>
      <p:sp>
        <p:nvSpPr>
          <p:cNvPr id="32" name="Text 14">
            <a:extLst>
              <a:ext uri="{FF2B5EF4-FFF2-40B4-BE49-F238E27FC236}">
                <a16:creationId xmlns:a16="http://schemas.microsoft.com/office/drawing/2014/main" id="{4B8FB77D-2D0C-62E0-BD11-2320DE92F8D1}"/>
              </a:ext>
            </a:extLst>
          </p:cNvPr>
          <p:cNvSpPr/>
          <p:nvPr/>
        </p:nvSpPr>
        <p:spPr>
          <a:xfrm>
            <a:off x="868680" y="4818888"/>
            <a:ext cx="4572000" cy="731520"/>
          </a:xfrm>
          <a:prstGeom prst="rect">
            <a:avLst/>
          </a:prstGeom>
          <a:noFill/>
          <a:ln/>
        </p:spPr>
        <p:txBody>
          <a:bodyPr wrap="square" rtlCol="0" anchor="ctr"/>
          <a:lstStyle/>
          <a:p>
            <a:pPr>
              <a:lnSpc>
                <a:spcPct val="115000"/>
              </a:lnSpc>
            </a:pPr>
            <a:r>
              <a:rPr lang="en-US" sz="1600" dirty="0">
                <a:solidFill>
                  <a:srgbClr val="51606E"/>
                </a:solidFill>
                <a:latin typeface="Calibri" pitchFamily="34" charset="0"/>
                <a:ea typeface="Calibri" pitchFamily="34" charset="-122"/>
                <a:cs typeface="Calibri" pitchFamily="34" charset="-120"/>
              </a:rPr>
              <a:t>Input commands from the Dyno bench to the inverter.</a:t>
            </a:r>
            <a:endParaRPr lang="en-US" sz="1300" dirty="0"/>
          </a:p>
        </p:txBody>
      </p:sp>
      <p:sp>
        <p:nvSpPr>
          <p:cNvPr id="34" name="Shape 15">
            <a:extLst>
              <a:ext uri="{FF2B5EF4-FFF2-40B4-BE49-F238E27FC236}">
                <a16:creationId xmlns:a16="http://schemas.microsoft.com/office/drawing/2014/main" id="{619BDEC4-252D-552F-5EDB-3B9E6051ABDC}"/>
              </a:ext>
            </a:extLst>
          </p:cNvPr>
          <p:cNvSpPr/>
          <p:nvPr/>
        </p:nvSpPr>
        <p:spPr>
          <a:xfrm>
            <a:off x="6035040" y="4251960"/>
            <a:ext cx="5120640" cy="1417320"/>
          </a:xfrm>
          <a:prstGeom prst="rect">
            <a:avLst/>
          </a:prstGeom>
          <a:solidFill>
            <a:srgbClr val="FFFFFF"/>
          </a:solidFill>
          <a:ln w="12700">
            <a:solidFill>
              <a:srgbClr val="DCE7F0"/>
            </a:solidFill>
            <a:prstDash val="solid"/>
          </a:ln>
        </p:spPr>
        <p:txBody>
          <a:bodyPr/>
          <a:lstStyle/>
          <a:p>
            <a:endParaRPr lang="it-IT"/>
          </a:p>
        </p:txBody>
      </p:sp>
      <p:sp>
        <p:nvSpPr>
          <p:cNvPr id="36" name="Shape 16">
            <a:extLst>
              <a:ext uri="{FF2B5EF4-FFF2-40B4-BE49-F238E27FC236}">
                <a16:creationId xmlns:a16="http://schemas.microsoft.com/office/drawing/2014/main" id="{397AF598-F5CB-29CE-4588-7663492F3CFF}"/>
              </a:ext>
            </a:extLst>
          </p:cNvPr>
          <p:cNvSpPr/>
          <p:nvPr/>
        </p:nvSpPr>
        <p:spPr>
          <a:xfrm>
            <a:off x="6309360" y="4453128"/>
            <a:ext cx="128016" cy="128016"/>
          </a:xfrm>
          <a:prstGeom prst="ellipse">
            <a:avLst/>
          </a:prstGeom>
          <a:solidFill>
            <a:srgbClr val="3CB4E6"/>
          </a:solidFill>
          <a:ln/>
        </p:spPr>
        <p:txBody>
          <a:bodyPr/>
          <a:lstStyle/>
          <a:p>
            <a:endParaRPr lang="it-IT"/>
          </a:p>
        </p:txBody>
      </p:sp>
      <p:sp>
        <p:nvSpPr>
          <p:cNvPr id="38" name="Text 17">
            <a:extLst>
              <a:ext uri="{FF2B5EF4-FFF2-40B4-BE49-F238E27FC236}">
                <a16:creationId xmlns:a16="http://schemas.microsoft.com/office/drawing/2014/main" id="{9C625906-1DA4-6A57-40A9-E6125467298E}"/>
              </a:ext>
            </a:extLst>
          </p:cNvPr>
          <p:cNvSpPr/>
          <p:nvPr/>
        </p:nvSpPr>
        <p:spPr>
          <a:xfrm>
            <a:off x="6583680" y="4379976"/>
            <a:ext cx="4297680" cy="365760"/>
          </a:xfrm>
          <a:prstGeom prst="rect">
            <a:avLst/>
          </a:prstGeom>
          <a:noFill/>
          <a:ln/>
        </p:spPr>
        <p:txBody>
          <a:bodyPr wrap="square" rtlCol="0" anchor="ctr"/>
          <a:lstStyle/>
          <a:p>
            <a:pPr marL="0" indent="0">
              <a:buNone/>
            </a:pPr>
            <a:r>
              <a:rPr lang="en-US" sz="2000" b="1" dirty="0">
                <a:solidFill>
                  <a:srgbClr val="03234B"/>
                </a:solidFill>
                <a:latin typeface="Calibri" pitchFamily="34" charset="0"/>
                <a:ea typeface="Calibri" pitchFamily="34" charset="-122"/>
                <a:cs typeface="Calibri" pitchFamily="34" charset="-120"/>
              </a:rPr>
              <a:t>+0x40 Offset</a:t>
            </a:r>
            <a:endParaRPr lang="en-US" sz="2000" dirty="0"/>
          </a:p>
        </p:txBody>
      </p:sp>
      <p:sp>
        <p:nvSpPr>
          <p:cNvPr id="40" name="Text 18">
            <a:extLst>
              <a:ext uri="{FF2B5EF4-FFF2-40B4-BE49-F238E27FC236}">
                <a16:creationId xmlns:a16="http://schemas.microsoft.com/office/drawing/2014/main" id="{3B44A8E3-79C9-26EE-22CA-9AB97C2A7FDE}"/>
              </a:ext>
            </a:extLst>
          </p:cNvPr>
          <p:cNvSpPr/>
          <p:nvPr/>
        </p:nvSpPr>
        <p:spPr>
          <a:xfrm>
            <a:off x="6355080" y="4818888"/>
            <a:ext cx="4572000" cy="731520"/>
          </a:xfrm>
          <a:prstGeom prst="rect">
            <a:avLst/>
          </a:prstGeom>
          <a:noFill/>
          <a:ln/>
        </p:spPr>
        <p:txBody>
          <a:bodyPr wrap="square" rtlCol="0" anchor="ctr"/>
          <a:lstStyle/>
          <a:p>
            <a:pPr>
              <a:lnSpc>
                <a:spcPct val="115000"/>
              </a:lnSpc>
            </a:pPr>
            <a:r>
              <a:rPr lang="en-US" sz="1600" dirty="0">
                <a:solidFill>
                  <a:srgbClr val="51606E"/>
                </a:solidFill>
                <a:latin typeface="Calibri" pitchFamily="34" charset="0"/>
                <a:ea typeface="Calibri" pitchFamily="34" charset="-122"/>
                <a:cs typeface="Calibri" pitchFamily="34" charset="-120"/>
              </a:rPr>
              <a:t>Outgoing Diagnostics to the Dyno bench</a:t>
            </a:r>
            <a:r>
              <a:rPr lang="en-US" sz="1300" dirty="0">
                <a:solidFill>
                  <a:srgbClr val="51606E"/>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188427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B18E7-E7E1-F711-2060-53E209DCF063}"/>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36BA94FB-EB20-2A40-08D8-4E28BDC3FDE3}"/>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Periodic diagnostics— </a:t>
            </a:r>
            <a:r>
              <a:rPr lang="en-US" b="1" dirty="0" err="1">
                <a:solidFill>
                  <a:srgbClr val="03234B"/>
                </a:solidFill>
                <a:latin typeface="Calibri" pitchFamily="34" charset="0"/>
                <a:ea typeface="Calibri" pitchFamily="34" charset="-122"/>
                <a:cs typeface="Calibri" pitchFamily="34" charset="-120"/>
              </a:rPr>
              <a:t>Send_Status</a:t>
            </a:r>
            <a:endParaRPr lang="it-IT" dirty="0"/>
          </a:p>
        </p:txBody>
      </p:sp>
      <p:sp>
        <p:nvSpPr>
          <p:cNvPr id="6" name="Text 2">
            <a:extLst>
              <a:ext uri="{FF2B5EF4-FFF2-40B4-BE49-F238E27FC236}">
                <a16:creationId xmlns:a16="http://schemas.microsoft.com/office/drawing/2014/main" id="{EEAD57E4-3835-3B02-8E5A-29222A0DEA52}"/>
              </a:ext>
            </a:extLst>
          </p:cNvPr>
          <p:cNvSpPr/>
          <p:nvPr/>
        </p:nvSpPr>
        <p:spPr>
          <a:xfrm>
            <a:off x="548640" y="1554480"/>
            <a:ext cx="4480560" cy="1371600"/>
          </a:xfrm>
          <a:prstGeom prst="rect">
            <a:avLst/>
          </a:prstGeom>
          <a:noFill/>
          <a:ln/>
        </p:spPr>
        <p:txBody>
          <a:bodyPr wrap="square" lIns="0" tIns="0" rIns="0" bIns="0" rtlCol="0" anchor="t"/>
          <a:lstStyle/>
          <a:p>
            <a:pPr>
              <a:lnSpc>
                <a:spcPct val="125000"/>
              </a:lnSpc>
            </a:pPr>
            <a:r>
              <a:rPr lang="en-US" sz="1600" dirty="0">
                <a:solidFill>
                  <a:srgbClr val="1B1F27"/>
                </a:solidFill>
                <a:latin typeface="Calibri" pitchFamily="34" charset="0"/>
                <a:ea typeface="Calibri" pitchFamily="34" charset="-122"/>
                <a:cs typeface="Calibri" pitchFamily="34" charset="-120"/>
              </a:rPr>
              <a:t>To allow the Dyno bench to monitor the status of the inverter in real time, the library integrates a periodic diagnostic function that sends a stack of messages every 100 </a:t>
            </a:r>
            <a:r>
              <a:rPr lang="en-US" sz="1600" dirty="0" err="1">
                <a:solidFill>
                  <a:srgbClr val="1B1F27"/>
                </a:solidFill>
                <a:latin typeface="Calibri" pitchFamily="34" charset="0"/>
                <a:ea typeface="Calibri" pitchFamily="34" charset="-122"/>
                <a:cs typeface="Calibri" pitchFamily="34" charset="-120"/>
              </a:rPr>
              <a:t>ms.</a:t>
            </a:r>
            <a:endParaRPr lang="en-US" sz="1600" dirty="0"/>
          </a:p>
        </p:txBody>
      </p:sp>
      <p:sp>
        <p:nvSpPr>
          <p:cNvPr id="8" name="Shape 3">
            <a:extLst>
              <a:ext uri="{FF2B5EF4-FFF2-40B4-BE49-F238E27FC236}">
                <a16:creationId xmlns:a16="http://schemas.microsoft.com/office/drawing/2014/main" id="{D7F383B4-5F3D-7AD7-D1B0-CCF3083DC3D3}"/>
              </a:ext>
            </a:extLst>
          </p:cNvPr>
          <p:cNvSpPr/>
          <p:nvPr/>
        </p:nvSpPr>
        <p:spPr>
          <a:xfrm>
            <a:off x="548640" y="3063240"/>
            <a:ext cx="4480560" cy="1600200"/>
          </a:xfrm>
          <a:prstGeom prst="roundRect">
            <a:avLst>
              <a:gd name="adj" fmla="val 6857"/>
            </a:avLst>
          </a:prstGeom>
          <a:solidFill>
            <a:srgbClr val="FFFFFF"/>
          </a:solidFill>
          <a:ln w="12700">
            <a:solidFill>
              <a:srgbClr val="E3E9F0"/>
            </a:solidFill>
            <a:prstDash val="solid"/>
          </a:ln>
          <a:effectLst>
            <a:outerShdw blurRad="76200" dist="25400" dir="5400000" algn="bl" rotWithShape="0">
              <a:srgbClr val="1B1F27">
                <a:alpha val="12000"/>
              </a:srgbClr>
            </a:outerShdw>
          </a:effectLst>
        </p:spPr>
        <p:txBody>
          <a:bodyPr/>
          <a:lstStyle/>
          <a:p>
            <a:endParaRPr lang="it-IT" dirty="0"/>
          </a:p>
        </p:txBody>
      </p:sp>
      <p:sp>
        <p:nvSpPr>
          <p:cNvPr id="10" name="Text 4">
            <a:extLst>
              <a:ext uri="{FF2B5EF4-FFF2-40B4-BE49-F238E27FC236}">
                <a16:creationId xmlns:a16="http://schemas.microsoft.com/office/drawing/2014/main" id="{680AC023-89FD-A18B-E797-699AD34EFA35}"/>
              </a:ext>
            </a:extLst>
          </p:cNvPr>
          <p:cNvSpPr/>
          <p:nvPr/>
        </p:nvSpPr>
        <p:spPr>
          <a:xfrm>
            <a:off x="1394461" y="3314700"/>
            <a:ext cx="1828800" cy="914400"/>
          </a:xfrm>
          <a:prstGeom prst="rect">
            <a:avLst/>
          </a:prstGeom>
          <a:noFill/>
          <a:ln/>
        </p:spPr>
        <p:txBody>
          <a:bodyPr wrap="square" lIns="0" tIns="0" rIns="0" bIns="0" rtlCol="0" anchor="ctr"/>
          <a:lstStyle/>
          <a:p>
            <a:pPr marL="0" indent="0">
              <a:buNone/>
            </a:pPr>
            <a:r>
              <a:rPr lang="en-US" sz="3600" b="1" dirty="0">
                <a:solidFill>
                  <a:srgbClr val="0B2545"/>
                </a:solidFill>
                <a:latin typeface="Cambria" pitchFamily="34" charset="0"/>
                <a:ea typeface="Cambria" pitchFamily="34" charset="-122"/>
              </a:rPr>
              <a:t>10</a:t>
            </a:r>
            <a:endParaRPr lang="en-US" sz="3600" dirty="0"/>
          </a:p>
        </p:txBody>
      </p:sp>
      <p:sp>
        <p:nvSpPr>
          <p:cNvPr id="12" name="Text 5">
            <a:extLst>
              <a:ext uri="{FF2B5EF4-FFF2-40B4-BE49-F238E27FC236}">
                <a16:creationId xmlns:a16="http://schemas.microsoft.com/office/drawing/2014/main" id="{5EF7F5C0-F6F8-F940-F202-864DC668474F}"/>
              </a:ext>
            </a:extLst>
          </p:cNvPr>
          <p:cNvSpPr/>
          <p:nvPr/>
        </p:nvSpPr>
        <p:spPr>
          <a:xfrm>
            <a:off x="868681" y="4071731"/>
            <a:ext cx="2194560" cy="274320"/>
          </a:xfrm>
          <a:prstGeom prst="rect">
            <a:avLst/>
          </a:prstGeom>
          <a:noFill/>
          <a:ln/>
        </p:spPr>
        <p:txBody>
          <a:bodyPr wrap="square" lIns="0" tIns="0" rIns="0" bIns="0" rtlCol="0" anchor="ctr"/>
          <a:lstStyle/>
          <a:p>
            <a:r>
              <a:rPr lang="en-US" sz="1500" dirty="0">
                <a:solidFill>
                  <a:srgbClr val="5B6B7F"/>
                </a:solidFill>
                <a:latin typeface="Calibri" pitchFamily="34" charset="0"/>
                <a:ea typeface="Calibri" pitchFamily="34" charset="-122"/>
                <a:cs typeface="Calibri" pitchFamily="34" charset="-120"/>
              </a:rPr>
              <a:t>Diagnostic Registers</a:t>
            </a:r>
            <a:endParaRPr lang="en-US" sz="1500" dirty="0"/>
          </a:p>
        </p:txBody>
      </p:sp>
      <p:sp>
        <p:nvSpPr>
          <p:cNvPr id="14" name="Shape 6">
            <a:extLst>
              <a:ext uri="{FF2B5EF4-FFF2-40B4-BE49-F238E27FC236}">
                <a16:creationId xmlns:a16="http://schemas.microsoft.com/office/drawing/2014/main" id="{CC36CAD9-8140-5708-7E9C-BC99F4634E09}"/>
              </a:ext>
            </a:extLst>
          </p:cNvPr>
          <p:cNvSpPr/>
          <p:nvPr/>
        </p:nvSpPr>
        <p:spPr>
          <a:xfrm>
            <a:off x="2697480" y="3291840"/>
            <a:ext cx="0" cy="1234440"/>
          </a:xfrm>
          <a:prstGeom prst="line">
            <a:avLst/>
          </a:prstGeom>
          <a:noFill/>
          <a:ln w="12700">
            <a:solidFill>
              <a:srgbClr val="E3E9F0"/>
            </a:solidFill>
            <a:prstDash val="solid"/>
          </a:ln>
        </p:spPr>
        <p:txBody>
          <a:bodyPr/>
          <a:lstStyle/>
          <a:p>
            <a:endParaRPr lang="it-IT"/>
          </a:p>
        </p:txBody>
      </p:sp>
      <p:sp>
        <p:nvSpPr>
          <p:cNvPr id="16" name="Text 7">
            <a:extLst>
              <a:ext uri="{FF2B5EF4-FFF2-40B4-BE49-F238E27FC236}">
                <a16:creationId xmlns:a16="http://schemas.microsoft.com/office/drawing/2014/main" id="{5410A487-2BDD-184F-FDAE-5439E4E496DC}"/>
              </a:ext>
            </a:extLst>
          </p:cNvPr>
          <p:cNvSpPr/>
          <p:nvPr/>
        </p:nvSpPr>
        <p:spPr>
          <a:xfrm>
            <a:off x="3011286" y="3442716"/>
            <a:ext cx="1828800" cy="594360"/>
          </a:xfrm>
          <a:prstGeom prst="rect">
            <a:avLst/>
          </a:prstGeom>
          <a:noFill/>
          <a:ln/>
        </p:spPr>
        <p:txBody>
          <a:bodyPr wrap="square" lIns="0" tIns="0" rIns="0" bIns="0" rtlCol="0" anchor="ctr"/>
          <a:lstStyle/>
          <a:p>
            <a:pPr marL="0" indent="0">
              <a:buNone/>
            </a:pPr>
            <a:r>
              <a:rPr lang="en-US" sz="3400" b="1" dirty="0">
                <a:solidFill>
                  <a:srgbClr val="00B4D8"/>
                </a:solidFill>
                <a:latin typeface="Cambria" pitchFamily="34" charset="0"/>
                <a:ea typeface="Cambria" pitchFamily="34" charset="-122"/>
                <a:cs typeface="Cambria" pitchFamily="34" charset="-120"/>
              </a:rPr>
              <a:t>100 ms</a:t>
            </a:r>
            <a:endParaRPr lang="en-US" sz="3400" dirty="0"/>
          </a:p>
        </p:txBody>
      </p:sp>
      <p:sp>
        <p:nvSpPr>
          <p:cNvPr id="18" name="Text 8">
            <a:extLst>
              <a:ext uri="{FF2B5EF4-FFF2-40B4-BE49-F238E27FC236}">
                <a16:creationId xmlns:a16="http://schemas.microsoft.com/office/drawing/2014/main" id="{AA4D4801-2AAA-B7E8-5300-746781F5900B}"/>
              </a:ext>
            </a:extLst>
          </p:cNvPr>
          <p:cNvSpPr/>
          <p:nvPr/>
        </p:nvSpPr>
        <p:spPr>
          <a:xfrm>
            <a:off x="3063240" y="4045298"/>
            <a:ext cx="2011680" cy="274320"/>
          </a:xfrm>
          <a:prstGeom prst="rect">
            <a:avLst/>
          </a:prstGeom>
          <a:noFill/>
          <a:ln/>
        </p:spPr>
        <p:txBody>
          <a:bodyPr wrap="square" lIns="0" tIns="0" rIns="0" bIns="0" rtlCol="0" anchor="ctr"/>
          <a:lstStyle/>
          <a:p>
            <a:r>
              <a:rPr lang="en-US" sz="1500" dirty="0">
                <a:solidFill>
                  <a:srgbClr val="5B6B7F"/>
                </a:solidFill>
                <a:latin typeface="Calibri" pitchFamily="34" charset="0"/>
                <a:ea typeface="Calibri" pitchFamily="34" charset="-122"/>
                <a:cs typeface="Calibri" pitchFamily="34" charset="-120"/>
              </a:rPr>
              <a:t>Sending interval</a:t>
            </a:r>
            <a:endParaRPr lang="en-US" sz="1500" dirty="0"/>
          </a:p>
        </p:txBody>
      </p:sp>
      <p:sp>
        <p:nvSpPr>
          <p:cNvPr id="20" name="Shape 9">
            <a:extLst>
              <a:ext uri="{FF2B5EF4-FFF2-40B4-BE49-F238E27FC236}">
                <a16:creationId xmlns:a16="http://schemas.microsoft.com/office/drawing/2014/main" id="{73550A54-6F45-5013-1549-16906050DF6E}"/>
              </a:ext>
            </a:extLst>
          </p:cNvPr>
          <p:cNvSpPr/>
          <p:nvPr/>
        </p:nvSpPr>
        <p:spPr>
          <a:xfrm>
            <a:off x="548640" y="4910328"/>
            <a:ext cx="146304" cy="146304"/>
          </a:xfrm>
          <a:prstGeom prst="ellipse">
            <a:avLst/>
          </a:prstGeom>
          <a:solidFill>
            <a:srgbClr val="00B4D8"/>
          </a:solidFill>
          <a:ln/>
        </p:spPr>
        <p:txBody>
          <a:bodyPr/>
          <a:lstStyle/>
          <a:p>
            <a:endParaRPr lang="it-IT"/>
          </a:p>
        </p:txBody>
      </p:sp>
      <p:sp>
        <p:nvSpPr>
          <p:cNvPr id="22" name="Text 10">
            <a:extLst>
              <a:ext uri="{FF2B5EF4-FFF2-40B4-BE49-F238E27FC236}">
                <a16:creationId xmlns:a16="http://schemas.microsoft.com/office/drawing/2014/main" id="{642421BC-BA74-C9D8-3E02-5A80E5624A3C}"/>
              </a:ext>
            </a:extLst>
          </p:cNvPr>
          <p:cNvSpPr/>
          <p:nvPr/>
        </p:nvSpPr>
        <p:spPr>
          <a:xfrm>
            <a:off x="841248" y="4881118"/>
            <a:ext cx="4187952" cy="320040"/>
          </a:xfrm>
          <a:prstGeom prst="rect">
            <a:avLst/>
          </a:prstGeom>
          <a:noFill/>
          <a:ln/>
        </p:spPr>
        <p:txBody>
          <a:bodyPr wrap="square" lIns="0" tIns="0" rIns="0" bIns="0" rtlCol="0" anchor="ctr"/>
          <a:lstStyle/>
          <a:p>
            <a:r>
              <a:rPr lang="en-US" sz="1600" dirty="0">
                <a:solidFill>
                  <a:srgbClr val="1B1F27"/>
                </a:solidFill>
                <a:latin typeface="Calibri" pitchFamily="34" charset="0"/>
                <a:ea typeface="Calibri" pitchFamily="34" charset="-122"/>
                <a:cs typeface="Calibri" pitchFamily="34" charset="-120"/>
              </a:rPr>
              <a:t>It iterates over the 10 registers and reads their current value</a:t>
            </a:r>
            <a:endParaRPr lang="en-US" sz="1600" dirty="0"/>
          </a:p>
        </p:txBody>
      </p:sp>
      <p:sp>
        <p:nvSpPr>
          <p:cNvPr id="24" name="Shape 11">
            <a:extLst>
              <a:ext uri="{FF2B5EF4-FFF2-40B4-BE49-F238E27FC236}">
                <a16:creationId xmlns:a16="http://schemas.microsoft.com/office/drawing/2014/main" id="{0916C936-E84F-A56F-FAC2-A2E37B94A723}"/>
              </a:ext>
            </a:extLst>
          </p:cNvPr>
          <p:cNvSpPr/>
          <p:nvPr/>
        </p:nvSpPr>
        <p:spPr>
          <a:xfrm>
            <a:off x="548640" y="5346954"/>
            <a:ext cx="146304" cy="146304"/>
          </a:xfrm>
          <a:prstGeom prst="ellipse">
            <a:avLst/>
          </a:prstGeom>
          <a:solidFill>
            <a:srgbClr val="00B4D8"/>
          </a:solidFill>
          <a:ln/>
        </p:spPr>
        <p:txBody>
          <a:bodyPr/>
          <a:lstStyle/>
          <a:p>
            <a:endParaRPr lang="it-IT"/>
          </a:p>
        </p:txBody>
      </p:sp>
      <p:sp>
        <p:nvSpPr>
          <p:cNvPr id="26" name="Text 12">
            <a:extLst>
              <a:ext uri="{FF2B5EF4-FFF2-40B4-BE49-F238E27FC236}">
                <a16:creationId xmlns:a16="http://schemas.microsoft.com/office/drawing/2014/main" id="{9CB37E72-9485-4B0C-432F-252C4D04DE5E}"/>
              </a:ext>
            </a:extLst>
          </p:cNvPr>
          <p:cNvSpPr/>
          <p:nvPr/>
        </p:nvSpPr>
        <p:spPr>
          <a:xfrm>
            <a:off x="807720" y="5265801"/>
            <a:ext cx="4187952" cy="320040"/>
          </a:xfrm>
          <a:prstGeom prst="rect">
            <a:avLst/>
          </a:prstGeom>
          <a:noFill/>
          <a:ln/>
        </p:spPr>
        <p:txBody>
          <a:bodyPr wrap="square" lIns="0" tIns="0" rIns="0" bIns="0" rtlCol="0" anchor="ctr"/>
          <a:lstStyle/>
          <a:p>
            <a:r>
              <a:rPr lang="en-US" sz="1600" dirty="0">
                <a:solidFill>
                  <a:srgbClr val="1B1F27"/>
                </a:solidFill>
                <a:latin typeface="Calibri" pitchFamily="34" charset="0"/>
                <a:ea typeface="Calibri" pitchFamily="34" charset="-122"/>
                <a:cs typeface="Calibri" pitchFamily="34" charset="-120"/>
              </a:rPr>
              <a:t>Packages the data in the CAN frame buffer</a:t>
            </a:r>
            <a:endParaRPr lang="en-US" sz="1600" dirty="0"/>
          </a:p>
        </p:txBody>
      </p:sp>
      <p:sp>
        <p:nvSpPr>
          <p:cNvPr id="28" name="Shape 13">
            <a:extLst>
              <a:ext uri="{FF2B5EF4-FFF2-40B4-BE49-F238E27FC236}">
                <a16:creationId xmlns:a16="http://schemas.microsoft.com/office/drawing/2014/main" id="{F342DB05-CF70-950F-77BB-5B80E0FCDC70}"/>
              </a:ext>
            </a:extLst>
          </p:cNvPr>
          <p:cNvSpPr/>
          <p:nvPr/>
        </p:nvSpPr>
        <p:spPr>
          <a:xfrm>
            <a:off x="533400" y="5783580"/>
            <a:ext cx="146304" cy="146304"/>
          </a:xfrm>
          <a:prstGeom prst="ellipse">
            <a:avLst/>
          </a:prstGeom>
          <a:solidFill>
            <a:srgbClr val="00B4D8"/>
          </a:solidFill>
          <a:ln/>
        </p:spPr>
        <p:txBody>
          <a:bodyPr/>
          <a:lstStyle/>
          <a:p>
            <a:endParaRPr lang="it-IT"/>
          </a:p>
        </p:txBody>
      </p:sp>
      <p:sp>
        <p:nvSpPr>
          <p:cNvPr id="30" name="Text 14">
            <a:extLst>
              <a:ext uri="{FF2B5EF4-FFF2-40B4-BE49-F238E27FC236}">
                <a16:creationId xmlns:a16="http://schemas.microsoft.com/office/drawing/2014/main" id="{EA0E3FFD-317F-5153-D2E8-4F8D7A89C5EE}"/>
              </a:ext>
            </a:extLst>
          </p:cNvPr>
          <p:cNvSpPr/>
          <p:nvPr/>
        </p:nvSpPr>
        <p:spPr>
          <a:xfrm>
            <a:off x="807720" y="5683250"/>
            <a:ext cx="4187952" cy="320040"/>
          </a:xfrm>
          <a:prstGeom prst="rect">
            <a:avLst/>
          </a:prstGeom>
          <a:noFill/>
          <a:ln/>
        </p:spPr>
        <p:txBody>
          <a:bodyPr wrap="square" lIns="0" tIns="0" rIns="0" bIns="0" rtlCol="0" anchor="ctr"/>
          <a:lstStyle/>
          <a:p>
            <a:r>
              <a:rPr lang="en-US" sz="1600" dirty="0">
                <a:solidFill>
                  <a:srgbClr val="1B1F27"/>
                </a:solidFill>
                <a:latin typeface="Calibri" pitchFamily="34" charset="0"/>
                <a:ea typeface="Calibri" pitchFamily="34" charset="-122"/>
                <a:cs typeface="Calibri" pitchFamily="34" charset="-120"/>
              </a:rPr>
              <a:t>Triggers transmission via dedicated IRQ handler</a:t>
            </a:r>
            <a:endParaRPr lang="en-US" sz="1600" dirty="0"/>
          </a:p>
        </p:txBody>
      </p:sp>
      <p:sp>
        <p:nvSpPr>
          <p:cNvPr id="32" name="Shape 15">
            <a:extLst>
              <a:ext uri="{FF2B5EF4-FFF2-40B4-BE49-F238E27FC236}">
                <a16:creationId xmlns:a16="http://schemas.microsoft.com/office/drawing/2014/main" id="{9264885B-48F8-4D36-4292-70F25006FD6B}"/>
              </a:ext>
            </a:extLst>
          </p:cNvPr>
          <p:cNvSpPr/>
          <p:nvPr/>
        </p:nvSpPr>
        <p:spPr>
          <a:xfrm>
            <a:off x="5349240" y="1508760"/>
            <a:ext cx="6309360" cy="4663440"/>
          </a:xfrm>
          <a:prstGeom prst="roundRect">
            <a:avLst>
              <a:gd name="adj" fmla="val 2353"/>
            </a:avLst>
          </a:prstGeom>
          <a:solidFill>
            <a:srgbClr val="071A33"/>
          </a:solidFill>
          <a:ln/>
          <a:effectLst>
            <a:outerShdw blurRad="127000" dist="38100" dir="5400000" algn="bl" rotWithShape="0">
              <a:srgbClr val="000000">
                <a:alpha val="25000"/>
              </a:srgbClr>
            </a:outerShdw>
          </a:effectLst>
        </p:spPr>
        <p:txBody>
          <a:bodyPr/>
          <a:lstStyle/>
          <a:p>
            <a:endParaRPr lang="it-IT" dirty="0"/>
          </a:p>
        </p:txBody>
      </p:sp>
      <p:sp>
        <p:nvSpPr>
          <p:cNvPr id="34" name="Text 20">
            <a:extLst>
              <a:ext uri="{FF2B5EF4-FFF2-40B4-BE49-F238E27FC236}">
                <a16:creationId xmlns:a16="http://schemas.microsoft.com/office/drawing/2014/main" id="{FECF0ED1-3ED1-5B48-BB85-A04F25433419}"/>
              </a:ext>
            </a:extLst>
          </p:cNvPr>
          <p:cNvSpPr/>
          <p:nvPr/>
        </p:nvSpPr>
        <p:spPr>
          <a:xfrm>
            <a:off x="5623560" y="1773936"/>
            <a:ext cx="5760720" cy="178308"/>
          </a:xfrm>
          <a:prstGeom prst="rect">
            <a:avLst/>
          </a:prstGeom>
          <a:noFill/>
          <a:ln/>
        </p:spPr>
        <p:txBody>
          <a:bodyPr wrap="square" lIns="0" tIns="0" rIns="0" bIns="0" rtlCol="0" anchor="ctr"/>
          <a:lstStyle/>
          <a:p>
            <a:pPr marL="0" indent="0">
              <a:buNone/>
            </a:pPr>
            <a:r>
              <a:rPr lang="en-US" sz="1050" dirty="0">
                <a:solidFill>
                  <a:srgbClr val="8DA9C4"/>
                </a:solidFill>
                <a:latin typeface="Consolas" pitchFamily="34" charset="0"/>
                <a:ea typeface="Consolas" pitchFamily="34" charset="-122"/>
                <a:cs typeface="Consolas" pitchFamily="34" charset="-120"/>
              </a:rPr>
              <a:t>#define CAN_NUM_MSG 10</a:t>
            </a:r>
            <a:endParaRPr lang="en-US" sz="1050" dirty="0"/>
          </a:p>
        </p:txBody>
      </p:sp>
      <p:sp>
        <p:nvSpPr>
          <p:cNvPr id="36" name="Text 21">
            <a:extLst>
              <a:ext uri="{FF2B5EF4-FFF2-40B4-BE49-F238E27FC236}">
                <a16:creationId xmlns:a16="http://schemas.microsoft.com/office/drawing/2014/main" id="{96C6F0DF-7748-64B6-FED8-E7D2999BFDFA}"/>
              </a:ext>
            </a:extLst>
          </p:cNvPr>
          <p:cNvSpPr/>
          <p:nvPr/>
        </p:nvSpPr>
        <p:spPr>
          <a:xfrm>
            <a:off x="5623560" y="1952244"/>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uint8_t msg_tx_diag_can[CAN_NUM_MSG] = {</a:t>
            </a:r>
            <a:endParaRPr lang="en-US" sz="1050" dirty="0"/>
          </a:p>
        </p:txBody>
      </p:sp>
      <p:sp>
        <p:nvSpPr>
          <p:cNvPr id="38" name="Text 22">
            <a:extLst>
              <a:ext uri="{FF2B5EF4-FFF2-40B4-BE49-F238E27FC236}">
                <a16:creationId xmlns:a16="http://schemas.microsoft.com/office/drawing/2014/main" id="{F058F557-FE68-C3CC-DA41-29B566CF8925}"/>
              </a:ext>
            </a:extLst>
          </p:cNvPr>
          <p:cNvSpPr/>
          <p:nvPr/>
        </p:nvSpPr>
        <p:spPr>
          <a:xfrm>
            <a:off x="5623560" y="2130552"/>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MC_PROTOCOL_REG_UNDEFINED,   // counter, update 100ms</a:t>
            </a:r>
            <a:endParaRPr lang="en-US" sz="1050" dirty="0"/>
          </a:p>
        </p:txBody>
      </p:sp>
      <p:sp>
        <p:nvSpPr>
          <p:cNvPr id="40" name="Text 23">
            <a:extLst>
              <a:ext uri="{FF2B5EF4-FFF2-40B4-BE49-F238E27FC236}">
                <a16:creationId xmlns:a16="http://schemas.microsoft.com/office/drawing/2014/main" id="{0081FA43-8A63-1C7B-2890-870BBC6560B7}"/>
              </a:ext>
            </a:extLst>
          </p:cNvPr>
          <p:cNvSpPr/>
          <p:nvPr/>
        </p:nvSpPr>
        <p:spPr>
          <a:xfrm>
            <a:off x="5623560" y="2308860"/>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MC_PROTOCOL_REG_SPEED_REF,</a:t>
            </a:r>
            <a:endParaRPr lang="en-US" sz="1050" dirty="0"/>
          </a:p>
        </p:txBody>
      </p:sp>
      <p:sp>
        <p:nvSpPr>
          <p:cNvPr id="42" name="Text 24">
            <a:extLst>
              <a:ext uri="{FF2B5EF4-FFF2-40B4-BE49-F238E27FC236}">
                <a16:creationId xmlns:a16="http://schemas.microsoft.com/office/drawing/2014/main" id="{1CA38AA5-0198-32A4-AF12-9AEF3852A115}"/>
              </a:ext>
            </a:extLst>
          </p:cNvPr>
          <p:cNvSpPr/>
          <p:nvPr/>
        </p:nvSpPr>
        <p:spPr>
          <a:xfrm>
            <a:off x="5623560" y="2487168"/>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MC_PROTOCOL_REG_TORQUE_REF,</a:t>
            </a:r>
            <a:endParaRPr lang="en-US" sz="1050" dirty="0"/>
          </a:p>
        </p:txBody>
      </p:sp>
      <p:sp>
        <p:nvSpPr>
          <p:cNvPr id="44" name="Text 25">
            <a:extLst>
              <a:ext uri="{FF2B5EF4-FFF2-40B4-BE49-F238E27FC236}">
                <a16:creationId xmlns:a16="http://schemas.microsoft.com/office/drawing/2014/main" id="{E493FFCD-0597-7E8A-C423-93063CE1768B}"/>
              </a:ext>
            </a:extLst>
          </p:cNvPr>
          <p:cNvSpPr/>
          <p:nvPr/>
        </p:nvSpPr>
        <p:spPr>
          <a:xfrm>
            <a:off x="5623560" y="2665476"/>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MC_PROTOCOL_REG_FLUX_REF,</a:t>
            </a:r>
            <a:endParaRPr lang="en-US" sz="1050" dirty="0"/>
          </a:p>
        </p:txBody>
      </p:sp>
      <p:sp>
        <p:nvSpPr>
          <p:cNvPr id="46" name="Text 26">
            <a:extLst>
              <a:ext uri="{FF2B5EF4-FFF2-40B4-BE49-F238E27FC236}">
                <a16:creationId xmlns:a16="http://schemas.microsoft.com/office/drawing/2014/main" id="{5241668D-279A-F8E2-A9C3-A5A6C3BB2FE7}"/>
              </a:ext>
            </a:extLst>
          </p:cNvPr>
          <p:cNvSpPr/>
          <p:nvPr/>
        </p:nvSpPr>
        <p:spPr>
          <a:xfrm>
            <a:off x="5623560" y="2843784"/>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MC_PROTOCOL_REG_BUS_VOLTAGE,</a:t>
            </a:r>
            <a:endParaRPr lang="en-US" sz="1050" dirty="0"/>
          </a:p>
        </p:txBody>
      </p:sp>
      <p:sp>
        <p:nvSpPr>
          <p:cNvPr id="48" name="Text 27">
            <a:extLst>
              <a:ext uri="{FF2B5EF4-FFF2-40B4-BE49-F238E27FC236}">
                <a16:creationId xmlns:a16="http://schemas.microsoft.com/office/drawing/2014/main" id="{2DC37BC1-A250-E867-989F-612A5119EE12}"/>
              </a:ext>
            </a:extLst>
          </p:cNvPr>
          <p:cNvSpPr/>
          <p:nvPr/>
        </p:nvSpPr>
        <p:spPr>
          <a:xfrm>
            <a:off x="5623560" y="3022092"/>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MC_PROTOCOL_REG_HEATS_TEMP,</a:t>
            </a:r>
            <a:endParaRPr lang="en-US" sz="1050" dirty="0"/>
          </a:p>
        </p:txBody>
      </p:sp>
      <p:sp>
        <p:nvSpPr>
          <p:cNvPr id="50" name="Text 28">
            <a:extLst>
              <a:ext uri="{FF2B5EF4-FFF2-40B4-BE49-F238E27FC236}">
                <a16:creationId xmlns:a16="http://schemas.microsoft.com/office/drawing/2014/main" id="{A42CD53F-615F-9F46-4F22-B0F54BAD0EF4}"/>
              </a:ext>
            </a:extLst>
          </p:cNvPr>
          <p:cNvSpPr/>
          <p:nvPr/>
        </p:nvSpPr>
        <p:spPr>
          <a:xfrm>
            <a:off x="5623560" y="3200400"/>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MC_PROTOCOL_REG_SPEED_MEAS,</a:t>
            </a:r>
            <a:endParaRPr lang="en-US" sz="1050" dirty="0"/>
          </a:p>
        </p:txBody>
      </p:sp>
      <p:sp>
        <p:nvSpPr>
          <p:cNvPr id="52" name="Text 29">
            <a:extLst>
              <a:ext uri="{FF2B5EF4-FFF2-40B4-BE49-F238E27FC236}">
                <a16:creationId xmlns:a16="http://schemas.microsoft.com/office/drawing/2014/main" id="{EC514595-DD72-3E60-37E0-BAB807D4D668}"/>
              </a:ext>
            </a:extLst>
          </p:cNvPr>
          <p:cNvSpPr/>
          <p:nvPr/>
        </p:nvSpPr>
        <p:spPr>
          <a:xfrm>
            <a:off x="5623560" y="3378708"/>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MC_PROTOCOL_REG_TORQUE_MEAS,</a:t>
            </a:r>
            <a:endParaRPr lang="en-US" sz="1050" dirty="0"/>
          </a:p>
        </p:txBody>
      </p:sp>
      <p:sp>
        <p:nvSpPr>
          <p:cNvPr id="54" name="Text 30">
            <a:extLst>
              <a:ext uri="{FF2B5EF4-FFF2-40B4-BE49-F238E27FC236}">
                <a16:creationId xmlns:a16="http://schemas.microsoft.com/office/drawing/2014/main" id="{F4BA15A7-AF12-A4CF-92E3-50131A17166F}"/>
              </a:ext>
            </a:extLst>
          </p:cNvPr>
          <p:cNvSpPr/>
          <p:nvPr/>
        </p:nvSpPr>
        <p:spPr>
          <a:xfrm>
            <a:off x="5623560" y="3709416"/>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MC_PROTOCOL_REG_STATUS</a:t>
            </a:r>
            <a:endParaRPr lang="en-US" sz="1050" dirty="0"/>
          </a:p>
        </p:txBody>
      </p:sp>
      <p:sp>
        <p:nvSpPr>
          <p:cNvPr id="56" name="Text 31">
            <a:extLst>
              <a:ext uri="{FF2B5EF4-FFF2-40B4-BE49-F238E27FC236}">
                <a16:creationId xmlns:a16="http://schemas.microsoft.com/office/drawing/2014/main" id="{A0CB860C-53C2-D155-B0C5-1336A5FCF2D2}"/>
              </a:ext>
            </a:extLst>
          </p:cNvPr>
          <p:cNvSpPr/>
          <p:nvPr/>
        </p:nvSpPr>
        <p:spPr>
          <a:xfrm>
            <a:off x="5623560" y="3973068"/>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a:t>
            </a:r>
            <a:endParaRPr lang="en-US" sz="1050" dirty="0"/>
          </a:p>
        </p:txBody>
      </p:sp>
      <p:sp>
        <p:nvSpPr>
          <p:cNvPr id="58" name="Text 32">
            <a:extLst>
              <a:ext uri="{FF2B5EF4-FFF2-40B4-BE49-F238E27FC236}">
                <a16:creationId xmlns:a16="http://schemas.microsoft.com/office/drawing/2014/main" id="{76CCD1F9-3AC8-71FF-C816-03B8F1AED520}"/>
              </a:ext>
            </a:extLst>
          </p:cNvPr>
          <p:cNvSpPr/>
          <p:nvPr/>
        </p:nvSpPr>
        <p:spPr>
          <a:xfrm>
            <a:off x="5623560" y="4151376"/>
            <a:ext cx="5760720" cy="178308"/>
          </a:xfrm>
          <a:prstGeom prst="rect">
            <a:avLst/>
          </a:prstGeom>
          <a:noFill/>
          <a:ln/>
        </p:spPr>
        <p:txBody>
          <a:bodyPr wrap="square" lIns="0" tIns="0" rIns="0" bIns="0" rtlCol="0" anchor="ctr"/>
          <a:lstStyle/>
          <a:p>
            <a:pPr marL="0" indent="0">
              <a:buNone/>
            </a:pPr>
            <a:endParaRPr lang="en-US" sz="1050" dirty="0"/>
          </a:p>
        </p:txBody>
      </p:sp>
      <p:sp>
        <p:nvSpPr>
          <p:cNvPr id="60" name="Text 33">
            <a:extLst>
              <a:ext uri="{FF2B5EF4-FFF2-40B4-BE49-F238E27FC236}">
                <a16:creationId xmlns:a16="http://schemas.microsoft.com/office/drawing/2014/main" id="{603B08EB-AA88-B9CE-5918-C274AAF6815C}"/>
              </a:ext>
            </a:extLst>
          </p:cNvPr>
          <p:cNvSpPr/>
          <p:nvPr/>
        </p:nvSpPr>
        <p:spPr>
          <a:xfrm>
            <a:off x="5623560" y="4329684"/>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uint8_t Send_Status(MCP_Handle_t *pHandle) {</a:t>
            </a:r>
            <a:endParaRPr lang="en-US" sz="1050" dirty="0"/>
          </a:p>
        </p:txBody>
      </p:sp>
      <p:sp>
        <p:nvSpPr>
          <p:cNvPr id="62" name="Text 34">
            <a:extLst>
              <a:ext uri="{FF2B5EF4-FFF2-40B4-BE49-F238E27FC236}">
                <a16:creationId xmlns:a16="http://schemas.microsoft.com/office/drawing/2014/main" id="{D2F455AD-5C5A-C856-A435-A6E9B0AEA94F}"/>
              </a:ext>
            </a:extLst>
          </p:cNvPr>
          <p:cNvSpPr/>
          <p:nvPr/>
        </p:nvSpPr>
        <p:spPr>
          <a:xfrm>
            <a:off x="5623560" y="4507992"/>
            <a:ext cx="5760720" cy="178308"/>
          </a:xfrm>
          <a:prstGeom prst="rect">
            <a:avLst/>
          </a:prstGeom>
          <a:noFill/>
          <a:ln/>
        </p:spPr>
        <p:txBody>
          <a:bodyPr wrap="square" lIns="0" tIns="0" rIns="0" bIns="0" rtlCol="0" anchor="ctr"/>
          <a:lstStyle/>
          <a:p>
            <a:pPr marL="0" indent="0">
              <a:buNone/>
            </a:pPr>
            <a:r>
              <a:rPr lang="en-US" sz="1050" dirty="0">
                <a:solidFill>
                  <a:srgbClr val="F2C879"/>
                </a:solidFill>
                <a:latin typeface="Consolas" pitchFamily="34" charset="0"/>
                <a:ea typeface="Consolas" pitchFamily="34" charset="-122"/>
                <a:cs typeface="Consolas" pitchFamily="34" charset="-120"/>
              </a:rPr>
              <a:t>  if (FCP_TRANSFER_IDLE == pHandle-&gt;pFCP-&gt;TxFrameState) {</a:t>
            </a:r>
            <a:endParaRPr lang="en-US" sz="1050" dirty="0"/>
          </a:p>
        </p:txBody>
      </p:sp>
      <p:sp>
        <p:nvSpPr>
          <p:cNvPr id="64" name="Text 35">
            <a:extLst>
              <a:ext uri="{FF2B5EF4-FFF2-40B4-BE49-F238E27FC236}">
                <a16:creationId xmlns:a16="http://schemas.microsoft.com/office/drawing/2014/main" id="{6B97FC68-65DE-8E1E-DEFA-0D3C62A65EAE}"/>
              </a:ext>
            </a:extLst>
          </p:cNvPr>
          <p:cNvSpPr/>
          <p:nvPr/>
        </p:nvSpPr>
        <p:spPr>
          <a:xfrm>
            <a:off x="5623560" y="4686300"/>
            <a:ext cx="5760720" cy="178308"/>
          </a:xfrm>
          <a:prstGeom prst="rect">
            <a:avLst/>
          </a:prstGeom>
          <a:noFill/>
          <a:ln/>
        </p:spPr>
        <p:txBody>
          <a:bodyPr wrap="square" lIns="0" tIns="0" rIns="0" bIns="0" rtlCol="0" anchor="ctr"/>
          <a:lstStyle/>
          <a:p>
            <a:pPr marL="0" indent="0">
              <a:buNone/>
            </a:pPr>
            <a:r>
              <a:rPr lang="en-US" sz="1050" dirty="0">
                <a:solidFill>
                  <a:srgbClr val="F2C879"/>
                </a:solidFill>
                <a:latin typeface="Consolas" pitchFamily="34" charset="0"/>
                <a:ea typeface="Consolas" pitchFamily="34" charset="-122"/>
                <a:cs typeface="Consolas" pitchFamily="34" charset="-120"/>
              </a:rPr>
              <a:t>    for (i = 0; i &lt; CAN_NUM_MSG; i++) {</a:t>
            </a:r>
            <a:endParaRPr lang="en-US" sz="1050" dirty="0"/>
          </a:p>
        </p:txBody>
      </p:sp>
      <p:sp>
        <p:nvSpPr>
          <p:cNvPr id="66" name="Text 36">
            <a:extLst>
              <a:ext uri="{FF2B5EF4-FFF2-40B4-BE49-F238E27FC236}">
                <a16:creationId xmlns:a16="http://schemas.microsoft.com/office/drawing/2014/main" id="{6AC0CADD-6D70-5166-85C7-59B5D259BC8A}"/>
              </a:ext>
            </a:extLst>
          </p:cNvPr>
          <p:cNvSpPr/>
          <p:nvPr/>
        </p:nvSpPr>
        <p:spPr>
          <a:xfrm>
            <a:off x="5623560" y="4864608"/>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support_buffer = UI_GetReg(&amp;pHandle-&gt;_Super, Register, NULL);</a:t>
            </a:r>
            <a:endParaRPr lang="en-US" sz="1050" dirty="0"/>
          </a:p>
        </p:txBody>
      </p:sp>
      <p:sp>
        <p:nvSpPr>
          <p:cNvPr id="68" name="Text 37">
            <a:extLst>
              <a:ext uri="{FF2B5EF4-FFF2-40B4-BE49-F238E27FC236}">
                <a16:creationId xmlns:a16="http://schemas.microsoft.com/office/drawing/2014/main" id="{6D9EFEA3-0ECD-BA2D-ED76-36C13FB30394}"/>
              </a:ext>
            </a:extLst>
          </p:cNvPr>
          <p:cNvSpPr/>
          <p:nvPr/>
        </p:nvSpPr>
        <p:spPr>
          <a:xfrm>
            <a:off x="5623560" y="5042916"/>
            <a:ext cx="5760720" cy="178308"/>
          </a:xfrm>
          <a:prstGeom prst="rect">
            <a:avLst/>
          </a:prstGeom>
          <a:noFill/>
          <a:ln/>
        </p:spPr>
        <p:txBody>
          <a:bodyPr wrap="square" lIns="0" tIns="0" rIns="0" bIns="0" rtlCol="0" anchor="ctr"/>
          <a:lstStyle/>
          <a:p>
            <a:pPr marL="0" indent="0">
              <a:buNone/>
            </a:pPr>
            <a:r>
              <a:rPr lang="en-US" sz="1050" dirty="0">
                <a:solidFill>
                  <a:srgbClr val="F2C879"/>
                </a:solidFill>
                <a:latin typeface="Consolas" pitchFamily="34" charset="0"/>
                <a:ea typeface="Consolas" pitchFamily="34" charset="-122"/>
                <a:cs typeface="Consolas" pitchFamily="34" charset="-120"/>
              </a:rPr>
              <a:t>    }</a:t>
            </a:r>
            <a:endParaRPr lang="en-US" sz="1050" dirty="0"/>
          </a:p>
        </p:txBody>
      </p:sp>
      <p:sp>
        <p:nvSpPr>
          <p:cNvPr id="70" name="Text 38">
            <a:extLst>
              <a:ext uri="{FF2B5EF4-FFF2-40B4-BE49-F238E27FC236}">
                <a16:creationId xmlns:a16="http://schemas.microsoft.com/office/drawing/2014/main" id="{E90834BE-C9EF-7357-7982-07AFFE1035BD}"/>
              </a:ext>
            </a:extLst>
          </p:cNvPr>
          <p:cNvSpPr/>
          <p:nvPr/>
        </p:nvSpPr>
        <p:spPr>
          <a:xfrm>
            <a:off x="5623560" y="5221224"/>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pHandle-&gt;pFCP-&gt;TxFrame.Code = code;</a:t>
            </a:r>
            <a:endParaRPr lang="en-US" sz="1050" dirty="0"/>
          </a:p>
        </p:txBody>
      </p:sp>
      <p:sp>
        <p:nvSpPr>
          <p:cNvPr id="72" name="Text 39">
            <a:extLst>
              <a:ext uri="{FF2B5EF4-FFF2-40B4-BE49-F238E27FC236}">
                <a16:creationId xmlns:a16="http://schemas.microsoft.com/office/drawing/2014/main" id="{970AADFA-747A-872A-D068-5AA8DFEABEFA}"/>
              </a:ext>
            </a:extLst>
          </p:cNvPr>
          <p:cNvSpPr/>
          <p:nvPr/>
        </p:nvSpPr>
        <p:spPr>
          <a:xfrm>
            <a:off x="5623560" y="5399532"/>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pHandle-&gt;pFCP-&gt;TxFrame.Size = size;</a:t>
            </a:r>
            <a:endParaRPr lang="en-US" sz="1050" dirty="0"/>
          </a:p>
        </p:txBody>
      </p:sp>
      <p:sp>
        <p:nvSpPr>
          <p:cNvPr id="74" name="Text 40">
            <a:extLst>
              <a:ext uri="{FF2B5EF4-FFF2-40B4-BE49-F238E27FC236}">
                <a16:creationId xmlns:a16="http://schemas.microsoft.com/office/drawing/2014/main" id="{32D158C7-4EE2-C69F-57E8-12FA104BDB9F}"/>
              </a:ext>
            </a:extLst>
          </p:cNvPr>
          <p:cNvSpPr/>
          <p:nvPr/>
        </p:nvSpPr>
        <p:spPr>
          <a:xfrm>
            <a:off x="5623560" y="5577840"/>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DBCCAN_TX_IRQ_Handler(pHandle-&gt;pFCP);</a:t>
            </a:r>
            <a:endParaRPr lang="en-US" sz="1050" dirty="0"/>
          </a:p>
        </p:txBody>
      </p:sp>
      <p:sp>
        <p:nvSpPr>
          <p:cNvPr id="76" name="Text 41">
            <a:extLst>
              <a:ext uri="{FF2B5EF4-FFF2-40B4-BE49-F238E27FC236}">
                <a16:creationId xmlns:a16="http://schemas.microsoft.com/office/drawing/2014/main" id="{F4795035-83E7-BD6B-D04A-B9D76B11E01E}"/>
              </a:ext>
            </a:extLst>
          </p:cNvPr>
          <p:cNvSpPr/>
          <p:nvPr/>
        </p:nvSpPr>
        <p:spPr>
          <a:xfrm>
            <a:off x="5623560" y="5756148"/>
            <a:ext cx="5760720" cy="178308"/>
          </a:xfrm>
          <a:prstGeom prst="rect">
            <a:avLst/>
          </a:prstGeom>
          <a:noFill/>
          <a:ln/>
        </p:spPr>
        <p:txBody>
          <a:bodyPr wrap="square" lIns="0" tIns="0" rIns="0" bIns="0" rtlCol="0" anchor="ctr"/>
          <a:lstStyle/>
          <a:p>
            <a:pPr marL="0" indent="0">
              <a:buNone/>
            </a:pPr>
            <a:r>
              <a:rPr lang="en-US" sz="1050" dirty="0">
                <a:solidFill>
                  <a:srgbClr val="F2C879"/>
                </a:solidFill>
                <a:latin typeface="Consolas" pitchFamily="34" charset="0"/>
                <a:ea typeface="Consolas" pitchFamily="34" charset="-122"/>
                <a:cs typeface="Consolas" pitchFamily="34" charset="-120"/>
              </a:rPr>
              <a:t>  }</a:t>
            </a:r>
            <a:endParaRPr lang="en-US" sz="1050" dirty="0"/>
          </a:p>
        </p:txBody>
      </p:sp>
      <p:sp>
        <p:nvSpPr>
          <p:cNvPr id="78" name="Text 42">
            <a:extLst>
              <a:ext uri="{FF2B5EF4-FFF2-40B4-BE49-F238E27FC236}">
                <a16:creationId xmlns:a16="http://schemas.microsoft.com/office/drawing/2014/main" id="{01094576-CAFF-CFE1-7646-AA8308E18C26}"/>
              </a:ext>
            </a:extLst>
          </p:cNvPr>
          <p:cNvSpPr/>
          <p:nvPr/>
        </p:nvSpPr>
        <p:spPr>
          <a:xfrm>
            <a:off x="5623560" y="5934456"/>
            <a:ext cx="5760720" cy="178308"/>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a:t>
            </a:r>
            <a:endParaRPr lang="en-US" sz="1050" dirty="0"/>
          </a:p>
        </p:txBody>
      </p:sp>
      <p:sp>
        <p:nvSpPr>
          <p:cNvPr id="80" name="Text 30">
            <a:extLst>
              <a:ext uri="{FF2B5EF4-FFF2-40B4-BE49-F238E27FC236}">
                <a16:creationId xmlns:a16="http://schemas.microsoft.com/office/drawing/2014/main" id="{2186DC9C-A80D-0061-D3E5-182781A92339}"/>
              </a:ext>
            </a:extLst>
          </p:cNvPr>
          <p:cNvSpPr/>
          <p:nvPr/>
        </p:nvSpPr>
        <p:spPr>
          <a:xfrm>
            <a:off x="5623560" y="3545586"/>
            <a:ext cx="5760720" cy="178308"/>
          </a:xfrm>
          <a:prstGeom prst="rect">
            <a:avLst/>
          </a:prstGeom>
          <a:noFill/>
          <a:ln/>
        </p:spPr>
        <p:txBody>
          <a:bodyPr wrap="square" lIns="0" tIns="0" rIns="0" bIns="0" rtlCol="0" anchor="ctr"/>
          <a:lstStyle/>
          <a:p>
            <a:pPr marL="0" indent="0">
              <a:buNone/>
            </a:pPr>
            <a:r>
              <a:rPr lang="en-US" sz="1050" dirty="0">
                <a:solidFill>
                  <a:srgbClr val="8FD6EA"/>
                </a:solidFill>
                <a:latin typeface="Consolas" pitchFamily="34" charset="0"/>
                <a:ea typeface="Consolas" pitchFamily="34" charset="-122"/>
                <a:cs typeface="Consolas" pitchFamily="34" charset="-120"/>
              </a:rPr>
              <a:t>  MC_PROTOCOL_REG_FLUX_MEAS,</a:t>
            </a:r>
            <a:endParaRPr lang="en-US" sz="1050" dirty="0"/>
          </a:p>
        </p:txBody>
      </p:sp>
      <p:sp>
        <p:nvSpPr>
          <p:cNvPr id="5" name="Text 0">
            <a:extLst>
              <a:ext uri="{FF2B5EF4-FFF2-40B4-BE49-F238E27FC236}">
                <a16:creationId xmlns:a16="http://schemas.microsoft.com/office/drawing/2014/main" id="{7DE619F1-73BE-0B97-68A2-734C54A5F2B3}"/>
              </a:ext>
            </a:extLst>
          </p:cNvPr>
          <p:cNvSpPr/>
          <p:nvPr/>
        </p:nvSpPr>
        <p:spPr>
          <a:xfrm>
            <a:off x="10692598" y="206783"/>
            <a:ext cx="9601200" cy="274320"/>
          </a:xfrm>
          <a:prstGeom prst="rect">
            <a:avLst/>
          </a:prstGeom>
          <a:noFill/>
          <a:ln/>
        </p:spPr>
        <p:txBody>
          <a:bodyPr wrap="square" rtlCol="0" anchor="ctr"/>
          <a:lstStyle/>
          <a:p>
            <a:r>
              <a:rPr lang="en-US" sz="1100" b="1" kern="0" spc="200" dirty="0">
                <a:solidFill>
                  <a:srgbClr val="0E7DAD"/>
                </a:solidFill>
                <a:latin typeface="Calibri" pitchFamily="34" charset="0"/>
                <a:ea typeface="Calibri" pitchFamily="34" charset="-122"/>
                <a:cs typeface="Calibri" pitchFamily="34" charset="-120"/>
              </a:rPr>
              <a:t>CAN LIBRARY</a:t>
            </a:r>
            <a:endParaRPr lang="en-US" sz="1100" dirty="0">
              <a:solidFill>
                <a:srgbClr val="0E7DAD"/>
              </a:solidFill>
              <a:latin typeface="Calibri" panose="020F0502020204030204"/>
            </a:endParaRPr>
          </a:p>
        </p:txBody>
      </p:sp>
    </p:spTree>
    <p:extLst>
      <p:ext uri="{BB962C8B-B14F-4D97-AF65-F5344CB8AC3E}">
        <p14:creationId xmlns:p14="http://schemas.microsoft.com/office/powerpoint/2010/main" val="55493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A992AFBA-A82A-DA78-5E50-AFD819EE7CF8}"/>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Transmission and Reception Mechanisms</a:t>
            </a:r>
            <a:endParaRPr lang="it-IT" dirty="0"/>
          </a:p>
        </p:txBody>
      </p:sp>
      <p:sp>
        <p:nvSpPr>
          <p:cNvPr id="7" name="Shape 2">
            <a:extLst>
              <a:ext uri="{FF2B5EF4-FFF2-40B4-BE49-F238E27FC236}">
                <a16:creationId xmlns:a16="http://schemas.microsoft.com/office/drawing/2014/main" id="{1E9B0100-41B0-9F1B-D3BA-A45D06E3C8E4}"/>
              </a:ext>
            </a:extLst>
          </p:cNvPr>
          <p:cNvSpPr/>
          <p:nvPr/>
        </p:nvSpPr>
        <p:spPr>
          <a:xfrm>
            <a:off x="548640" y="1737360"/>
            <a:ext cx="5166360" cy="777240"/>
          </a:xfrm>
          <a:prstGeom prst="rect">
            <a:avLst/>
          </a:prstGeom>
          <a:solidFill>
            <a:srgbClr val="03234B"/>
          </a:solidFill>
          <a:ln/>
        </p:spPr>
        <p:txBody>
          <a:bodyPr/>
          <a:lstStyle/>
          <a:p>
            <a:endParaRPr lang="it-IT"/>
          </a:p>
        </p:txBody>
      </p:sp>
      <p:sp>
        <p:nvSpPr>
          <p:cNvPr id="9" name="Text 3">
            <a:extLst>
              <a:ext uri="{FF2B5EF4-FFF2-40B4-BE49-F238E27FC236}">
                <a16:creationId xmlns:a16="http://schemas.microsoft.com/office/drawing/2014/main" id="{7D52FCF8-AF50-563E-67F1-ABEE1AC26F66}"/>
              </a:ext>
            </a:extLst>
          </p:cNvPr>
          <p:cNvSpPr/>
          <p:nvPr/>
        </p:nvSpPr>
        <p:spPr>
          <a:xfrm>
            <a:off x="822960" y="1810512"/>
            <a:ext cx="4617720" cy="36576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Transmission</a:t>
            </a:r>
            <a:endParaRPr lang="en-US" dirty="0"/>
          </a:p>
        </p:txBody>
      </p:sp>
      <p:sp>
        <p:nvSpPr>
          <p:cNvPr id="11" name="Text 4">
            <a:extLst>
              <a:ext uri="{FF2B5EF4-FFF2-40B4-BE49-F238E27FC236}">
                <a16:creationId xmlns:a16="http://schemas.microsoft.com/office/drawing/2014/main" id="{49978921-AF09-ED00-F188-27054F8B7D8E}"/>
              </a:ext>
            </a:extLst>
          </p:cNvPr>
          <p:cNvSpPr/>
          <p:nvPr/>
        </p:nvSpPr>
        <p:spPr>
          <a:xfrm>
            <a:off x="822960" y="2157984"/>
            <a:ext cx="4617720" cy="292608"/>
          </a:xfrm>
          <a:prstGeom prst="rect">
            <a:avLst/>
          </a:prstGeom>
          <a:noFill/>
          <a:ln/>
        </p:spPr>
        <p:txBody>
          <a:bodyPr wrap="square" rtlCol="0" anchor="ctr"/>
          <a:lstStyle/>
          <a:p>
            <a:pPr marL="0" indent="0">
              <a:buNone/>
            </a:pPr>
            <a:r>
              <a:rPr lang="en-US" sz="1400" dirty="0" err="1">
                <a:solidFill>
                  <a:srgbClr val="BBD3E8"/>
                </a:solidFill>
                <a:latin typeface="Calibri" pitchFamily="34" charset="0"/>
                <a:ea typeface="Calibri" pitchFamily="34" charset="-122"/>
                <a:cs typeface="Calibri" pitchFamily="34" charset="-120"/>
              </a:rPr>
              <a:t>Send_Status</a:t>
            </a:r>
            <a:r>
              <a:rPr lang="en-US" sz="1400" dirty="0">
                <a:solidFill>
                  <a:srgbClr val="BBD3E8"/>
                </a:solidFill>
                <a:latin typeface="Calibri" pitchFamily="34" charset="0"/>
                <a:ea typeface="Calibri" pitchFamily="34" charset="-122"/>
                <a:cs typeface="Calibri" pitchFamily="34" charset="-120"/>
              </a:rPr>
              <a:t> Function</a:t>
            </a:r>
            <a:endParaRPr lang="en-US" sz="1400" dirty="0"/>
          </a:p>
        </p:txBody>
      </p:sp>
      <p:sp>
        <p:nvSpPr>
          <p:cNvPr id="13" name="Shape 5">
            <a:extLst>
              <a:ext uri="{FF2B5EF4-FFF2-40B4-BE49-F238E27FC236}">
                <a16:creationId xmlns:a16="http://schemas.microsoft.com/office/drawing/2014/main" id="{F7344DCD-D4BA-54C1-C921-DB9010953787}"/>
              </a:ext>
            </a:extLst>
          </p:cNvPr>
          <p:cNvSpPr/>
          <p:nvPr/>
        </p:nvSpPr>
        <p:spPr>
          <a:xfrm>
            <a:off x="548640" y="2697480"/>
            <a:ext cx="365760" cy="365760"/>
          </a:xfrm>
          <a:prstGeom prst="ellipse">
            <a:avLst/>
          </a:prstGeom>
          <a:solidFill>
            <a:srgbClr val="3CB4E6"/>
          </a:solidFill>
          <a:ln/>
        </p:spPr>
        <p:txBody>
          <a:bodyPr/>
          <a:lstStyle/>
          <a:p>
            <a:endParaRPr lang="it-IT"/>
          </a:p>
        </p:txBody>
      </p:sp>
      <p:sp>
        <p:nvSpPr>
          <p:cNvPr id="15" name="Text 6">
            <a:extLst>
              <a:ext uri="{FF2B5EF4-FFF2-40B4-BE49-F238E27FC236}">
                <a16:creationId xmlns:a16="http://schemas.microsoft.com/office/drawing/2014/main" id="{C83D5916-A660-D4FB-0F86-24E88434B944}"/>
              </a:ext>
            </a:extLst>
          </p:cNvPr>
          <p:cNvSpPr/>
          <p:nvPr/>
        </p:nvSpPr>
        <p:spPr>
          <a:xfrm>
            <a:off x="548640" y="269748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1</a:t>
            </a:r>
            <a:endParaRPr lang="en-US" sz="1300" dirty="0"/>
          </a:p>
        </p:txBody>
      </p:sp>
      <p:sp>
        <p:nvSpPr>
          <p:cNvPr id="17" name="Text 7">
            <a:extLst>
              <a:ext uri="{FF2B5EF4-FFF2-40B4-BE49-F238E27FC236}">
                <a16:creationId xmlns:a16="http://schemas.microsoft.com/office/drawing/2014/main" id="{58C06DC5-6E3D-B2EF-F3CA-9D48763FAE54}"/>
              </a:ext>
            </a:extLst>
          </p:cNvPr>
          <p:cNvSpPr/>
          <p:nvPr/>
        </p:nvSpPr>
        <p:spPr>
          <a:xfrm>
            <a:off x="1051560" y="2551176"/>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Reads register value with </a:t>
            </a:r>
            <a:r>
              <a:rPr lang="en-US" dirty="0" err="1">
                <a:solidFill>
                  <a:srgbClr val="16212B"/>
                </a:solidFill>
                <a:latin typeface="Calibri" pitchFamily="34" charset="0"/>
                <a:ea typeface="Calibri" pitchFamily="34" charset="-122"/>
                <a:cs typeface="Calibri" pitchFamily="34" charset="-120"/>
              </a:rPr>
              <a:t>UI_GetReg</a:t>
            </a:r>
            <a:r>
              <a:rPr lang="en-US" dirty="0">
                <a:solidFill>
                  <a:srgbClr val="16212B"/>
                </a:solidFill>
                <a:latin typeface="Calibri" pitchFamily="34" charset="0"/>
                <a:ea typeface="Calibri" pitchFamily="34" charset="-122"/>
                <a:cs typeface="Calibri" pitchFamily="34" charset="-120"/>
              </a:rPr>
              <a:t>()</a:t>
            </a:r>
            <a:endParaRPr lang="en-US" dirty="0"/>
          </a:p>
        </p:txBody>
      </p:sp>
      <p:sp>
        <p:nvSpPr>
          <p:cNvPr id="19" name="Shape 8">
            <a:extLst>
              <a:ext uri="{FF2B5EF4-FFF2-40B4-BE49-F238E27FC236}">
                <a16:creationId xmlns:a16="http://schemas.microsoft.com/office/drawing/2014/main" id="{7C01388D-F519-0623-7541-6AC1E7FB0A2E}"/>
              </a:ext>
            </a:extLst>
          </p:cNvPr>
          <p:cNvSpPr/>
          <p:nvPr/>
        </p:nvSpPr>
        <p:spPr>
          <a:xfrm>
            <a:off x="548640" y="3474720"/>
            <a:ext cx="365760" cy="365760"/>
          </a:xfrm>
          <a:prstGeom prst="ellipse">
            <a:avLst/>
          </a:prstGeom>
          <a:solidFill>
            <a:srgbClr val="3CB4E6"/>
          </a:solidFill>
          <a:ln/>
        </p:spPr>
        <p:txBody>
          <a:bodyPr/>
          <a:lstStyle/>
          <a:p>
            <a:endParaRPr lang="it-IT"/>
          </a:p>
        </p:txBody>
      </p:sp>
      <p:sp>
        <p:nvSpPr>
          <p:cNvPr id="21" name="Text 9">
            <a:extLst>
              <a:ext uri="{FF2B5EF4-FFF2-40B4-BE49-F238E27FC236}">
                <a16:creationId xmlns:a16="http://schemas.microsoft.com/office/drawing/2014/main" id="{1858B1F0-8BA6-EEE1-B9EA-6BF11EC26592}"/>
              </a:ext>
            </a:extLst>
          </p:cNvPr>
          <p:cNvSpPr/>
          <p:nvPr/>
        </p:nvSpPr>
        <p:spPr>
          <a:xfrm>
            <a:off x="548640" y="347472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2</a:t>
            </a:r>
            <a:endParaRPr lang="en-US" sz="1300" dirty="0"/>
          </a:p>
        </p:txBody>
      </p:sp>
      <p:sp>
        <p:nvSpPr>
          <p:cNvPr id="23" name="Text 10">
            <a:extLst>
              <a:ext uri="{FF2B5EF4-FFF2-40B4-BE49-F238E27FC236}">
                <a16:creationId xmlns:a16="http://schemas.microsoft.com/office/drawing/2014/main" id="{9ABA6ECC-898E-10D5-0618-618E5DAD2E62}"/>
              </a:ext>
            </a:extLst>
          </p:cNvPr>
          <p:cNvSpPr/>
          <p:nvPr/>
        </p:nvSpPr>
        <p:spPr>
          <a:xfrm>
            <a:off x="1051560" y="3319273"/>
            <a:ext cx="4617720" cy="658368"/>
          </a:xfrm>
          <a:prstGeom prst="rect">
            <a:avLst/>
          </a:prstGeom>
          <a:noFill/>
          <a:ln/>
        </p:spPr>
        <p:txBody>
          <a:bodyPr wrap="square" rtlCol="0" anchor="ctr"/>
          <a:lstStyle/>
          <a:p>
            <a:pPr marL="0" indent="0">
              <a:lnSpc>
                <a:spcPct val="100000"/>
              </a:lnSpc>
              <a:buNone/>
            </a:pPr>
            <a:r>
              <a:rPr lang="en-US" dirty="0">
                <a:solidFill>
                  <a:srgbClr val="16212B"/>
                </a:solidFill>
                <a:latin typeface="Calibri" pitchFamily="34" charset="0"/>
                <a:ea typeface="Calibri" pitchFamily="34" charset="-122"/>
                <a:cs typeface="Calibri" pitchFamily="34" charset="-120"/>
              </a:rPr>
              <a:t>Formats the 4 data bytes in little-endian</a:t>
            </a:r>
            <a:endParaRPr lang="en-US" dirty="0"/>
          </a:p>
        </p:txBody>
      </p:sp>
      <p:sp>
        <p:nvSpPr>
          <p:cNvPr id="25" name="Shape 11">
            <a:extLst>
              <a:ext uri="{FF2B5EF4-FFF2-40B4-BE49-F238E27FC236}">
                <a16:creationId xmlns:a16="http://schemas.microsoft.com/office/drawing/2014/main" id="{505940F6-D6FD-EF0B-AA77-AEF0E1A483A0}"/>
              </a:ext>
            </a:extLst>
          </p:cNvPr>
          <p:cNvSpPr/>
          <p:nvPr/>
        </p:nvSpPr>
        <p:spPr>
          <a:xfrm>
            <a:off x="548640" y="4251960"/>
            <a:ext cx="365760" cy="365760"/>
          </a:xfrm>
          <a:prstGeom prst="ellipse">
            <a:avLst/>
          </a:prstGeom>
          <a:solidFill>
            <a:srgbClr val="3CB4E6"/>
          </a:solidFill>
          <a:ln/>
        </p:spPr>
        <p:txBody>
          <a:bodyPr/>
          <a:lstStyle/>
          <a:p>
            <a:endParaRPr lang="it-IT"/>
          </a:p>
        </p:txBody>
      </p:sp>
      <p:sp>
        <p:nvSpPr>
          <p:cNvPr id="27" name="Text 12">
            <a:extLst>
              <a:ext uri="{FF2B5EF4-FFF2-40B4-BE49-F238E27FC236}">
                <a16:creationId xmlns:a16="http://schemas.microsoft.com/office/drawing/2014/main" id="{BE1C6339-DA4E-419D-A6CF-B0C7AEBA8136}"/>
              </a:ext>
            </a:extLst>
          </p:cNvPr>
          <p:cNvSpPr/>
          <p:nvPr/>
        </p:nvSpPr>
        <p:spPr>
          <a:xfrm>
            <a:off x="548640" y="425196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3</a:t>
            </a:r>
            <a:endParaRPr lang="en-US" sz="1300" dirty="0"/>
          </a:p>
        </p:txBody>
      </p:sp>
      <p:sp>
        <p:nvSpPr>
          <p:cNvPr id="29" name="Text 13">
            <a:extLst>
              <a:ext uri="{FF2B5EF4-FFF2-40B4-BE49-F238E27FC236}">
                <a16:creationId xmlns:a16="http://schemas.microsoft.com/office/drawing/2014/main" id="{258521D3-2BB9-F72E-1D82-77DB9DBF6DD1}"/>
              </a:ext>
            </a:extLst>
          </p:cNvPr>
          <p:cNvSpPr/>
          <p:nvPr/>
        </p:nvSpPr>
        <p:spPr>
          <a:xfrm>
            <a:off x="1051560" y="4105656"/>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Assigns the converted ID with a +0x40 offset</a:t>
            </a:r>
            <a:endParaRPr lang="en-US" dirty="0"/>
          </a:p>
        </p:txBody>
      </p:sp>
      <p:sp>
        <p:nvSpPr>
          <p:cNvPr id="31" name="Shape 14">
            <a:extLst>
              <a:ext uri="{FF2B5EF4-FFF2-40B4-BE49-F238E27FC236}">
                <a16:creationId xmlns:a16="http://schemas.microsoft.com/office/drawing/2014/main" id="{449D8F9B-EF1B-866E-4CD3-9D88265BFA09}"/>
              </a:ext>
            </a:extLst>
          </p:cNvPr>
          <p:cNvSpPr/>
          <p:nvPr/>
        </p:nvSpPr>
        <p:spPr>
          <a:xfrm>
            <a:off x="548640" y="5029200"/>
            <a:ext cx="365760" cy="365760"/>
          </a:xfrm>
          <a:prstGeom prst="ellipse">
            <a:avLst/>
          </a:prstGeom>
          <a:solidFill>
            <a:srgbClr val="3CB4E6"/>
          </a:solidFill>
          <a:ln/>
        </p:spPr>
        <p:txBody>
          <a:bodyPr/>
          <a:lstStyle/>
          <a:p>
            <a:endParaRPr lang="it-IT"/>
          </a:p>
        </p:txBody>
      </p:sp>
      <p:sp>
        <p:nvSpPr>
          <p:cNvPr id="33" name="Text 15">
            <a:extLst>
              <a:ext uri="{FF2B5EF4-FFF2-40B4-BE49-F238E27FC236}">
                <a16:creationId xmlns:a16="http://schemas.microsoft.com/office/drawing/2014/main" id="{599D4A53-31B7-AC1D-CD8F-7E147824CB85}"/>
              </a:ext>
            </a:extLst>
          </p:cNvPr>
          <p:cNvSpPr/>
          <p:nvPr/>
        </p:nvSpPr>
        <p:spPr>
          <a:xfrm>
            <a:off x="548640" y="502920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4</a:t>
            </a:r>
            <a:endParaRPr lang="en-US" sz="1300" dirty="0"/>
          </a:p>
        </p:txBody>
      </p:sp>
      <p:sp>
        <p:nvSpPr>
          <p:cNvPr id="35" name="Text 16">
            <a:extLst>
              <a:ext uri="{FF2B5EF4-FFF2-40B4-BE49-F238E27FC236}">
                <a16:creationId xmlns:a16="http://schemas.microsoft.com/office/drawing/2014/main" id="{2384BDD3-116E-86A4-8258-C6D70F8B628A}"/>
              </a:ext>
            </a:extLst>
          </p:cNvPr>
          <p:cNvSpPr/>
          <p:nvPr/>
        </p:nvSpPr>
        <p:spPr>
          <a:xfrm>
            <a:off x="1051560" y="4983480"/>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Calls </a:t>
            </a:r>
            <a:r>
              <a:rPr lang="en-US" dirty="0" err="1">
                <a:solidFill>
                  <a:srgbClr val="16212B"/>
                </a:solidFill>
                <a:latin typeface="Calibri" pitchFamily="34" charset="0"/>
                <a:ea typeface="Calibri" pitchFamily="34" charset="-122"/>
                <a:cs typeface="Calibri" pitchFamily="34" charset="-120"/>
              </a:rPr>
              <a:t>DBCCAN_TX_IRQ_Handler</a:t>
            </a:r>
            <a:r>
              <a:rPr lang="en-US" dirty="0">
                <a:solidFill>
                  <a:srgbClr val="16212B"/>
                </a:solidFill>
                <a:latin typeface="Calibri" pitchFamily="34" charset="0"/>
                <a:ea typeface="Calibri" pitchFamily="34" charset="-122"/>
                <a:cs typeface="Calibri" pitchFamily="34" charset="-120"/>
              </a:rPr>
              <a:t> to transmit via FDCAN</a:t>
            </a:r>
            <a:endParaRPr lang="en-US" dirty="0"/>
          </a:p>
        </p:txBody>
      </p:sp>
      <p:sp>
        <p:nvSpPr>
          <p:cNvPr id="37" name="Shape 17">
            <a:extLst>
              <a:ext uri="{FF2B5EF4-FFF2-40B4-BE49-F238E27FC236}">
                <a16:creationId xmlns:a16="http://schemas.microsoft.com/office/drawing/2014/main" id="{FC02DAF5-87E1-DB07-8084-E1B0F7796A07}"/>
              </a:ext>
            </a:extLst>
          </p:cNvPr>
          <p:cNvSpPr/>
          <p:nvPr/>
        </p:nvSpPr>
        <p:spPr>
          <a:xfrm>
            <a:off x="6035040" y="1737360"/>
            <a:ext cx="5166360" cy="777240"/>
          </a:xfrm>
          <a:prstGeom prst="rect">
            <a:avLst/>
          </a:prstGeom>
          <a:solidFill>
            <a:srgbClr val="03234B"/>
          </a:solidFill>
          <a:ln/>
        </p:spPr>
        <p:txBody>
          <a:bodyPr/>
          <a:lstStyle/>
          <a:p>
            <a:endParaRPr lang="it-IT"/>
          </a:p>
        </p:txBody>
      </p:sp>
      <p:sp>
        <p:nvSpPr>
          <p:cNvPr id="39" name="Text 18">
            <a:extLst>
              <a:ext uri="{FF2B5EF4-FFF2-40B4-BE49-F238E27FC236}">
                <a16:creationId xmlns:a16="http://schemas.microsoft.com/office/drawing/2014/main" id="{B12846B8-DC34-8C75-39F6-D9AA48A9EAE7}"/>
              </a:ext>
            </a:extLst>
          </p:cNvPr>
          <p:cNvSpPr/>
          <p:nvPr/>
        </p:nvSpPr>
        <p:spPr>
          <a:xfrm>
            <a:off x="6309360" y="1810512"/>
            <a:ext cx="4617720" cy="36576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Reception</a:t>
            </a:r>
            <a:endParaRPr lang="en-US" dirty="0"/>
          </a:p>
        </p:txBody>
      </p:sp>
      <p:sp>
        <p:nvSpPr>
          <p:cNvPr id="41" name="Text 19">
            <a:extLst>
              <a:ext uri="{FF2B5EF4-FFF2-40B4-BE49-F238E27FC236}">
                <a16:creationId xmlns:a16="http://schemas.microsoft.com/office/drawing/2014/main" id="{4F7C510E-578C-082F-F37C-A62227C39DBF}"/>
              </a:ext>
            </a:extLst>
          </p:cNvPr>
          <p:cNvSpPr/>
          <p:nvPr/>
        </p:nvSpPr>
        <p:spPr>
          <a:xfrm>
            <a:off x="6263640" y="2148840"/>
            <a:ext cx="5166360" cy="292608"/>
          </a:xfrm>
          <a:prstGeom prst="rect">
            <a:avLst/>
          </a:prstGeom>
          <a:noFill/>
          <a:ln/>
        </p:spPr>
        <p:txBody>
          <a:bodyPr wrap="square" rtlCol="0" anchor="ctr"/>
          <a:lstStyle/>
          <a:p>
            <a:r>
              <a:rPr lang="en-US" sz="1400" dirty="0">
                <a:solidFill>
                  <a:srgbClr val="BBD3E8"/>
                </a:solidFill>
                <a:latin typeface="Calibri" pitchFamily="34" charset="0"/>
                <a:ea typeface="Calibri" pitchFamily="34" charset="-122"/>
                <a:cs typeface="Calibri" pitchFamily="34" charset="-120"/>
              </a:rPr>
              <a:t>DYNO2DWProtocol function (from ISR IRQ_CAN1_LINE0_HANDLER)</a:t>
            </a:r>
            <a:endParaRPr lang="en-US" sz="1400" dirty="0"/>
          </a:p>
        </p:txBody>
      </p:sp>
      <p:sp>
        <p:nvSpPr>
          <p:cNvPr id="43" name="Shape 20">
            <a:extLst>
              <a:ext uri="{FF2B5EF4-FFF2-40B4-BE49-F238E27FC236}">
                <a16:creationId xmlns:a16="http://schemas.microsoft.com/office/drawing/2014/main" id="{978DCDF9-2B40-CDC4-DFB5-91890E47D8A8}"/>
              </a:ext>
            </a:extLst>
          </p:cNvPr>
          <p:cNvSpPr/>
          <p:nvPr/>
        </p:nvSpPr>
        <p:spPr>
          <a:xfrm>
            <a:off x="6035040" y="2697480"/>
            <a:ext cx="365760" cy="365760"/>
          </a:xfrm>
          <a:prstGeom prst="ellipse">
            <a:avLst/>
          </a:prstGeom>
          <a:solidFill>
            <a:srgbClr val="3CB4E6"/>
          </a:solidFill>
          <a:ln/>
        </p:spPr>
        <p:txBody>
          <a:bodyPr/>
          <a:lstStyle/>
          <a:p>
            <a:endParaRPr lang="it-IT"/>
          </a:p>
        </p:txBody>
      </p:sp>
      <p:sp>
        <p:nvSpPr>
          <p:cNvPr id="45" name="Text 21">
            <a:extLst>
              <a:ext uri="{FF2B5EF4-FFF2-40B4-BE49-F238E27FC236}">
                <a16:creationId xmlns:a16="http://schemas.microsoft.com/office/drawing/2014/main" id="{7A0E93BA-0119-DB3A-59EA-A7DC66C7C845}"/>
              </a:ext>
            </a:extLst>
          </p:cNvPr>
          <p:cNvSpPr/>
          <p:nvPr/>
        </p:nvSpPr>
        <p:spPr>
          <a:xfrm>
            <a:off x="6035040" y="269748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1</a:t>
            </a:r>
            <a:endParaRPr lang="en-US" sz="1300" dirty="0"/>
          </a:p>
        </p:txBody>
      </p:sp>
      <p:sp>
        <p:nvSpPr>
          <p:cNvPr id="47" name="Text 22">
            <a:extLst>
              <a:ext uri="{FF2B5EF4-FFF2-40B4-BE49-F238E27FC236}">
                <a16:creationId xmlns:a16="http://schemas.microsoft.com/office/drawing/2014/main" id="{2F929181-5192-F508-9979-F60EEE1A40DA}"/>
              </a:ext>
            </a:extLst>
          </p:cNvPr>
          <p:cNvSpPr/>
          <p:nvPr/>
        </p:nvSpPr>
        <p:spPr>
          <a:xfrm>
            <a:off x="6537960" y="2651760"/>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Analyzes command code (EXECUTE_COMMAND, SET_RAMP, etc.)</a:t>
            </a:r>
            <a:endParaRPr lang="en-US" dirty="0"/>
          </a:p>
        </p:txBody>
      </p:sp>
      <p:sp>
        <p:nvSpPr>
          <p:cNvPr id="49" name="Shape 23">
            <a:extLst>
              <a:ext uri="{FF2B5EF4-FFF2-40B4-BE49-F238E27FC236}">
                <a16:creationId xmlns:a16="http://schemas.microsoft.com/office/drawing/2014/main" id="{2795D085-53DE-A379-5DDB-1021DD28649D}"/>
              </a:ext>
            </a:extLst>
          </p:cNvPr>
          <p:cNvSpPr/>
          <p:nvPr/>
        </p:nvSpPr>
        <p:spPr>
          <a:xfrm>
            <a:off x="6035040" y="3474720"/>
            <a:ext cx="365760" cy="365760"/>
          </a:xfrm>
          <a:prstGeom prst="ellipse">
            <a:avLst/>
          </a:prstGeom>
          <a:solidFill>
            <a:srgbClr val="3CB4E6"/>
          </a:solidFill>
          <a:ln/>
        </p:spPr>
        <p:txBody>
          <a:bodyPr/>
          <a:lstStyle/>
          <a:p>
            <a:endParaRPr lang="it-IT"/>
          </a:p>
        </p:txBody>
      </p:sp>
      <p:sp>
        <p:nvSpPr>
          <p:cNvPr id="51" name="Text 24">
            <a:extLst>
              <a:ext uri="{FF2B5EF4-FFF2-40B4-BE49-F238E27FC236}">
                <a16:creationId xmlns:a16="http://schemas.microsoft.com/office/drawing/2014/main" id="{AB18C0CF-F892-41D4-F68C-DA917BD002A4}"/>
              </a:ext>
            </a:extLst>
          </p:cNvPr>
          <p:cNvSpPr/>
          <p:nvPr/>
        </p:nvSpPr>
        <p:spPr>
          <a:xfrm>
            <a:off x="6035040" y="347472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2</a:t>
            </a:r>
            <a:endParaRPr lang="en-US" sz="1300" dirty="0"/>
          </a:p>
        </p:txBody>
      </p:sp>
      <p:sp>
        <p:nvSpPr>
          <p:cNvPr id="53" name="Text 25">
            <a:extLst>
              <a:ext uri="{FF2B5EF4-FFF2-40B4-BE49-F238E27FC236}">
                <a16:creationId xmlns:a16="http://schemas.microsoft.com/office/drawing/2014/main" id="{3B970FAE-C685-5D87-CFCA-76B44B585B74}"/>
              </a:ext>
            </a:extLst>
          </p:cNvPr>
          <p:cNvSpPr/>
          <p:nvPr/>
        </p:nvSpPr>
        <p:spPr>
          <a:xfrm>
            <a:off x="6537960" y="3429000"/>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Reconstructs the packet in the ST format (Code, Length, Payload)</a:t>
            </a:r>
            <a:endParaRPr lang="en-US" dirty="0"/>
          </a:p>
        </p:txBody>
      </p:sp>
      <p:sp>
        <p:nvSpPr>
          <p:cNvPr id="55" name="Shape 26">
            <a:extLst>
              <a:ext uri="{FF2B5EF4-FFF2-40B4-BE49-F238E27FC236}">
                <a16:creationId xmlns:a16="http://schemas.microsoft.com/office/drawing/2014/main" id="{D7E9C4E9-2BF5-09E9-A085-9338C910CD9C}"/>
              </a:ext>
            </a:extLst>
          </p:cNvPr>
          <p:cNvSpPr/>
          <p:nvPr/>
        </p:nvSpPr>
        <p:spPr>
          <a:xfrm>
            <a:off x="6035040" y="4251960"/>
            <a:ext cx="365760" cy="365760"/>
          </a:xfrm>
          <a:prstGeom prst="ellipse">
            <a:avLst/>
          </a:prstGeom>
          <a:solidFill>
            <a:srgbClr val="3CB4E6"/>
          </a:solidFill>
          <a:ln/>
        </p:spPr>
        <p:txBody>
          <a:bodyPr/>
          <a:lstStyle/>
          <a:p>
            <a:endParaRPr lang="it-IT"/>
          </a:p>
        </p:txBody>
      </p:sp>
      <p:sp>
        <p:nvSpPr>
          <p:cNvPr id="57" name="Text 27">
            <a:extLst>
              <a:ext uri="{FF2B5EF4-FFF2-40B4-BE49-F238E27FC236}">
                <a16:creationId xmlns:a16="http://schemas.microsoft.com/office/drawing/2014/main" id="{2C61BB79-E90D-DFFC-8C46-E7599CBDF9B5}"/>
              </a:ext>
            </a:extLst>
          </p:cNvPr>
          <p:cNvSpPr/>
          <p:nvPr/>
        </p:nvSpPr>
        <p:spPr>
          <a:xfrm>
            <a:off x="6035040" y="425196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3</a:t>
            </a:r>
            <a:endParaRPr lang="en-US" sz="1300" dirty="0"/>
          </a:p>
        </p:txBody>
      </p:sp>
      <p:sp>
        <p:nvSpPr>
          <p:cNvPr id="59" name="Text 28">
            <a:extLst>
              <a:ext uri="{FF2B5EF4-FFF2-40B4-BE49-F238E27FC236}">
                <a16:creationId xmlns:a16="http://schemas.microsoft.com/office/drawing/2014/main" id="{D7365499-4BF4-1A76-C16B-4E6E0A8C81EA}"/>
              </a:ext>
            </a:extLst>
          </p:cNvPr>
          <p:cNvSpPr/>
          <p:nvPr/>
        </p:nvSpPr>
        <p:spPr>
          <a:xfrm>
            <a:off x="6537960" y="4115225"/>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Calculates checksum with </a:t>
            </a:r>
            <a:r>
              <a:rPr lang="en-US" dirty="0" err="1">
                <a:solidFill>
                  <a:srgbClr val="16212B"/>
                </a:solidFill>
                <a:latin typeface="Calibri" pitchFamily="34" charset="0"/>
                <a:ea typeface="Calibri" pitchFamily="34" charset="-122"/>
                <a:cs typeface="Calibri" pitchFamily="34" charset="-120"/>
              </a:rPr>
              <a:t>SelfCRCCalc</a:t>
            </a:r>
            <a:r>
              <a:rPr lang="en-US" dirty="0">
                <a:solidFill>
                  <a:srgbClr val="16212B"/>
                </a:solidFill>
                <a:latin typeface="Calibri" pitchFamily="34" charset="0"/>
                <a:ea typeface="Calibri" pitchFamily="34" charset="-122"/>
                <a:cs typeface="Calibri" pitchFamily="34" charset="-120"/>
              </a:rPr>
              <a:t>(msg)</a:t>
            </a:r>
            <a:endParaRPr lang="en-US" dirty="0"/>
          </a:p>
        </p:txBody>
      </p:sp>
      <p:sp>
        <p:nvSpPr>
          <p:cNvPr id="61" name="Shape 29">
            <a:extLst>
              <a:ext uri="{FF2B5EF4-FFF2-40B4-BE49-F238E27FC236}">
                <a16:creationId xmlns:a16="http://schemas.microsoft.com/office/drawing/2014/main" id="{6002DFCE-48EE-971A-4B10-BCF4A2C93EE0}"/>
              </a:ext>
            </a:extLst>
          </p:cNvPr>
          <p:cNvSpPr/>
          <p:nvPr/>
        </p:nvSpPr>
        <p:spPr>
          <a:xfrm>
            <a:off x="6035040" y="5029200"/>
            <a:ext cx="365760" cy="365760"/>
          </a:xfrm>
          <a:prstGeom prst="ellipse">
            <a:avLst/>
          </a:prstGeom>
          <a:solidFill>
            <a:srgbClr val="3CB4E6"/>
          </a:solidFill>
          <a:ln/>
        </p:spPr>
        <p:txBody>
          <a:bodyPr/>
          <a:lstStyle/>
          <a:p>
            <a:endParaRPr lang="it-IT"/>
          </a:p>
        </p:txBody>
      </p:sp>
      <p:sp>
        <p:nvSpPr>
          <p:cNvPr id="63" name="Text 30">
            <a:extLst>
              <a:ext uri="{FF2B5EF4-FFF2-40B4-BE49-F238E27FC236}">
                <a16:creationId xmlns:a16="http://schemas.microsoft.com/office/drawing/2014/main" id="{FFBFFE37-310A-DFA0-4C55-07CD91D590CB}"/>
              </a:ext>
            </a:extLst>
          </p:cNvPr>
          <p:cNvSpPr/>
          <p:nvPr/>
        </p:nvSpPr>
        <p:spPr>
          <a:xfrm>
            <a:off x="6035040" y="5029200"/>
            <a:ext cx="365760" cy="365760"/>
          </a:xfrm>
          <a:prstGeom prst="rect">
            <a:avLst/>
          </a:prstGeom>
          <a:noFill/>
          <a:ln/>
        </p:spPr>
        <p:txBody>
          <a:bodyPr wrap="square" rtlCol="0" anchor="ctr"/>
          <a:lstStyle/>
          <a:p>
            <a:pPr marL="0" indent="0" algn="ctr">
              <a:buNone/>
            </a:pPr>
            <a:r>
              <a:rPr lang="en-US" sz="1300" b="1" dirty="0">
                <a:solidFill>
                  <a:srgbClr val="03234B"/>
                </a:solidFill>
                <a:latin typeface="Calibri" pitchFamily="34" charset="0"/>
                <a:ea typeface="Calibri" pitchFamily="34" charset="-122"/>
                <a:cs typeface="Calibri" pitchFamily="34" charset="-120"/>
              </a:rPr>
              <a:t>4</a:t>
            </a:r>
            <a:endParaRPr lang="en-US" sz="1300" dirty="0"/>
          </a:p>
        </p:txBody>
      </p:sp>
      <p:sp>
        <p:nvSpPr>
          <p:cNvPr id="65" name="Text 31">
            <a:extLst>
              <a:ext uri="{FF2B5EF4-FFF2-40B4-BE49-F238E27FC236}">
                <a16:creationId xmlns:a16="http://schemas.microsoft.com/office/drawing/2014/main" id="{9724784A-A420-AA98-5119-B194CD96048F}"/>
              </a:ext>
            </a:extLst>
          </p:cNvPr>
          <p:cNvSpPr/>
          <p:nvPr/>
        </p:nvSpPr>
        <p:spPr>
          <a:xfrm>
            <a:off x="6537960" y="4983480"/>
            <a:ext cx="4617720" cy="658368"/>
          </a:xfrm>
          <a:prstGeom prst="rect">
            <a:avLst/>
          </a:prstGeom>
          <a:noFill/>
          <a:ln/>
        </p:spPr>
        <p:txBody>
          <a:bodyPr wrap="square" rtlCol="0" anchor="ctr"/>
          <a:lstStyle/>
          <a:p>
            <a:pPr>
              <a:lnSpc>
                <a:spcPct val="110000"/>
              </a:lnSpc>
            </a:pPr>
            <a:r>
              <a:rPr lang="en-US" dirty="0">
                <a:solidFill>
                  <a:srgbClr val="16212B"/>
                </a:solidFill>
                <a:latin typeface="Calibri" pitchFamily="34" charset="0"/>
                <a:ea typeface="Calibri" pitchFamily="34" charset="-122"/>
                <a:cs typeface="Calibri" pitchFamily="34" charset="-120"/>
              </a:rPr>
              <a:t>Passes bytes to </a:t>
            </a:r>
            <a:r>
              <a:rPr lang="en-US" dirty="0" err="1">
                <a:solidFill>
                  <a:srgbClr val="16212B"/>
                </a:solidFill>
                <a:latin typeface="Calibri" pitchFamily="34" charset="0"/>
                <a:ea typeface="Calibri" pitchFamily="34" charset="-122"/>
                <a:cs typeface="Calibri" pitchFamily="34" charset="-120"/>
              </a:rPr>
              <a:t>CFCP_RX_IRQ_Handler</a:t>
            </a:r>
            <a:r>
              <a:rPr lang="en-US" dirty="0">
                <a:solidFill>
                  <a:srgbClr val="16212B"/>
                </a:solidFill>
                <a:latin typeface="Calibri" pitchFamily="34" charset="0"/>
                <a:ea typeface="Calibri" pitchFamily="34" charset="-122"/>
                <a:cs typeface="Calibri" pitchFamily="34" charset="-120"/>
              </a:rPr>
              <a:t>, managing timeout timers</a:t>
            </a:r>
            <a:endParaRPr lang="en-US" dirty="0"/>
          </a:p>
        </p:txBody>
      </p:sp>
      <p:sp>
        <p:nvSpPr>
          <p:cNvPr id="4" name="Text 0">
            <a:extLst>
              <a:ext uri="{FF2B5EF4-FFF2-40B4-BE49-F238E27FC236}">
                <a16:creationId xmlns:a16="http://schemas.microsoft.com/office/drawing/2014/main" id="{6E028FB1-BF0B-989C-E813-A41ACB4144FD}"/>
              </a:ext>
            </a:extLst>
          </p:cNvPr>
          <p:cNvSpPr/>
          <p:nvPr/>
        </p:nvSpPr>
        <p:spPr>
          <a:xfrm>
            <a:off x="10692598" y="206783"/>
            <a:ext cx="9601200" cy="274320"/>
          </a:xfrm>
          <a:prstGeom prst="rect">
            <a:avLst/>
          </a:prstGeom>
          <a:noFill/>
          <a:ln/>
        </p:spPr>
        <p:txBody>
          <a:bodyPr wrap="square" rtlCol="0" anchor="ctr"/>
          <a:lstStyle/>
          <a:p>
            <a:r>
              <a:rPr lang="en-US" sz="1100" b="1" kern="0" spc="200" dirty="0">
                <a:solidFill>
                  <a:srgbClr val="0E7DAD"/>
                </a:solidFill>
                <a:latin typeface="Calibri" pitchFamily="34" charset="0"/>
                <a:ea typeface="Calibri" pitchFamily="34" charset="-122"/>
                <a:cs typeface="Calibri" pitchFamily="34" charset="-120"/>
              </a:rPr>
              <a:t>CAN LIBRARY</a:t>
            </a:r>
            <a:endParaRPr lang="en-US" sz="1100" dirty="0">
              <a:solidFill>
                <a:srgbClr val="0E7DAD"/>
              </a:solidFill>
              <a:latin typeface="Calibri" panose="020F0502020204030204"/>
            </a:endParaRPr>
          </a:p>
        </p:txBody>
      </p:sp>
    </p:spTree>
    <p:extLst>
      <p:ext uri="{BB962C8B-B14F-4D97-AF65-F5344CB8AC3E}">
        <p14:creationId xmlns:p14="http://schemas.microsoft.com/office/powerpoint/2010/main" val="1780560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804BE-016C-EA2E-CD18-0CEDFA06EDD9}"/>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A6A74872-3EBE-0761-7E8A-F39A166C5278}"/>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CAN Command Mapping</a:t>
            </a:r>
            <a:endParaRPr lang="it-IT" dirty="0"/>
          </a:p>
        </p:txBody>
      </p:sp>
      <p:sp>
        <p:nvSpPr>
          <p:cNvPr id="126" name="Text 2">
            <a:extLst>
              <a:ext uri="{FF2B5EF4-FFF2-40B4-BE49-F238E27FC236}">
                <a16:creationId xmlns:a16="http://schemas.microsoft.com/office/drawing/2014/main" id="{403B9AE4-4DD5-83E4-B463-4992294DBB92}"/>
              </a:ext>
            </a:extLst>
          </p:cNvPr>
          <p:cNvSpPr txBox="1"/>
          <p:nvPr/>
        </p:nvSpPr>
        <p:spPr>
          <a:xfrm>
            <a:off x="640080" y="1417320"/>
            <a:ext cx="5349240" cy="320040"/>
          </a:xfrm>
          <a:prstGeom prst="rect">
            <a:avLst/>
          </a:prstGeom>
          <a:noFill/>
          <a:ln/>
        </p:spPr>
        <p:txBody>
          <a:bodyPr wrap="square" lIns="0" tIns="0" rIns="0" bIns="0" rtlCol="0" anchor="ctr"/>
          <a:lstStyle/>
          <a:p>
            <a:r>
              <a:rPr lang="en-US" sz="2000" b="1" dirty="0">
                <a:solidFill>
                  <a:srgbClr val="03234B"/>
                </a:solidFill>
                <a:latin typeface="Calibri" pitchFamily="34" charset="0"/>
                <a:ea typeface="Calibri" pitchFamily="34" charset="-122"/>
                <a:cs typeface="Calibri" pitchFamily="34" charset="-120"/>
              </a:rPr>
              <a:t>Incoming Commands — Offset 0x30</a:t>
            </a:r>
            <a:endParaRPr lang="en-US" sz="2000" dirty="0"/>
          </a:p>
        </p:txBody>
      </p:sp>
      <p:sp>
        <p:nvSpPr>
          <p:cNvPr id="128" name="Text 3">
            <a:extLst>
              <a:ext uri="{FF2B5EF4-FFF2-40B4-BE49-F238E27FC236}">
                <a16:creationId xmlns:a16="http://schemas.microsoft.com/office/drawing/2014/main" id="{469AD011-2A8F-8B16-C129-397943B98EFD}"/>
              </a:ext>
            </a:extLst>
          </p:cNvPr>
          <p:cNvSpPr txBox="1"/>
          <p:nvPr/>
        </p:nvSpPr>
        <p:spPr>
          <a:xfrm>
            <a:off x="6279497" y="1417320"/>
            <a:ext cx="5349240" cy="320040"/>
          </a:xfrm>
          <a:prstGeom prst="rect">
            <a:avLst/>
          </a:prstGeom>
          <a:noFill/>
          <a:ln/>
        </p:spPr>
        <p:txBody>
          <a:bodyPr wrap="square" lIns="0" tIns="0" rIns="0" bIns="0" rtlCol="0" anchor="ctr"/>
          <a:lstStyle/>
          <a:p>
            <a:r>
              <a:rPr lang="en-US" sz="2000" b="1" dirty="0">
                <a:solidFill>
                  <a:srgbClr val="03234B"/>
                </a:solidFill>
                <a:latin typeface="Calibri" pitchFamily="34" charset="0"/>
                <a:ea typeface="Calibri" pitchFamily="34" charset="-122"/>
                <a:cs typeface="Calibri" pitchFamily="34" charset="-120"/>
              </a:rPr>
              <a:t>Outgoing diagnostics— Offset +0x40</a:t>
            </a:r>
            <a:endParaRPr lang="en-US" sz="2000" dirty="0"/>
          </a:p>
        </p:txBody>
      </p:sp>
      <p:graphicFrame>
        <p:nvGraphicFramePr>
          <p:cNvPr id="130" name="Table 0">
            <a:extLst>
              <a:ext uri="{FF2B5EF4-FFF2-40B4-BE49-F238E27FC236}">
                <a16:creationId xmlns:a16="http://schemas.microsoft.com/office/drawing/2014/main" id="{3C8569C3-76E7-E573-6127-E9A858877435}"/>
              </a:ext>
            </a:extLst>
          </p:cNvPr>
          <p:cNvGraphicFramePr>
            <a:graphicFrameLocks noGrp="1"/>
          </p:cNvGraphicFramePr>
          <p:nvPr>
            <p:extLst>
              <p:ext uri="{D42A27DB-BD31-4B8C-83A1-F6EECF244321}">
                <p14:modId xmlns:p14="http://schemas.microsoft.com/office/powerpoint/2010/main" val="224055924"/>
              </p:ext>
            </p:extLst>
          </p:nvPr>
        </p:nvGraphicFramePr>
        <p:xfrm>
          <a:off x="640080" y="1874520"/>
          <a:ext cx="5349240" cy="4445000"/>
        </p:xfrm>
        <a:graphic>
          <a:graphicData uri="http://schemas.openxmlformats.org/drawingml/2006/table">
            <a:tbl>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633549">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ID</a:t>
                      </a:r>
                      <a:endParaRPr lang="en-US" sz="18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03234B"/>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Command</a:t>
                      </a:r>
                      <a:endParaRPr lang="en-US" sz="18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03234B"/>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Description</a:t>
                      </a:r>
                      <a:endParaRPr lang="en-US" sz="18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03234B"/>
                    </a:solidFill>
                  </a:tcPr>
                </a:tc>
                <a:extLst>
                  <a:ext uri="{0D108BD9-81ED-4DB2-BD59-A6C34878D82A}">
                    <a16:rowId xmlns:a16="http://schemas.microsoft.com/office/drawing/2014/main" val="10000"/>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0x33</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EXECUTE_COMMAND</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Status Controls: Motor Start/Stop, Reset, Alignment</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0x37</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SET_RAMP</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Speed Ramp configuration            (Value and Duration)</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0x31 / 0x32</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SET_REG / GET_REG</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latin typeface="Calibri" charset="0"/>
                          <a:ea typeface="Calibri" charset="0"/>
                          <a:cs typeface="Calibri" charset="0"/>
                        </a:rPr>
                        <a:t>Register Write and Read</a:t>
                      </a: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0x3A</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SET_CURRENT_ID_IQ</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Simultaneous setting of Id and </a:t>
                      </a:r>
                      <a:r>
                        <a:rPr lang="en-US" sz="1400" dirty="0" err="1">
                          <a:solidFill>
                            <a:srgbClr val="16212B"/>
                          </a:solidFill>
                          <a:latin typeface="Calibri" pitchFamily="34" charset="0"/>
                          <a:ea typeface="Calibri" pitchFamily="34" charset="-122"/>
                          <a:cs typeface="Calibri" pitchFamily="34" charset="-120"/>
                        </a:rPr>
                        <a:t>Iq</a:t>
                      </a:r>
                      <a:r>
                        <a:rPr lang="en-US" sz="1400" dirty="0">
                          <a:solidFill>
                            <a:srgbClr val="16212B"/>
                          </a:solidFill>
                          <a:latin typeface="Calibri" pitchFamily="34" charset="0"/>
                          <a:ea typeface="Calibri" pitchFamily="34" charset="-122"/>
                          <a:cs typeface="Calibri" pitchFamily="34" charset="-120"/>
                        </a:rPr>
                        <a:t> values</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0x3F / 0x41</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SET_CURRENT_ID / SET_CURRENT_IQ</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Independent setting of Id and </a:t>
                      </a:r>
                      <a:r>
                        <a:rPr lang="en-US" sz="1400" dirty="0" err="1">
                          <a:solidFill>
                            <a:srgbClr val="16212B"/>
                          </a:solidFill>
                          <a:latin typeface="Calibri" pitchFamily="34" charset="0"/>
                          <a:ea typeface="Calibri" pitchFamily="34" charset="-122"/>
                          <a:cs typeface="Calibri" pitchFamily="34" charset="-120"/>
                        </a:rPr>
                        <a:t>Iq</a:t>
                      </a:r>
                      <a:r>
                        <a:rPr lang="en-US" sz="1400" dirty="0">
                          <a:solidFill>
                            <a:srgbClr val="16212B"/>
                          </a:solidFill>
                          <a:latin typeface="Calibri" pitchFamily="34" charset="0"/>
                          <a:ea typeface="Calibri" pitchFamily="34" charset="-122"/>
                          <a:cs typeface="Calibri" pitchFamily="34" charset="-120"/>
                        </a:rPr>
                        <a:t> values</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3706">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0x3E / 0x3F</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SET_ID_RAMP / SET_IQ_RAMP</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Current ramps configuration (Value and Duration)</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132" name="Table 1">
            <a:extLst>
              <a:ext uri="{FF2B5EF4-FFF2-40B4-BE49-F238E27FC236}">
                <a16:creationId xmlns:a16="http://schemas.microsoft.com/office/drawing/2014/main" id="{4F0B3F72-4AE3-7921-376A-82F07BE6036C}"/>
              </a:ext>
            </a:extLst>
          </p:cNvPr>
          <p:cNvGraphicFramePr>
            <a:graphicFrameLocks noGrp="1"/>
          </p:cNvGraphicFramePr>
          <p:nvPr>
            <p:extLst>
              <p:ext uri="{D42A27DB-BD31-4B8C-83A1-F6EECF244321}">
                <p14:modId xmlns:p14="http://schemas.microsoft.com/office/powerpoint/2010/main" val="885875895"/>
              </p:ext>
            </p:extLst>
          </p:nvPr>
        </p:nvGraphicFramePr>
        <p:xfrm>
          <a:off x="6291072" y="1874520"/>
          <a:ext cx="5349240" cy="4434843"/>
        </p:xfrm>
        <a:graphic>
          <a:graphicData uri="http://schemas.openxmlformats.org/drawingml/2006/table">
            <a:tbl>
              <a:tblPr/>
              <a:tblGrid>
                <a:gridCol w="7772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633549">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ID</a:t>
                      </a:r>
                      <a:endParaRPr lang="en-US" sz="18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03234B"/>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Command</a:t>
                      </a:r>
                      <a:endParaRPr lang="en-US" sz="18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03234B"/>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Description</a:t>
                      </a:r>
                      <a:endParaRPr lang="en-US" sz="18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03234B"/>
                    </a:solidFill>
                  </a:tcPr>
                </a:tc>
                <a:extLst>
                  <a:ext uri="{0D108BD9-81ED-4DB2-BD59-A6C34878D82A}">
                    <a16:rowId xmlns:a16="http://schemas.microsoft.com/office/drawing/2014/main" val="10000"/>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0x42</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DIAG_STATE_MC</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Machine status</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0x5A</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DIAG_TEMPERATURE</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Temperature</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0x59</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DIAG_BUS_VOLTAGE_MEAS</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BUS voltage</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0x60 / 0x4C</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DIAG_FLUX_MEAS / DIAG_FLUX_REF</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Measured and reference Id</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0x5F / 0x48</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DIAG_TORQUE_MEAS / DIAG_TORQUE_REF</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Measured and reference </a:t>
                      </a:r>
                      <a:r>
                        <a:rPr lang="en-US" sz="1400" dirty="0" err="1">
                          <a:solidFill>
                            <a:srgbClr val="16212B"/>
                          </a:solidFill>
                          <a:latin typeface="Calibri" pitchFamily="34" charset="0"/>
                          <a:ea typeface="Calibri" pitchFamily="34" charset="-122"/>
                          <a:cs typeface="Calibri" pitchFamily="34" charset="-120"/>
                        </a:rPr>
                        <a:t>Iq</a:t>
                      </a:r>
                      <a:r>
                        <a:rPr lang="en-US" sz="1400" dirty="0">
                          <a:solidFill>
                            <a:srgbClr val="16212B"/>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33549">
                <a:tc>
                  <a:txBody>
                    <a:bodyPr/>
                    <a:lstStyle/>
                    <a:p>
                      <a:pPr marL="0" indent="0" algn="ctr">
                        <a:buNone/>
                      </a:pPr>
                      <a:r>
                        <a:rPr lang="en-US" sz="1400" b="1" dirty="0">
                          <a:solidFill>
                            <a:srgbClr val="03234B"/>
                          </a:solidFill>
                          <a:latin typeface="Calibri" pitchFamily="34" charset="0"/>
                          <a:ea typeface="Calibri" pitchFamily="34" charset="-122"/>
                          <a:cs typeface="Calibri" pitchFamily="34" charset="-120"/>
                        </a:rPr>
                        <a:t>0x5E / 0x44</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6212B"/>
                          </a:solidFill>
                          <a:latin typeface="Calibri" pitchFamily="34" charset="0"/>
                          <a:ea typeface="Calibri" pitchFamily="34" charset="-122"/>
                          <a:cs typeface="Calibri" pitchFamily="34" charset="-120"/>
                        </a:rPr>
                        <a:t>DIAG_SPEED_MEAS / DIAG_SPEED_REF</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12B"/>
                          </a:solidFill>
                          <a:latin typeface="Calibri" pitchFamily="34" charset="0"/>
                          <a:ea typeface="Calibri" pitchFamily="34" charset="-122"/>
                          <a:cs typeface="Calibri" pitchFamily="34" charset="-120"/>
                        </a:rPr>
                        <a:t>Measured and reference Speed</a:t>
                      </a:r>
                      <a:endParaRPr lang="en-US" sz="1400" dirty="0">
                        <a:latin typeface="Calibri" charset="0"/>
                        <a:ea typeface="Calibri" charset="0"/>
                        <a:cs typeface="Calibri" charset="0"/>
                      </a:endParaRPr>
                    </a:p>
                  </a:txBody>
                  <a:tcPr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Text 0">
            <a:extLst>
              <a:ext uri="{FF2B5EF4-FFF2-40B4-BE49-F238E27FC236}">
                <a16:creationId xmlns:a16="http://schemas.microsoft.com/office/drawing/2014/main" id="{7FE8A03F-7518-5A2B-1071-93742B759371}"/>
              </a:ext>
            </a:extLst>
          </p:cNvPr>
          <p:cNvSpPr/>
          <p:nvPr/>
        </p:nvSpPr>
        <p:spPr>
          <a:xfrm>
            <a:off x="10692598" y="206783"/>
            <a:ext cx="9601200" cy="274320"/>
          </a:xfrm>
          <a:prstGeom prst="rect">
            <a:avLst/>
          </a:prstGeom>
          <a:noFill/>
          <a:ln/>
        </p:spPr>
        <p:txBody>
          <a:bodyPr wrap="square" rtlCol="0" anchor="ctr"/>
          <a:lstStyle/>
          <a:p>
            <a:r>
              <a:rPr lang="en-US" sz="1100" b="1" kern="0" spc="200" dirty="0">
                <a:solidFill>
                  <a:srgbClr val="0E7DAD"/>
                </a:solidFill>
                <a:latin typeface="Calibri" pitchFamily="34" charset="0"/>
                <a:ea typeface="Calibri" pitchFamily="34" charset="-122"/>
                <a:cs typeface="Calibri" pitchFamily="34" charset="-120"/>
              </a:rPr>
              <a:t>CAN LIBRARY</a:t>
            </a:r>
            <a:endParaRPr lang="en-US" sz="1100" dirty="0">
              <a:solidFill>
                <a:srgbClr val="0E7DAD"/>
              </a:solidFill>
              <a:latin typeface="Calibri" panose="020F0502020204030204"/>
            </a:endParaRPr>
          </a:p>
        </p:txBody>
      </p:sp>
    </p:spTree>
    <p:extLst>
      <p:ext uri="{BB962C8B-B14F-4D97-AF65-F5344CB8AC3E}">
        <p14:creationId xmlns:p14="http://schemas.microsoft.com/office/powerpoint/2010/main" val="3092854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5FA2-C151-A09D-5B64-AFA8D3BC0B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3F078A-F3C7-250E-E882-EE27F90D6456}"/>
              </a:ext>
            </a:extLst>
          </p:cNvPr>
          <p:cNvSpPr>
            <a:spLocks noGrp="1"/>
          </p:cNvSpPr>
          <p:nvPr>
            <p:ph type="title"/>
          </p:nvPr>
        </p:nvSpPr>
        <p:spPr>
          <a:xfrm>
            <a:off x="2819399" y="419894"/>
            <a:ext cx="9372601" cy="1484312"/>
          </a:xfrm>
        </p:spPr>
        <p:txBody>
          <a:bodyPr/>
          <a:lstStyle/>
          <a:p>
            <a:r>
              <a:rPr lang="en-US" dirty="0"/>
              <a:t>Implemented Changes and Developments</a:t>
            </a:r>
          </a:p>
        </p:txBody>
      </p:sp>
    </p:spTree>
    <p:extLst>
      <p:ext uri="{BB962C8B-B14F-4D97-AF65-F5344CB8AC3E}">
        <p14:creationId xmlns:p14="http://schemas.microsoft.com/office/powerpoint/2010/main" val="3666026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822D-C76B-411B-B2BA-5996CA5BCBEF}"/>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6E8782C7-EC1A-651F-E341-91FF94820FE7}"/>
              </a:ext>
            </a:extLst>
          </p:cNvPr>
          <p:cNvSpPr>
            <a:spLocks noGrp="1"/>
          </p:cNvSpPr>
          <p:nvPr>
            <p:ph type="title"/>
          </p:nvPr>
        </p:nvSpPr>
        <p:spPr/>
        <p:txBody>
          <a:bodyPr/>
          <a:lstStyle/>
          <a:p>
            <a:r>
              <a:rPr lang="en-US" b="1" dirty="0">
                <a:solidFill>
                  <a:srgbClr val="0B2545"/>
                </a:solidFill>
                <a:latin typeface="Cambria" pitchFamily="34" charset="0"/>
                <a:ea typeface="Cambria" pitchFamily="34" charset="-122"/>
                <a:cs typeface="Cambria" pitchFamily="34" charset="-120"/>
              </a:rPr>
              <a:t>Command Handling Refactoring</a:t>
            </a:r>
            <a:endParaRPr lang="it-IT" dirty="0"/>
          </a:p>
        </p:txBody>
      </p:sp>
      <p:sp>
        <p:nvSpPr>
          <p:cNvPr id="6" name="Text 2">
            <a:extLst>
              <a:ext uri="{FF2B5EF4-FFF2-40B4-BE49-F238E27FC236}">
                <a16:creationId xmlns:a16="http://schemas.microsoft.com/office/drawing/2014/main" id="{5FCF68C4-F449-80D7-E130-E605A65CE0B2}"/>
              </a:ext>
            </a:extLst>
          </p:cNvPr>
          <p:cNvSpPr/>
          <p:nvPr/>
        </p:nvSpPr>
        <p:spPr>
          <a:xfrm>
            <a:off x="548640" y="1170432"/>
            <a:ext cx="11064240" cy="457200"/>
          </a:xfrm>
          <a:prstGeom prst="rect">
            <a:avLst/>
          </a:prstGeom>
          <a:noFill/>
          <a:ln/>
        </p:spPr>
        <p:txBody>
          <a:bodyPr wrap="square" lIns="0" tIns="0" rIns="0" bIns="0" rtlCol="0" anchor="ctr"/>
          <a:lstStyle/>
          <a:p>
            <a:pPr>
              <a:lnSpc>
                <a:spcPct val="120000"/>
              </a:lnSpc>
            </a:pPr>
            <a:r>
              <a:rPr lang="en-US" sz="1600" dirty="0">
                <a:solidFill>
                  <a:srgbClr val="5B6B7F"/>
                </a:solidFill>
                <a:latin typeface="Calibri" pitchFamily="34" charset="0"/>
                <a:ea typeface="Calibri" pitchFamily="34" charset="-122"/>
                <a:cs typeface="Calibri" pitchFamily="34" charset="-120"/>
              </a:rPr>
              <a:t>State command execution (EXECUTE_COMMAND) was redesigned to eliminate redundancies and multiple sends on the bus.</a:t>
            </a:r>
            <a:endParaRPr lang="en-US" sz="1600" dirty="0"/>
          </a:p>
        </p:txBody>
      </p:sp>
      <p:sp>
        <p:nvSpPr>
          <p:cNvPr id="8" name="Shape 3">
            <a:extLst>
              <a:ext uri="{FF2B5EF4-FFF2-40B4-BE49-F238E27FC236}">
                <a16:creationId xmlns:a16="http://schemas.microsoft.com/office/drawing/2014/main" id="{F6BB0E9E-8D03-39B4-32DA-9FB81C75F683}"/>
              </a:ext>
            </a:extLst>
          </p:cNvPr>
          <p:cNvSpPr/>
          <p:nvPr/>
        </p:nvSpPr>
        <p:spPr>
          <a:xfrm>
            <a:off x="548640" y="1874520"/>
            <a:ext cx="5349240" cy="2331720"/>
          </a:xfrm>
          <a:prstGeom prst="roundRect">
            <a:avLst>
              <a:gd name="adj" fmla="val 3922"/>
            </a:avLst>
          </a:prstGeom>
          <a:solidFill>
            <a:srgbClr val="FBEEEF"/>
          </a:solidFill>
          <a:ln w="12700">
            <a:solidFill>
              <a:srgbClr val="F0C6CA"/>
            </a:solidFill>
            <a:prstDash val="solid"/>
          </a:ln>
        </p:spPr>
        <p:txBody>
          <a:bodyPr/>
          <a:lstStyle/>
          <a:p>
            <a:endParaRPr lang="it-IT"/>
          </a:p>
        </p:txBody>
      </p:sp>
      <p:sp>
        <p:nvSpPr>
          <p:cNvPr id="10" name="Shape 4">
            <a:extLst>
              <a:ext uri="{FF2B5EF4-FFF2-40B4-BE49-F238E27FC236}">
                <a16:creationId xmlns:a16="http://schemas.microsoft.com/office/drawing/2014/main" id="{B14F9C16-F2F2-DE28-3585-C993A8D8536C}"/>
              </a:ext>
            </a:extLst>
          </p:cNvPr>
          <p:cNvSpPr/>
          <p:nvPr/>
        </p:nvSpPr>
        <p:spPr>
          <a:xfrm>
            <a:off x="777240" y="2130552"/>
            <a:ext cx="329184" cy="329184"/>
          </a:xfrm>
          <a:prstGeom prst="ellipse">
            <a:avLst/>
          </a:prstGeom>
          <a:solidFill>
            <a:srgbClr val="D64550"/>
          </a:solidFill>
          <a:ln/>
        </p:spPr>
        <p:txBody>
          <a:bodyPr/>
          <a:lstStyle/>
          <a:p>
            <a:endParaRPr lang="it-IT"/>
          </a:p>
        </p:txBody>
      </p:sp>
      <p:sp>
        <p:nvSpPr>
          <p:cNvPr id="12" name="Text 5">
            <a:extLst>
              <a:ext uri="{FF2B5EF4-FFF2-40B4-BE49-F238E27FC236}">
                <a16:creationId xmlns:a16="http://schemas.microsoft.com/office/drawing/2014/main" id="{67121EB3-CE75-B609-7EDF-F39E380067A6}"/>
              </a:ext>
            </a:extLst>
          </p:cNvPr>
          <p:cNvSpPr/>
          <p:nvPr/>
        </p:nvSpPr>
        <p:spPr>
          <a:xfrm>
            <a:off x="777240" y="2130552"/>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6">
            <a:extLst>
              <a:ext uri="{FF2B5EF4-FFF2-40B4-BE49-F238E27FC236}">
                <a16:creationId xmlns:a16="http://schemas.microsoft.com/office/drawing/2014/main" id="{87382419-2E46-246A-72B9-5DB2AA0252E4}"/>
              </a:ext>
            </a:extLst>
          </p:cNvPr>
          <p:cNvSpPr/>
          <p:nvPr/>
        </p:nvSpPr>
        <p:spPr>
          <a:xfrm>
            <a:off x="1234440" y="2112264"/>
            <a:ext cx="2743200" cy="365760"/>
          </a:xfrm>
          <a:prstGeom prst="rect">
            <a:avLst/>
          </a:prstGeom>
          <a:noFill/>
          <a:ln/>
        </p:spPr>
        <p:txBody>
          <a:bodyPr wrap="square" lIns="0" tIns="0" rIns="0" bIns="0" rtlCol="0" anchor="ctr"/>
          <a:lstStyle/>
          <a:p>
            <a:r>
              <a:rPr lang="en-US" b="1" dirty="0">
                <a:solidFill>
                  <a:srgbClr val="D64550"/>
                </a:solidFill>
                <a:latin typeface="Cambria" pitchFamily="34" charset="0"/>
                <a:ea typeface="Cambria" pitchFamily="34" charset="-122"/>
                <a:cs typeface="Cambria" pitchFamily="34" charset="-120"/>
              </a:rPr>
              <a:t>BEFORE</a:t>
            </a:r>
            <a:endParaRPr lang="en-US" sz="1800" dirty="0"/>
          </a:p>
        </p:txBody>
      </p:sp>
      <p:sp>
        <p:nvSpPr>
          <p:cNvPr id="16" name="Text 7">
            <a:extLst>
              <a:ext uri="{FF2B5EF4-FFF2-40B4-BE49-F238E27FC236}">
                <a16:creationId xmlns:a16="http://schemas.microsoft.com/office/drawing/2014/main" id="{D59B38AD-C971-D5BD-4F7B-8F28A4B98268}"/>
              </a:ext>
            </a:extLst>
          </p:cNvPr>
          <p:cNvSpPr/>
          <p:nvPr/>
        </p:nvSpPr>
        <p:spPr>
          <a:xfrm>
            <a:off x="822960" y="2651760"/>
            <a:ext cx="4800600" cy="1371600"/>
          </a:xfrm>
          <a:prstGeom prst="rect">
            <a:avLst/>
          </a:prstGeom>
          <a:noFill/>
          <a:ln/>
        </p:spPr>
        <p:txBody>
          <a:bodyPr wrap="square" lIns="0" tIns="0" rIns="0" bIns="0" rtlCol="0" anchor="t"/>
          <a:lstStyle/>
          <a:p>
            <a:pPr marL="0" indent="0">
              <a:lnSpc>
                <a:spcPct val="130000"/>
              </a:lnSpc>
              <a:buNone/>
            </a:pPr>
            <a:r>
              <a:rPr lang="en-US" sz="1600" dirty="0">
                <a:solidFill>
                  <a:srgbClr val="1B1F27"/>
                </a:solidFill>
                <a:latin typeface="Calibri" pitchFamily="34" charset="0"/>
                <a:ea typeface="Calibri" pitchFamily="34" charset="-122"/>
                <a:cs typeface="Calibri" pitchFamily="34" charset="-120"/>
              </a:rPr>
              <a:t>Chain of separate if statements: potential multiple and redundant transmissions on the bus. Each EXECUTE_COMMAND message could attempt to set the machine to both START and STOP.</a:t>
            </a:r>
            <a:endParaRPr lang="en-US" sz="1600" dirty="0"/>
          </a:p>
        </p:txBody>
      </p:sp>
      <p:sp>
        <p:nvSpPr>
          <p:cNvPr id="18" name="Shape 8">
            <a:extLst>
              <a:ext uri="{FF2B5EF4-FFF2-40B4-BE49-F238E27FC236}">
                <a16:creationId xmlns:a16="http://schemas.microsoft.com/office/drawing/2014/main" id="{74A3F41B-6451-6019-FAE3-E00D052B7980}"/>
              </a:ext>
            </a:extLst>
          </p:cNvPr>
          <p:cNvSpPr/>
          <p:nvPr/>
        </p:nvSpPr>
        <p:spPr>
          <a:xfrm>
            <a:off x="6263640" y="1874520"/>
            <a:ext cx="5349240" cy="2331720"/>
          </a:xfrm>
          <a:prstGeom prst="roundRect">
            <a:avLst>
              <a:gd name="adj" fmla="val 3922"/>
            </a:avLst>
          </a:prstGeom>
          <a:solidFill>
            <a:srgbClr val="EAF6F0"/>
          </a:solidFill>
          <a:ln w="12700">
            <a:solidFill>
              <a:srgbClr val="BFE3D3"/>
            </a:solidFill>
            <a:prstDash val="solid"/>
          </a:ln>
        </p:spPr>
        <p:txBody>
          <a:bodyPr/>
          <a:lstStyle/>
          <a:p>
            <a:endParaRPr lang="it-IT"/>
          </a:p>
        </p:txBody>
      </p:sp>
      <p:sp>
        <p:nvSpPr>
          <p:cNvPr id="20" name="Shape 9">
            <a:extLst>
              <a:ext uri="{FF2B5EF4-FFF2-40B4-BE49-F238E27FC236}">
                <a16:creationId xmlns:a16="http://schemas.microsoft.com/office/drawing/2014/main" id="{86A7D54C-F5BA-54E8-D224-75ECC68F5251}"/>
              </a:ext>
            </a:extLst>
          </p:cNvPr>
          <p:cNvSpPr/>
          <p:nvPr/>
        </p:nvSpPr>
        <p:spPr>
          <a:xfrm>
            <a:off x="6492240" y="2130552"/>
            <a:ext cx="329184" cy="329184"/>
          </a:xfrm>
          <a:prstGeom prst="ellipse">
            <a:avLst/>
          </a:prstGeom>
          <a:solidFill>
            <a:srgbClr val="2E9E6E"/>
          </a:solidFill>
          <a:ln/>
        </p:spPr>
        <p:txBody>
          <a:bodyPr/>
          <a:lstStyle/>
          <a:p>
            <a:endParaRPr lang="it-IT"/>
          </a:p>
        </p:txBody>
      </p:sp>
      <p:sp>
        <p:nvSpPr>
          <p:cNvPr id="22" name="Text 10">
            <a:extLst>
              <a:ext uri="{FF2B5EF4-FFF2-40B4-BE49-F238E27FC236}">
                <a16:creationId xmlns:a16="http://schemas.microsoft.com/office/drawing/2014/main" id="{09B4C224-5F1B-1583-CBA4-C486AE1A9829}"/>
              </a:ext>
            </a:extLst>
          </p:cNvPr>
          <p:cNvSpPr/>
          <p:nvPr/>
        </p:nvSpPr>
        <p:spPr>
          <a:xfrm>
            <a:off x="6492240" y="2130552"/>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11">
            <a:extLst>
              <a:ext uri="{FF2B5EF4-FFF2-40B4-BE49-F238E27FC236}">
                <a16:creationId xmlns:a16="http://schemas.microsoft.com/office/drawing/2014/main" id="{26A7BA64-5745-70E9-4F98-CD0FDC0E4F50}"/>
              </a:ext>
            </a:extLst>
          </p:cNvPr>
          <p:cNvSpPr/>
          <p:nvPr/>
        </p:nvSpPr>
        <p:spPr>
          <a:xfrm>
            <a:off x="6949440" y="2112264"/>
            <a:ext cx="2743200" cy="365760"/>
          </a:xfrm>
          <a:prstGeom prst="rect">
            <a:avLst/>
          </a:prstGeom>
          <a:noFill/>
          <a:ln/>
        </p:spPr>
        <p:txBody>
          <a:bodyPr wrap="square" lIns="0" tIns="0" rIns="0" bIns="0" rtlCol="0" anchor="ctr"/>
          <a:lstStyle/>
          <a:p>
            <a:r>
              <a:rPr lang="en-US" b="1">
                <a:solidFill>
                  <a:srgbClr val="2E9E6E"/>
                </a:solidFill>
                <a:latin typeface="Cambria" pitchFamily="34" charset="0"/>
                <a:ea typeface="Cambria" pitchFamily="34" charset="-122"/>
                <a:cs typeface="Cambria" pitchFamily="34" charset="-120"/>
              </a:rPr>
              <a:t>AFTER</a:t>
            </a:r>
            <a:endParaRPr lang="en-US" sz="1800" dirty="0"/>
          </a:p>
        </p:txBody>
      </p:sp>
      <p:sp>
        <p:nvSpPr>
          <p:cNvPr id="26" name="Text 12">
            <a:extLst>
              <a:ext uri="{FF2B5EF4-FFF2-40B4-BE49-F238E27FC236}">
                <a16:creationId xmlns:a16="http://schemas.microsoft.com/office/drawing/2014/main" id="{DD83D462-FEA1-8159-652C-1740D8593C14}"/>
              </a:ext>
            </a:extLst>
          </p:cNvPr>
          <p:cNvSpPr/>
          <p:nvPr/>
        </p:nvSpPr>
        <p:spPr>
          <a:xfrm>
            <a:off x="6537960" y="2651760"/>
            <a:ext cx="4800600" cy="1371600"/>
          </a:xfrm>
          <a:prstGeom prst="rect">
            <a:avLst/>
          </a:prstGeom>
          <a:noFill/>
          <a:ln/>
        </p:spPr>
        <p:txBody>
          <a:bodyPr wrap="square" lIns="0" tIns="0" rIns="0" bIns="0" rtlCol="0" anchor="t"/>
          <a:lstStyle/>
          <a:p>
            <a:pPr>
              <a:lnSpc>
                <a:spcPct val="130000"/>
              </a:lnSpc>
            </a:pPr>
            <a:r>
              <a:rPr lang="en-US" sz="1600" dirty="0">
                <a:solidFill>
                  <a:srgbClr val="1B1F27"/>
                </a:solidFill>
                <a:latin typeface="Calibri" pitchFamily="34" charset="0"/>
                <a:ea typeface="Calibri" pitchFamily="34" charset="-122"/>
                <a:cs typeface="Calibri" pitchFamily="34" charset="-120"/>
              </a:rPr>
              <a:t>Mutually exclusive execution (if – else if): only one valid command at a time, with unambiguous resolution of machine START and STOP.</a:t>
            </a:r>
            <a:endParaRPr lang="en-US" sz="1600" dirty="0"/>
          </a:p>
        </p:txBody>
      </p:sp>
      <p:sp>
        <p:nvSpPr>
          <p:cNvPr id="28" name="Shape 13">
            <a:extLst>
              <a:ext uri="{FF2B5EF4-FFF2-40B4-BE49-F238E27FC236}">
                <a16:creationId xmlns:a16="http://schemas.microsoft.com/office/drawing/2014/main" id="{789AE032-0137-9AE9-E841-C40455D49970}"/>
              </a:ext>
            </a:extLst>
          </p:cNvPr>
          <p:cNvSpPr/>
          <p:nvPr/>
        </p:nvSpPr>
        <p:spPr>
          <a:xfrm>
            <a:off x="548640" y="4526280"/>
            <a:ext cx="11064240" cy="1600200"/>
          </a:xfrm>
          <a:prstGeom prst="roundRect">
            <a:avLst>
              <a:gd name="adj" fmla="val 5714"/>
            </a:avLst>
          </a:prstGeom>
          <a:solidFill>
            <a:srgbClr val="0B2545"/>
          </a:solidFill>
          <a:ln/>
        </p:spPr>
        <p:txBody>
          <a:bodyPr/>
          <a:lstStyle/>
          <a:p>
            <a:endParaRPr lang="it-IT"/>
          </a:p>
        </p:txBody>
      </p:sp>
      <p:sp>
        <p:nvSpPr>
          <p:cNvPr id="30" name="Text 14">
            <a:extLst>
              <a:ext uri="{FF2B5EF4-FFF2-40B4-BE49-F238E27FC236}">
                <a16:creationId xmlns:a16="http://schemas.microsoft.com/office/drawing/2014/main" id="{FBB875F3-5B8E-5DEE-EA0B-BD5FED46A984}"/>
              </a:ext>
            </a:extLst>
          </p:cNvPr>
          <p:cNvSpPr/>
          <p:nvPr/>
        </p:nvSpPr>
        <p:spPr>
          <a:xfrm>
            <a:off x="868680" y="4727448"/>
            <a:ext cx="54864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Flags Evaluated by the System</a:t>
            </a:r>
            <a:endParaRPr lang="en-US" sz="1900" dirty="0"/>
          </a:p>
        </p:txBody>
      </p:sp>
      <p:sp>
        <p:nvSpPr>
          <p:cNvPr id="32" name="Text 15">
            <a:extLst>
              <a:ext uri="{FF2B5EF4-FFF2-40B4-BE49-F238E27FC236}">
                <a16:creationId xmlns:a16="http://schemas.microsoft.com/office/drawing/2014/main" id="{7766F156-5B6E-C09A-9FBC-531684A70CDD}"/>
              </a:ext>
            </a:extLst>
          </p:cNvPr>
          <p:cNvSpPr/>
          <p:nvPr/>
        </p:nvSpPr>
        <p:spPr>
          <a:xfrm>
            <a:off x="868680" y="5176141"/>
            <a:ext cx="4846320" cy="914400"/>
          </a:xfrm>
          <a:prstGeom prst="rect">
            <a:avLst/>
          </a:prstGeom>
          <a:noFill/>
          <a:ln/>
        </p:spPr>
        <p:txBody>
          <a:bodyPr wrap="square" lIns="0" tIns="0" rIns="0" bIns="0" rtlCol="0" anchor="t"/>
          <a:lstStyle/>
          <a:p>
            <a:pPr>
              <a:lnSpc>
                <a:spcPct val="130000"/>
              </a:lnSpc>
            </a:pPr>
            <a:r>
              <a:rPr lang="en-US" sz="1400" dirty="0">
                <a:solidFill>
                  <a:srgbClr val="D7E4F2"/>
                </a:solidFill>
                <a:latin typeface="Calibri" pitchFamily="34" charset="0"/>
                <a:ea typeface="Calibri" pitchFamily="34" charset="-122"/>
                <a:cs typeface="Calibri" pitchFamily="34" charset="-120"/>
              </a:rPr>
              <a:t>The system evaluates the flags received from the bank and sets the MC_PROTOCOL_CMD_* code corresponding to the selected command.</a:t>
            </a:r>
            <a:endParaRPr lang="en-US" sz="1400" dirty="0"/>
          </a:p>
        </p:txBody>
      </p:sp>
      <p:sp>
        <p:nvSpPr>
          <p:cNvPr id="34" name="Shape 16">
            <a:extLst>
              <a:ext uri="{FF2B5EF4-FFF2-40B4-BE49-F238E27FC236}">
                <a16:creationId xmlns:a16="http://schemas.microsoft.com/office/drawing/2014/main" id="{6B58884D-57FC-E628-D869-82512251BEEC}"/>
              </a:ext>
            </a:extLst>
          </p:cNvPr>
          <p:cNvSpPr/>
          <p:nvPr/>
        </p:nvSpPr>
        <p:spPr>
          <a:xfrm>
            <a:off x="6309360" y="4846320"/>
            <a:ext cx="4480560" cy="960120"/>
          </a:xfrm>
          <a:prstGeom prst="roundRect">
            <a:avLst>
              <a:gd name="adj" fmla="val 7619"/>
            </a:avLst>
          </a:prstGeom>
          <a:solidFill>
            <a:srgbClr val="071A33"/>
          </a:solidFill>
          <a:ln w="12700">
            <a:solidFill>
              <a:srgbClr val="1C3B66"/>
            </a:solidFill>
            <a:prstDash val="solid"/>
          </a:ln>
        </p:spPr>
        <p:txBody>
          <a:bodyPr/>
          <a:lstStyle/>
          <a:p>
            <a:endParaRPr lang="it-IT"/>
          </a:p>
        </p:txBody>
      </p:sp>
      <p:sp>
        <p:nvSpPr>
          <p:cNvPr id="36" name="Text 17">
            <a:extLst>
              <a:ext uri="{FF2B5EF4-FFF2-40B4-BE49-F238E27FC236}">
                <a16:creationId xmlns:a16="http://schemas.microsoft.com/office/drawing/2014/main" id="{F745CB83-5BFF-6702-125E-2D1772E2522F}"/>
              </a:ext>
            </a:extLst>
          </p:cNvPr>
          <p:cNvSpPr/>
          <p:nvPr/>
        </p:nvSpPr>
        <p:spPr>
          <a:xfrm>
            <a:off x="6537960" y="4956048"/>
            <a:ext cx="4023360" cy="320040"/>
          </a:xfrm>
          <a:prstGeom prst="rect">
            <a:avLst/>
          </a:prstGeom>
          <a:noFill/>
          <a:ln/>
        </p:spPr>
        <p:txBody>
          <a:bodyPr wrap="square" lIns="0" tIns="0" rIns="0" bIns="0" rtlCol="0" anchor="ctr"/>
          <a:lstStyle/>
          <a:p>
            <a:pPr marL="0" indent="0">
              <a:buNone/>
            </a:pPr>
            <a:r>
              <a:rPr lang="en-US" sz="1300" b="1" dirty="0">
                <a:solidFill>
                  <a:srgbClr val="00B4D8"/>
                </a:solidFill>
                <a:latin typeface="Consolas" pitchFamily="34" charset="0"/>
                <a:ea typeface="Consolas" pitchFamily="34" charset="-122"/>
                <a:cs typeface="Consolas" pitchFamily="34" charset="-120"/>
              </a:rPr>
              <a:t>validCommand = true</a:t>
            </a:r>
            <a:endParaRPr lang="en-US" sz="1300" dirty="0"/>
          </a:p>
        </p:txBody>
      </p:sp>
      <p:sp>
        <p:nvSpPr>
          <p:cNvPr id="38" name="Text 18">
            <a:extLst>
              <a:ext uri="{FF2B5EF4-FFF2-40B4-BE49-F238E27FC236}">
                <a16:creationId xmlns:a16="http://schemas.microsoft.com/office/drawing/2014/main" id="{42C0212B-C61D-12A2-2BD2-2DF1A603AC2E}"/>
              </a:ext>
            </a:extLst>
          </p:cNvPr>
          <p:cNvSpPr/>
          <p:nvPr/>
        </p:nvSpPr>
        <p:spPr>
          <a:xfrm>
            <a:off x="6537960" y="5349240"/>
            <a:ext cx="4023360" cy="365760"/>
          </a:xfrm>
          <a:prstGeom prst="rect">
            <a:avLst/>
          </a:prstGeom>
          <a:noFill/>
          <a:ln/>
        </p:spPr>
        <p:txBody>
          <a:bodyPr wrap="square" lIns="0" tIns="0" rIns="0" bIns="0" rtlCol="0" anchor="ctr"/>
          <a:lstStyle/>
          <a:p>
            <a:r>
              <a:rPr lang="en-US" sz="1150" dirty="0">
                <a:solidFill>
                  <a:srgbClr val="8DA9C4"/>
                </a:solidFill>
                <a:latin typeface="Calibri" pitchFamily="34" charset="0"/>
                <a:ea typeface="Calibri" pitchFamily="34" charset="-122"/>
                <a:cs typeface="Calibri" pitchFamily="34" charset="-120"/>
              </a:rPr>
              <a:t>set for only one flag at a time</a:t>
            </a:r>
            <a:endParaRPr lang="en-US" sz="1150" dirty="0"/>
          </a:p>
        </p:txBody>
      </p:sp>
      <p:sp>
        <p:nvSpPr>
          <p:cNvPr id="5" name="Text 0">
            <a:extLst>
              <a:ext uri="{FF2B5EF4-FFF2-40B4-BE49-F238E27FC236}">
                <a16:creationId xmlns:a16="http://schemas.microsoft.com/office/drawing/2014/main" id="{245D9D3D-75E9-F56D-87F6-08F5EBF1B33A}"/>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416695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8499-6483-E87E-7995-557B1BCF9B4E}"/>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819A2854-1319-04E5-A806-53467AD884C8}"/>
              </a:ext>
            </a:extLst>
          </p:cNvPr>
          <p:cNvSpPr>
            <a:spLocks noGrp="1"/>
          </p:cNvSpPr>
          <p:nvPr>
            <p:ph type="title"/>
          </p:nvPr>
        </p:nvSpPr>
        <p:spPr/>
        <p:txBody>
          <a:bodyPr/>
          <a:lstStyle/>
          <a:p>
            <a:r>
              <a:rPr lang="en-US" b="1" dirty="0">
                <a:solidFill>
                  <a:srgbClr val="0B2545"/>
                </a:solidFill>
                <a:latin typeface="Cambria" pitchFamily="34" charset="0"/>
                <a:ea typeface="Cambria" pitchFamily="34" charset="-122"/>
                <a:cs typeface="Cambria" pitchFamily="34" charset="-120"/>
              </a:rPr>
              <a:t>Code comparison — EXECUTE_COMMAND</a:t>
            </a:r>
            <a:endParaRPr lang="it-IT" dirty="0"/>
          </a:p>
        </p:txBody>
      </p:sp>
      <p:sp>
        <p:nvSpPr>
          <p:cNvPr id="124" name="Shape 2">
            <a:extLst>
              <a:ext uri="{FF2B5EF4-FFF2-40B4-BE49-F238E27FC236}">
                <a16:creationId xmlns:a16="http://schemas.microsoft.com/office/drawing/2014/main" id="{FC829DD5-7A70-9359-E1DA-0D42E1C14F62}"/>
              </a:ext>
            </a:extLst>
          </p:cNvPr>
          <p:cNvSpPr/>
          <p:nvPr/>
        </p:nvSpPr>
        <p:spPr>
          <a:xfrm>
            <a:off x="548640" y="1325880"/>
            <a:ext cx="5349240" cy="4914900"/>
          </a:xfrm>
          <a:prstGeom prst="roundRect">
            <a:avLst>
              <a:gd name="adj" fmla="val 1818"/>
            </a:avLst>
          </a:prstGeom>
          <a:solidFill>
            <a:srgbClr val="071A33"/>
          </a:solidFill>
          <a:ln/>
          <a:effectLst>
            <a:outerShdw blurRad="101600" dist="25400" dir="5400000" algn="bl" rotWithShape="0">
              <a:srgbClr val="000000">
                <a:alpha val="20000"/>
              </a:srgbClr>
            </a:outerShdw>
          </a:effectLst>
        </p:spPr>
        <p:txBody>
          <a:bodyPr/>
          <a:lstStyle/>
          <a:p>
            <a:endParaRPr lang="it-IT" sz="1200"/>
          </a:p>
        </p:txBody>
      </p:sp>
      <p:sp>
        <p:nvSpPr>
          <p:cNvPr id="126" name="Shape 3">
            <a:extLst>
              <a:ext uri="{FF2B5EF4-FFF2-40B4-BE49-F238E27FC236}">
                <a16:creationId xmlns:a16="http://schemas.microsoft.com/office/drawing/2014/main" id="{AEE68B85-629D-A428-896E-1B9C42D45696}"/>
              </a:ext>
            </a:extLst>
          </p:cNvPr>
          <p:cNvSpPr/>
          <p:nvPr/>
        </p:nvSpPr>
        <p:spPr>
          <a:xfrm>
            <a:off x="548640" y="1325880"/>
            <a:ext cx="5349240" cy="384048"/>
          </a:xfrm>
          <a:prstGeom prst="rect">
            <a:avLst/>
          </a:prstGeom>
          <a:solidFill>
            <a:srgbClr val="D64550"/>
          </a:solidFill>
          <a:ln/>
        </p:spPr>
        <p:txBody>
          <a:bodyPr/>
          <a:lstStyle/>
          <a:p>
            <a:endParaRPr lang="it-IT" sz="1200"/>
          </a:p>
        </p:txBody>
      </p:sp>
      <p:sp>
        <p:nvSpPr>
          <p:cNvPr id="128" name="Shape 28">
            <a:extLst>
              <a:ext uri="{FF2B5EF4-FFF2-40B4-BE49-F238E27FC236}">
                <a16:creationId xmlns:a16="http://schemas.microsoft.com/office/drawing/2014/main" id="{F6ADDD69-98E9-C047-7DB0-34DB081F11C4}"/>
              </a:ext>
            </a:extLst>
          </p:cNvPr>
          <p:cNvSpPr/>
          <p:nvPr/>
        </p:nvSpPr>
        <p:spPr>
          <a:xfrm>
            <a:off x="6263640" y="1325880"/>
            <a:ext cx="5349240" cy="4914900"/>
          </a:xfrm>
          <a:prstGeom prst="roundRect">
            <a:avLst>
              <a:gd name="adj" fmla="val 1818"/>
            </a:avLst>
          </a:prstGeom>
          <a:solidFill>
            <a:srgbClr val="071A33"/>
          </a:solidFill>
          <a:ln/>
          <a:effectLst>
            <a:outerShdw blurRad="101600" dist="25400" dir="5400000" algn="bl" rotWithShape="0">
              <a:srgbClr val="000000">
                <a:alpha val="20000"/>
              </a:srgbClr>
            </a:outerShdw>
          </a:effectLst>
        </p:spPr>
        <p:txBody>
          <a:bodyPr/>
          <a:lstStyle/>
          <a:p>
            <a:endParaRPr lang="it-IT" sz="1200"/>
          </a:p>
        </p:txBody>
      </p:sp>
      <p:sp>
        <p:nvSpPr>
          <p:cNvPr id="130" name="Shape 29">
            <a:extLst>
              <a:ext uri="{FF2B5EF4-FFF2-40B4-BE49-F238E27FC236}">
                <a16:creationId xmlns:a16="http://schemas.microsoft.com/office/drawing/2014/main" id="{E9FD3444-E6B6-8DE2-992D-84711CE36866}"/>
              </a:ext>
            </a:extLst>
          </p:cNvPr>
          <p:cNvSpPr/>
          <p:nvPr/>
        </p:nvSpPr>
        <p:spPr>
          <a:xfrm>
            <a:off x="6263640" y="1325880"/>
            <a:ext cx="5349240" cy="384048"/>
          </a:xfrm>
          <a:prstGeom prst="rect">
            <a:avLst/>
          </a:prstGeom>
          <a:solidFill>
            <a:srgbClr val="2E9E6E"/>
          </a:solidFill>
          <a:ln/>
        </p:spPr>
        <p:txBody>
          <a:bodyPr/>
          <a:lstStyle/>
          <a:p>
            <a:endParaRPr lang="it-IT" sz="1200"/>
          </a:p>
        </p:txBody>
      </p:sp>
      <p:sp>
        <p:nvSpPr>
          <p:cNvPr id="132" name="Text 4">
            <a:extLst>
              <a:ext uri="{FF2B5EF4-FFF2-40B4-BE49-F238E27FC236}">
                <a16:creationId xmlns:a16="http://schemas.microsoft.com/office/drawing/2014/main" id="{C82DD95E-3E61-991B-E32C-5727A2D9A05C}"/>
              </a:ext>
            </a:extLst>
          </p:cNvPr>
          <p:cNvSpPr/>
          <p:nvPr/>
        </p:nvSpPr>
        <p:spPr>
          <a:xfrm>
            <a:off x="777240" y="1325880"/>
            <a:ext cx="2743200" cy="38404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BEFORE</a:t>
            </a:r>
            <a:endParaRPr lang="en-US" sz="1200" dirty="0"/>
          </a:p>
        </p:txBody>
      </p:sp>
      <p:sp>
        <p:nvSpPr>
          <p:cNvPr id="134" name="Text 30">
            <a:extLst>
              <a:ext uri="{FF2B5EF4-FFF2-40B4-BE49-F238E27FC236}">
                <a16:creationId xmlns:a16="http://schemas.microsoft.com/office/drawing/2014/main" id="{56200785-8EB4-8BAE-D4E3-A7255EA94507}"/>
              </a:ext>
            </a:extLst>
          </p:cNvPr>
          <p:cNvSpPr/>
          <p:nvPr/>
        </p:nvSpPr>
        <p:spPr>
          <a:xfrm>
            <a:off x="6492240" y="1325880"/>
            <a:ext cx="2743200" cy="38404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AFTER</a:t>
            </a:r>
            <a:endParaRPr lang="en-US" sz="1200" dirty="0"/>
          </a:p>
        </p:txBody>
      </p:sp>
      <p:sp>
        <p:nvSpPr>
          <p:cNvPr id="136" name="Text 5">
            <a:extLst>
              <a:ext uri="{FF2B5EF4-FFF2-40B4-BE49-F238E27FC236}">
                <a16:creationId xmlns:a16="http://schemas.microsoft.com/office/drawing/2014/main" id="{5A988A12-F86A-798D-166F-64B322040B14}"/>
              </a:ext>
            </a:extLst>
          </p:cNvPr>
          <p:cNvSpPr/>
          <p:nvPr/>
        </p:nvSpPr>
        <p:spPr>
          <a:xfrm>
            <a:off x="6492240" y="1856232"/>
            <a:ext cx="4892040" cy="189281"/>
          </a:xfrm>
          <a:prstGeom prst="rect">
            <a:avLst/>
          </a:prstGeom>
          <a:noFill/>
          <a:ln/>
        </p:spPr>
        <p:txBody>
          <a:bodyPr wrap="square" lIns="0" tIns="0" rIns="0" bIns="0" rtlCol="0" anchor="ctr"/>
          <a:lstStyle/>
          <a:p>
            <a:pPr marL="0" indent="0">
              <a:buNone/>
            </a:pPr>
            <a:r>
              <a:rPr lang="en-US" sz="1200" dirty="0">
                <a:solidFill>
                  <a:srgbClr val="F2C879"/>
                </a:solidFill>
                <a:latin typeface="Consolas" pitchFamily="34" charset="0"/>
                <a:ea typeface="Consolas" pitchFamily="34" charset="-122"/>
                <a:cs typeface="Consolas" pitchFamily="34" charset="-120"/>
              </a:rPr>
              <a:t>case EXECUTE_COMMAND:</a:t>
            </a:r>
            <a:endParaRPr lang="en-US" sz="1200" dirty="0"/>
          </a:p>
        </p:txBody>
      </p:sp>
      <p:sp>
        <p:nvSpPr>
          <p:cNvPr id="138" name="Text 6">
            <a:extLst>
              <a:ext uri="{FF2B5EF4-FFF2-40B4-BE49-F238E27FC236}">
                <a16:creationId xmlns:a16="http://schemas.microsoft.com/office/drawing/2014/main" id="{11499BC7-7F6F-2CA8-A634-148AD2D00B69}"/>
              </a:ext>
            </a:extLst>
          </p:cNvPr>
          <p:cNvSpPr/>
          <p:nvPr/>
        </p:nvSpPr>
        <p:spPr>
          <a:xfrm>
            <a:off x="6492240" y="2045513"/>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bool validCommand = true;</a:t>
            </a:r>
            <a:endParaRPr lang="en-US" sz="1200" dirty="0"/>
          </a:p>
        </p:txBody>
      </p:sp>
      <p:sp>
        <p:nvSpPr>
          <p:cNvPr id="140" name="Text 7">
            <a:extLst>
              <a:ext uri="{FF2B5EF4-FFF2-40B4-BE49-F238E27FC236}">
                <a16:creationId xmlns:a16="http://schemas.microsoft.com/office/drawing/2014/main" id="{84AA5EDF-F0EC-505C-3F8E-DCD645D47690}"/>
              </a:ext>
            </a:extLst>
          </p:cNvPr>
          <p:cNvSpPr/>
          <p:nvPr/>
        </p:nvSpPr>
        <p:spPr>
          <a:xfrm>
            <a:off x="6492240" y="2234794"/>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msg[0] = MC_PROTOCOL_CODE_EXECUTE_CMD;</a:t>
            </a:r>
            <a:endParaRPr lang="en-US" sz="1200" dirty="0"/>
          </a:p>
        </p:txBody>
      </p:sp>
      <p:sp>
        <p:nvSpPr>
          <p:cNvPr id="142" name="Text 8">
            <a:extLst>
              <a:ext uri="{FF2B5EF4-FFF2-40B4-BE49-F238E27FC236}">
                <a16:creationId xmlns:a16="http://schemas.microsoft.com/office/drawing/2014/main" id="{50D2EA7E-FA8C-A3B0-16E4-45519BC541C6}"/>
              </a:ext>
            </a:extLst>
          </p:cNvPr>
          <p:cNvSpPr/>
          <p:nvPr/>
        </p:nvSpPr>
        <p:spPr>
          <a:xfrm>
            <a:off x="6492240" y="2424074"/>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msg[1] = 0x1;</a:t>
            </a:r>
            <a:endParaRPr lang="en-US" sz="1200" dirty="0"/>
          </a:p>
        </p:txBody>
      </p:sp>
      <p:sp>
        <p:nvSpPr>
          <p:cNvPr id="144" name="Text 9">
            <a:extLst>
              <a:ext uri="{FF2B5EF4-FFF2-40B4-BE49-F238E27FC236}">
                <a16:creationId xmlns:a16="http://schemas.microsoft.com/office/drawing/2014/main" id="{E963D2F0-BB3C-0F5A-B900-3B76166392D6}"/>
              </a:ext>
            </a:extLst>
          </p:cNvPr>
          <p:cNvSpPr/>
          <p:nvPr/>
        </p:nvSpPr>
        <p:spPr>
          <a:xfrm>
            <a:off x="6492240" y="2613355"/>
            <a:ext cx="4892040" cy="189281"/>
          </a:xfrm>
          <a:prstGeom prst="rect">
            <a:avLst/>
          </a:prstGeom>
          <a:noFill/>
          <a:ln/>
        </p:spPr>
        <p:txBody>
          <a:bodyPr wrap="square" lIns="0" tIns="0" rIns="0" bIns="0" rtlCol="0" anchor="ctr"/>
          <a:lstStyle/>
          <a:p>
            <a:pPr marL="0" indent="0">
              <a:buNone/>
            </a:pPr>
            <a:endParaRPr lang="en-US" sz="1200" dirty="0"/>
          </a:p>
        </p:txBody>
      </p:sp>
      <p:sp>
        <p:nvSpPr>
          <p:cNvPr id="146" name="Text 10">
            <a:extLst>
              <a:ext uri="{FF2B5EF4-FFF2-40B4-BE49-F238E27FC236}">
                <a16:creationId xmlns:a16="http://schemas.microsoft.com/office/drawing/2014/main" id="{6A4C7AA7-A080-5735-F23A-879C13EC03B4}"/>
              </a:ext>
            </a:extLst>
          </p:cNvPr>
          <p:cNvSpPr/>
          <p:nvPr/>
        </p:nvSpPr>
        <p:spPr>
          <a:xfrm>
            <a:off x="6492240" y="2802636"/>
            <a:ext cx="4892040" cy="189281"/>
          </a:xfrm>
          <a:prstGeom prst="rect">
            <a:avLst/>
          </a:prstGeom>
          <a:noFill/>
          <a:ln/>
        </p:spPr>
        <p:txBody>
          <a:bodyPr wrap="square" lIns="0" tIns="0" rIns="0" bIns="0" rtlCol="0" anchor="ctr"/>
          <a:lstStyle/>
          <a:p>
            <a:pPr marL="0" indent="0">
              <a:buNone/>
            </a:pPr>
            <a:r>
              <a:rPr lang="en-US" sz="1200" dirty="0">
                <a:solidFill>
                  <a:srgbClr val="F2C879"/>
                </a:solidFill>
                <a:latin typeface="Consolas" pitchFamily="34" charset="0"/>
                <a:ea typeface="Consolas" pitchFamily="34" charset="-122"/>
                <a:cs typeface="Consolas" pitchFamily="34" charset="-120"/>
              </a:rPr>
              <a:t>  if (RxArr[0] &amp; EXE_START_MOTOR) {</a:t>
            </a:r>
            <a:endParaRPr lang="en-US" sz="1200" dirty="0"/>
          </a:p>
        </p:txBody>
      </p:sp>
      <p:sp>
        <p:nvSpPr>
          <p:cNvPr id="148" name="Text 11">
            <a:extLst>
              <a:ext uri="{FF2B5EF4-FFF2-40B4-BE49-F238E27FC236}">
                <a16:creationId xmlns:a16="http://schemas.microsoft.com/office/drawing/2014/main" id="{5F00B7A1-DF20-F7F4-BC81-8F33079CDC1B}"/>
              </a:ext>
            </a:extLst>
          </p:cNvPr>
          <p:cNvSpPr/>
          <p:nvPr/>
        </p:nvSpPr>
        <p:spPr>
          <a:xfrm>
            <a:off x="6492240" y="2991917"/>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msg[2] = MC_PROTOCOL_CMD_START_MOTOR;</a:t>
            </a:r>
            <a:endParaRPr lang="en-US" sz="1200" dirty="0"/>
          </a:p>
        </p:txBody>
      </p:sp>
      <p:sp>
        <p:nvSpPr>
          <p:cNvPr id="150" name="Text 12">
            <a:extLst>
              <a:ext uri="{FF2B5EF4-FFF2-40B4-BE49-F238E27FC236}">
                <a16:creationId xmlns:a16="http://schemas.microsoft.com/office/drawing/2014/main" id="{E259AB81-D349-D9D3-A6AF-2F7D0786B229}"/>
              </a:ext>
            </a:extLst>
          </p:cNvPr>
          <p:cNvSpPr/>
          <p:nvPr/>
        </p:nvSpPr>
        <p:spPr>
          <a:xfrm>
            <a:off x="6492240" y="3181198"/>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52" name="Text 13">
            <a:extLst>
              <a:ext uri="{FF2B5EF4-FFF2-40B4-BE49-F238E27FC236}">
                <a16:creationId xmlns:a16="http://schemas.microsoft.com/office/drawing/2014/main" id="{F69C78CA-FF3C-FAC1-F815-E9CB9501DB6F}"/>
              </a:ext>
            </a:extLst>
          </p:cNvPr>
          <p:cNvSpPr/>
          <p:nvPr/>
        </p:nvSpPr>
        <p:spPr>
          <a:xfrm>
            <a:off x="6492240" y="3370478"/>
            <a:ext cx="4892040" cy="189281"/>
          </a:xfrm>
          <a:prstGeom prst="rect">
            <a:avLst/>
          </a:prstGeom>
          <a:noFill/>
          <a:ln/>
        </p:spPr>
        <p:txBody>
          <a:bodyPr wrap="square" lIns="0" tIns="0" rIns="0" bIns="0" rtlCol="0" anchor="ctr"/>
          <a:lstStyle/>
          <a:p>
            <a:pPr marL="0" indent="0">
              <a:buNone/>
            </a:pPr>
            <a:r>
              <a:rPr lang="en-US" sz="1200" dirty="0">
                <a:solidFill>
                  <a:srgbClr val="F2C879"/>
                </a:solidFill>
                <a:latin typeface="Consolas" pitchFamily="34" charset="0"/>
                <a:ea typeface="Consolas" pitchFamily="34" charset="-122"/>
                <a:cs typeface="Consolas" pitchFamily="34" charset="-120"/>
              </a:rPr>
              <a:t>  else if (!(RxArr[0] &amp; EXE_START_MOTOR)) {</a:t>
            </a:r>
            <a:endParaRPr lang="en-US" sz="1200" dirty="0"/>
          </a:p>
        </p:txBody>
      </p:sp>
      <p:sp>
        <p:nvSpPr>
          <p:cNvPr id="154" name="Text 14">
            <a:extLst>
              <a:ext uri="{FF2B5EF4-FFF2-40B4-BE49-F238E27FC236}">
                <a16:creationId xmlns:a16="http://schemas.microsoft.com/office/drawing/2014/main" id="{976C08B6-8926-988B-8370-1594EF74945C}"/>
              </a:ext>
            </a:extLst>
          </p:cNvPr>
          <p:cNvSpPr/>
          <p:nvPr/>
        </p:nvSpPr>
        <p:spPr>
          <a:xfrm>
            <a:off x="6492240" y="3559759"/>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msg[2] = MC_PROTOCOL_CMD_STOP_MOTOR;</a:t>
            </a:r>
            <a:endParaRPr lang="en-US" sz="1200" dirty="0"/>
          </a:p>
        </p:txBody>
      </p:sp>
      <p:sp>
        <p:nvSpPr>
          <p:cNvPr id="156" name="Text 15">
            <a:extLst>
              <a:ext uri="{FF2B5EF4-FFF2-40B4-BE49-F238E27FC236}">
                <a16:creationId xmlns:a16="http://schemas.microsoft.com/office/drawing/2014/main" id="{6FA027C8-78AF-BE3A-8483-55FC5D3E1F94}"/>
              </a:ext>
            </a:extLst>
          </p:cNvPr>
          <p:cNvSpPr/>
          <p:nvPr/>
        </p:nvSpPr>
        <p:spPr>
          <a:xfrm>
            <a:off x="6492240" y="3749040"/>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58" name="Text 16">
            <a:extLst>
              <a:ext uri="{FF2B5EF4-FFF2-40B4-BE49-F238E27FC236}">
                <a16:creationId xmlns:a16="http://schemas.microsoft.com/office/drawing/2014/main" id="{4923CB23-7817-3C0C-E2A1-5BFB398FD33C}"/>
              </a:ext>
            </a:extLst>
          </p:cNvPr>
          <p:cNvSpPr/>
          <p:nvPr/>
        </p:nvSpPr>
        <p:spPr>
          <a:xfrm>
            <a:off x="6492240" y="3938321"/>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60" name="Text 17">
            <a:extLst>
              <a:ext uri="{FF2B5EF4-FFF2-40B4-BE49-F238E27FC236}">
                <a16:creationId xmlns:a16="http://schemas.microsoft.com/office/drawing/2014/main" id="{8992D5F5-0073-736D-5AC0-793B838CA43B}"/>
              </a:ext>
            </a:extLst>
          </p:cNvPr>
          <p:cNvSpPr/>
          <p:nvPr/>
        </p:nvSpPr>
        <p:spPr>
          <a:xfrm>
            <a:off x="6492240" y="4127602"/>
            <a:ext cx="4892040" cy="189281"/>
          </a:xfrm>
          <a:prstGeom prst="rect">
            <a:avLst/>
          </a:prstGeom>
          <a:noFill/>
          <a:ln/>
        </p:spPr>
        <p:txBody>
          <a:bodyPr wrap="square" lIns="0" tIns="0" rIns="0" bIns="0" rtlCol="0" anchor="ctr"/>
          <a:lstStyle/>
          <a:p>
            <a:pPr marL="0" indent="0">
              <a:buNone/>
            </a:pPr>
            <a:r>
              <a:rPr lang="en-US" sz="1200" dirty="0">
                <a:solidFill>
                  <a:srgbClr val="F2C879"/>
                </a:solidFill>
                <a:latin typeface="Consolas" pitchFamily="34" charset="0"/>
                <a:ea typeface="Consolas" pitchFamily="34" charset="-122"/>
                <a:cs typeface="Consolas" pitchFamily="34" charset="-120"/>
              </a:rPr>
              <a:t>  else {</a:t>
            </a:r>
            <a:endParaRPr lang="en-US" sz="1200" dirty="0"/>
          </a:p>
        </p:txBody>
      </p:sp>
      <p:sp>
        <p:nvSpPr>
          <p:cNvPr id="162" name="Text 18">
            <a:extLst>
              <a:ext uri="{FF2B5EF4-FFF2-40B4-BE49-F238E27FC236}">
                <a16:creationId xmlns:a16="http://schemas.microsoft.com/office/drawing/2014/main" id="{05D2BE5C-A2B1-747A-4613-FA7B0A5267BB}"/>
              </a:ext>
            </a:extLst>
          </p:cNvPr>
          <p:cNvSpPr/>
          <p:nvPr/>
        </p:nvSpPr>
        <p:spPr>
          <a:xfrm>
            <a:off x="6492240" y="4316882"/>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validCommand = false;</a:t>
            </a:r>
            <a:endParaRPr lang="en-US" sz="1200" dirty="0"/>
          </a:p>
        </p:txBody>
      </p:sp>
      <p:sp>
        <p:nvSpPr>
          <p:cNvPr id="164" name="Text 19">
            <a:extLst>
              <a:ext uri="{FF2B5EF4-FFF2-40B4-BE49-F238E27FC236}">
                <a16:creationId xmlns:a16="http://schemas.microsoft.com/office/drawing/2014/main" id="{4C89805F-6C81-7A87-A7F8-F85C54CCAC4A}"/>
              </a:ext>
            </a:extLst>
          </p:cNvPr>
          <p:cNvSpPr/>
          <p:nvPr/>
        </p:nvSpPr>
        <p:spPr>
          <a:xfrm>
            <a:off x="6492240" y="4506163"/>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66" name="Text 20">
            <a:extLst>
              <a:ext uri="{FF2B5EF4-FFF2-40B4-BE49-F238E27FC236}">
                <a16:creationId xmlns:a16="http://schemas.microsoft.com/office/drawing/2014/main" id="{8F642104-5870-FB6F-C2C6-96352D09E0B2}"/>
              </a:ext>
            </a:extLst>
          </p:cNvPr>
          <p:cNvSpPr/>
          <p:nvPr/>
        </p:nvSpPr>
        <p:spPr>
          <a:xfrm>
            <a:off x="6492240" y="4695444"/>
            <a:ext cx="4892040" cy="189281"/>
          </a:xfrm>
          <a:prstGeom prst="rect">
            <a:avLst/>
          </a:prstGeom>
          <a:noFill/>
          <a:ln/>
        </p:spPr>
        <p:txBody>
          <a:bodyPr wrap="square" lIns="0" tIns="0" rIns="0" bIns="0" rtlCol="0" anchor="ctr"/>
          <a:lstStyle/>
          <a:p>
            <a:pPr marL="0" indent="0">
              <a:buNone/>
            </a:pPr>
            <a:endParaRPr lang="en-US" sz="1200" dirty="0"/>
          </a:p>
        </p:txBody>
      </p:sp>
      <p:sp>
        <p:nvSpPr>
          <p:cNvPr id="168" name="Text 21">
            <a:extLst>
              <a:ext uri="{FF2B5EF4-FFF2-40B4-BE49-F238E27FC236}">
                <a16:creationId xmlns:a16="http://schemas.microsoft.com/office/drawing/2014/main" id="{F511DC10-8EA3-83CD-3772-61E03C4D6FD7}"/>
              </a:ext>
            </a:extLst>
          </p:cNvPr>
          <p:cNvSpPr/>
          <p:nvPr/>
        </p:nvSpPr>
        <p:spPr>
          <a:xfrm>
            <a:off x="6492240" y="4884725"/>
            <a:ext cx="4892040" cy="189281"/>
          </a:xfrm>
          <a:prstGeom prst="rect">
            <a:avLst/>
          </a:prstGeom>
          <a:noFill/>
          <a:ln/>
        </p:spPr>
        <p:txBody>
          <a:bodyPr wrap="square" lIns="0" tIns="0" rIns="0" bIns="0" rtlCol="0" anchor="ctr"/>
          <a:lstStyle/>
          <a:p>
            <a:pPr marL="0" indent="0">
              <a:buNone/>
            </a:pPr>
            <a:r>
              <a:rPr lang="en-US" sz="1200" dirty="0">
                <a:solidFill>
                  <a:srgbClr val="F2C879"/>
                </a:solidFill>
                <a:latin typeface="Consolas" pitchFamily="34" charset="0"/>
                <a:ea typeface="Consolas" pitchFamily="34" charset="-122"/>
                <a:cs typeface="Consolas" pitchFamily="34" charset="-120"/>
              </a:rPr>
              <a:t>  if (validCommand) {</a:t>
            </a:r>
            <a:endParaRPr lang="en-US" sz="1200" dirty="0"/>
          </a:p>
        </p:txBody>
      </p:sp>
      <p:sp>
        <p:nvSpPr>
          <p:cNvPr id="170" name="Text 22">
            <a:extLst>
              <a:ext uri="{FF2B5EF4-FFF2-40B4-BE49-F238E27FC236}">
                <a16:creationId xmlns:a16="http://schemas.microsoft.com/office/drawing/2014/main" id="{93C1AE17-3262-A9C9-3F64-AA14ADB5B7F5}"/>
              </a:ext>
            </a:extLst>
          </p:cNvPr>
          <p:cNvSpPr/>
          <p:nvPr/>
        </p:nvSpPr>
        <p:spPr>
          <a:xfrm>
            <a:off x="6492240" y="5074006"/>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msg[3] = SelfCRCCalc(msg);</a:t>
            </a:r>
            <a:endParaRPr lang="en-US" sz="1200" dirty="0"/>
          </a:p>
        </p:txBody>
      </p:sp>
      <p:sp>
        <p:nvSpPr>
          <p:cNvPr id="172" name="Text 23">
            <a:extLst>
              <a:ext uri="{FF2B5EF4-FFF2-40B4-BE49-F238E27FC236}">
                <a16:creationId xmlns:a16="http://schemas.microsoft.com/office/drawing/2014/main" id="{356D2FBD-C81A-AF13-C679-F149FBFB3DEF}"/>
              </a:ext>
            </a:extLst>
          </p:cNvPr>
          <p:cNvSpPr/>
          <p:nvPr/>
        </p:nvSpPr>
        <p:spPr>
          <a:xfrm>
            <a:off x="6492240" y="5263286"/>
            <a:ext cx="4892040" cy="189281"/>
          </a:xfrm>
          <a:prstGeom prst="rect">
            <a:avLst/>
          </a:prstGeom>
          <a:noFill/>
          <a:ln/>
        </p:spPr>
        <p:txBody>
          <a:bodyPr wrap="square" lIns="0" tIns="0" rIns="0" bIns="0" rtlCol="0" anchor="ctr"/>
          <a:lstStyle/>
          <a:p>
            <a:pPr marL="0" indent="0">
              <a:buNone/>
            </a:pPr>
            <a:r>
              <a:rPr lang="en-US" sz="1200" dirty="0">
                <a:solidFill>
                  <a:srgbClr val="F2C879"/>
                </a:solidFill>
                <a:latin typeface="Consolas" pitchFamily="34" charset="0"/>
                <a:ea typeface="Consolas" pitchFamily="34" charset="-122"/>
                <a:cs typeface="Consolas" pitchFamily="34" charset="-120"/>
              </a:rPr>
              <a:t>    for (count = 0; count &lt; (msg[1]+3); count++) {</a:t>
            </a:r>
            <a:endParaRPr lang="en-US" sz="1200" dirty="0"/>
          </a:p>
        </p:txBody>
      </p:sp>
      <p:sp>
        <p:nvSpPr>
          <p:cNvPr id="174" name="Text 24">
            <a:extLst>
              <a:ext uri="{FF2B5EF4-FFF2-40B4-BE49-F238E27FC236}">
                <a16:creationId xmlns:a16="http://schemas.microsoft.com/office/drawing/2014/main" id="{FB918B48-D5A4-3A95-78B2-238A8951872A}"/>
              </a:ext>
            </a:extLst>
          </p:cNvPr>
          <p:cNvSpPr/>
          <p:nvPr/>
        </p:nvSpPr>
        <p:spPr>
          <a:xfrm>
            <a:off x="6492240" y="5452567"/>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*retV = *(uint16_t*)(CFCP_RX_IRQ_Handler(</a:t>
            </a:r>
            <a:endParaRPr lang="en-US" sz="1200" dirty="0"/>
          </a:p>
        </p:txBody>
      </p:sp>
      <p:sp>
        <p:nvSpPr>
          <p:cNvPr id="176" name="Text 25">
            <a:extLst>
              <a:ext uri="{FF2B5EF4-FFF2-40B4-BE49-F238E27FC236}">
                <a16:creationId xmlns:a16="http://schemas.microsoft.com/office/drawing/2014/main" id="{E1F6FD98-2E9E-B36A-157A-880539932B36}"/>
              </a:ext>
            </a:extLst>
          </p:cNvPr>
          <p:cNvSpPr/>
          <p:nvPr/>
        </p:nvSpPr>
        <p:spPr>
          <a:xfrm>
            <a:off x="6492240" y="5641848"/>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&amp;pFDCAN, msg[count]));</a:t>
            </a:r>
            <a:endParaRPr lang="en-US" sz="1200" dirty="0"/>
          </a:p>
        </p:txBody>
      </p:sp>
      <p:sp>
        <p:nvSpPr>
          <p:cNvPr id="178" name="Text 26">
            <a:extLst>
              <a:ext uri="{FF2B5EF4-FFF2-40B4-BE49-F238E27FC236}">
                <a16:creationId xmlns:a16="http://schemas.microsoft.com/office/drawing/2014/main" id="{76596459-EF4F-08A0-3D77-3DFF00715A76}"/>
              </a:ext>
            </a:extLst>
          </p:cNvPr>
          <p:cNvSpPr/>
          <p:nvPr/>
        </p:nvSpPr>
        <p:spPr>
          <a:xfrm>
            <a:off x="6492240" y="5831129"/>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80" name="Text 27">
            <a:extLst>
              <a:ext uri="{FF2B5EF4-FFF2-40B4-BE49-F238E27FC236}">
                <a16:creationId xmlns:a16="http://schemas.microsoft.com/office/drawing/2014/main" id="{0EA93AD4-5404-AECD-3857-B060D858ABAB}"/>
              </a:ext>
            </a:extLst>
          </p:cNvPr>
          <p:cNvSpPr/>
          <p:nvPr/>
        </p:nvSpPr>
        <p:spPr>
          <a:xfrm>
            <a:off x="6492240" y="6020410"/>
            <a:ext cx="4892040" cy="189281"/>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82" name="Text 31">
            <a:extLst>
              <a:ext uri="{FF2B5EF4-FFF2-40B4-BE49-F238E27FC236}">
                <a16:creationId xmlns:a16="http://schemas.microsoft.com/office/drawing/2014/main" id="{B2D4F0C1-BE38-D7C2-3D41-218CDA689E67}"/>
              </a:ext>
            </a:extLst>
          </p:cNvPr>
          <p:cNvSpPr/>
          <p:nvPr/>
        </p:nvSpPr>
        <p:spPr>
          <a:xfrm>
            <a:off x="777240" y="1783080"/>
            <a:ext cx="4892040" cy="178308"/>
          </a:xfrm>
          <a:prstGeom prst="rect">
            <a:avLst/>
          </a:prstGeom>
          <a:noFill/>
          <a:ln/>
        </p:spPr>
        <p:txBody>
          <a:bodyPr wrap="square" lIns="0" tIns="0" rIns="0" bIns="0" rtlCol="0" anchor="ctr"/>
          <a:lstStyle/>
          <a:p>
            <a:pPr marL="0" indent="0">
              <a:buNone/>
            </a:pPr>
            <a:r>
              <a:rPr lang="en-US" sz="1200" dirty="0">
                <a:solidFill>
                  <a:srgbClr val="8FD6EA"/>
                </a:solidFill>
                <a:latin typeface="Consolas" pitchFamily="34" charset="0"/>
                <a:ea typeface="Consolas" pitchFamily="34" charset="-122"/>
                <a:cs typeface="Consolas" pitchFamily="34" charset="-120"/>
              </a:rPr>
              <a:t>case EXECUTE_COMMAND:</a:t>
            </a:r>
            <a:endParaRPr lang="en-US" sz="1200" dirty="0"/>
          </a:p>
        </p:txBody>
      </p:sp>
      <p:sp>
        <p:nvSpPr>
          <p:cNvPr id="184" name="Text 32">
            <a:extLst>
              <a:ext uri="{FF2B5EF4-FFF2-40B4-BE49-F238E27FC236}">
                <a16:creationId xmlns:a16="http://schemas.microsoft.com/office/drawing/2014/main" id="{7AAD712E-3EA7-DBE1-53D1-9956D4622FDA}"/>
              </a:ext>
            </a:extLst>
          </p:cNvPr>
          <p:cNvSpPr/>
          <p:nvPr/>
        </p:nvSpPr>
        <p:spPr>
          <a:xfrm>
            <a:off x="777240" y="1961388"/>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msg[0] = MC_PROTOCOL_CODE_EXECUTE_CMD;</a:t>
            </a:r>
            <a:endParaRPr lang="en-US" sz="1200" dirty="0"/>
          </a:p>
        </p:txBody>
      </p:sp>
      <p:sp>
        <p:nvSpPr>
          <p:cNvPr id="186" name="Text 33">
            <a:extLst>
              <a:ext uri="{FF2B5EF4-FFF2-40B4-BE49-F238E27FC236}">
                <a16:creationId xmlns:a16="http://schemas.microsoft.com/office/drawing/2014/main" id="{680630C5-3CD5-FD3A-DD88-37C1F9BD465E}"/>
              </a:ext>
            </a:extLst>
          </p:cNvPr>
          <p:cNvSpPr/>
          <p:nvPr/>
        </p:nvSpPr>
        <p:spPr>
          <a:xfrm>
            <a:off x="777240" y="2139696"/>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msg[1] = 0x1;</a:t>
            </a:r>
            <a:endParaRPr lang="en-US" sz="1200" dirty="0"/>
          </a:p>
        </p:txBody>
      </p:sp>
      <p:sp>
        <p:nvSpPr>
          <p:cNvPr id="188" name="Text 34">
            <a:extLst>
              <a:ext uri="{FF2B5EF4-FFF2-40B4-BE49-F238E27FC236}">
                <a16:creationId xmlns:a16="http://schemas.microsoft.com/office/drawing/2014/main" id="{32B9BD44-A307-A3E3-A286-EB750B09DDC0}"/>
              </a:ext>
            </a:extLst>
          </p:cNvPr>
          <p:cNvSpPr/>
          <p:nvPr/>
        </p:nvSpPr>
        <p:spPr>
          <a:xfrm>
            <a:off x="777240" y="2318004"/>
            <a:ext cx="4892040" cy="178308"/>
          </a:xfrm>
          <a:prstGeom prst="rect">
            <a:avLst/>
          </a:prstGeom>
          <a:noFill/>
          <a:ln/>
        </p:spPr>
        <p:txBody>
          <a:bodyPr wrap="square" lIns="0" tIns="0" rIns="0" bIns="0" rtlCol="0" anchor="ctr"/>
          <a:lstStyle/>
          <a:p>
            <a:pPr marL="0" indent="0">
              <a:buNone/>
            </a:pPr>
            <a:endParaRPr lang="en-US" sz="1200" dirty="0"/>
          </a:p>
        </p:txBody>
      </p:sp>
      <p:sp>
        <p:nvSpPr>
          <p:cNvPr id="190" name="Text 35">
            <a:extLst>
              <a:ext uri="{FF2B5EF4-FFF2-40B4-BE49-F238E27FC236}">
                <a16:creationId xmlns:a16="http://schemas.microsoft.com/office/drawing/2014/main" id="{FEB905BE-4150-4DF1-BE81-F94901BEC8D6}"/>
              </a:ext>
            </a:extLst>
          </p:cNvPr>
          <p:cNvSpPr/>
          <p:nvPr/>
        </p:nvSpPr>
        <p:spPr>
          <a:xfrm>
            <a:off x="777240" y="2496312"/>
            <a:ext cx="4892040" cy="178308"/>
          </a:xfrm>
          <a:prstGeom prst="rect">
            <a:avLst/>
          </a:prstGeom>
          <a:noFill/>
          <a:ln/>
        </p:spPr>
        <p:txBody>
          <a:bodyPr wrap="square" lIns="0" tIns="0" rIns="0" bIns="0" rtlCol="0" anchor="ctr"/>
          <a:lstStyle/>
          <a:p>
            <a:pPr marL="0" indent="0">
              <a:buNone/>
            </a:pPr>
            <a:r>
              <a:rPr lang="en-US" sz="1200" dirty="0">
                <a:solidFill>
                  <a:srgbClr val="8FD6EA"/>
                </a:solidFill>
                <a:latin typeface="Consolas" pitchFamily="34" charset="0"/>
                <a:ea typeface="Consolas" pitchFamily="34" charset="-122"/>
                <a:cs typeface="Consolas" pitchFamily="34" charset="-120"/>
              </a:rPr>
              <a:t>  if (RxArr[0] &amp; EXE_START_MOTOR) {</a:t>
            </a:r>
            <a:endParaRPr lang="en-US" sz="1200" dirty="0"/>
          </a:p>
        </p:txBody>
      </p:sp>
      <p:sp>
        <p:nvSpPr>
          <p:cNvPr id="192" name="Text 36">
            <a:extLst>
              <a:ext uri="{FF2B5EF4-FFF2-40B4-BE49-F238E27FC236}">
                <a16:creationId xmlns:a16="http://schemas.microsoft.com/office/drawing/2014/main" id="{6415D0B9-29C6-06B1-1DE2-FF839152DDA8}"/>
              </a:ext>
            </a:extLst>
          </p:cNvPr>
          <p:cNvSpPr/>
          <p:nvPr/>
        </p:nvSpPr>
        <p:spPr>
          <a:xfrm>
            <a:off x="777240" y="2674620"/>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msg[2] = MC_PROTOCOL_CMD_START_MOTOR;</a:t>
            </a:r>
            <a:endParaRPr lang="en-US" sz="1200" dirty="0"/>
          </a:p>
        </p:txBody>
      </p:sp>
      <p:sp>
        <p:nvSpPr>
          <p:cNvPr id="194" name="Text 37">
            <a:extLst>
              <a:ext uri="{FF2B5EF4-FFF2-40B4-BE49-F238E27FC236}">
                <a16:creationId xmlns:a16="http://schemas.microsoft.com/office/drawing/2014/main" id="{1B80826E-73DC-BD12-9D74-E384EAB41D25}"/>
              </a:ext>
            </a:extLst>
          </p:cNvPr>
          <p:cNvSpPr/>
          <p:nvPr/>
        </p:nvSpPr>
        <p:spPr>
          <a:xfrm>
            <a:off x="777240" y="2852928"/>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msg[3] = SelfCRCCalc(msg);</a:t>
            </a:r>
            <a:endParaRPr lang="en-US" sz="1200" dirty="0"/>
          </a:p>
        </p:txBody>
      </p:sp>
      <p:sp>
        <p:nvSpPr>
          <p:cNvPr id="196" name="Text 38">
            <a:extLst>
              <a:ext uri="{FF2B5EF4-FFF2-40B4-BE49-F238E27FC236}">
                <a16:creationId xmlns:a16="http://schemas.microsoft.com/office/drawing/2014/main" id="{ABFFE7BF-4596-6A9C-F468-4D81538C27FF}"/>
              </a:ext>
            </a:extLst>
          </p:cNvPr>
          <p:cNvSpPr/>
          <p:nvPr/>
        </p:nvSpPr>
        <p:spPr>
          <a:xfrm>
            <a:off x="777240" y="3031236"/>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198" name="Text 39">
            <a:extLst>
              <a:ext uri="{FF2B5EF4-FFF2-40B4-BE49-F238E27FC236}">
                <a16:creationId xmlns:a16="http://schemas.microsoft.com/office/drawing/2014/main" id="{7BCE9ED4-FDAC-EFD6-EF97-4BE2531E8339}"/>
              </a:ext>
            </a:extLst>
          </p:cNvPr>
          <p:cNvSpPr/>
          <p:nvPr/>
        </p:nvSpPr>
        <p:spPr>
          <a:xfrm>
            <a:off x="777240" y="3209544"/>
            <a:ext cx="4892040" cy="178308"/>
          </a:xfrm>
          <a:prstGeom prst="rect">
            <a:avLst/>
          </a:prstGeom>
          <a:noFill/>
          <a:ln/>
        </p:spPr>
        <p:txBody>
          <a:bodyPr wrap="square" lIns="0" tIns="0" rIns="0" bIns="0" rtlCol="0" anchor="ctr"/>
          <a:lstStyle/>
          <a:p>
            <a:pPr marL="0" indent="0">
              <a:buNone/>
            </a:pPr>
            <a:r>
              <a:rPr lang="en-US" sz="1200" dirty="0">
                <a:solidFill>
                  <a:srgbClr val="8FD6EA"/>
                </a:solidFill>
                <a:latin typeface="Consolas" pitchFamily="34" charset="0"/>
                <a:ea typeface="Consolas" pitchFamily="34" charset="-122"/>
                <a:cs typeface="Consolas" pitchFamily="34" charset="-120"/>
              </a:rPr>
              <a:t>  else {</a:t>
            </a:r>
            <a:endParaRPr lang="en-US" sz="1200" dirty="0"/>
          </a:p>
        </p:txBody>
      </p:sp>
      <p:sp>
        <p:nvSpPr>
          <p:cNvPr id="200" name="Text 40">
            <a:extLst>
              <a:ext uri="{FF2B5EF4-FFF2-40B4-BE49-F238E27FC236}">
                <a16:creationId xmlns:a16="http://schemas.microsoft.com/office/drawing/2014/main" id="{AF205C8C-966C-4023-191F-9AD4484F13CB}"/>
              </a:ext>
            </a:extLst>
          </p:cNvPr>
          <p:cNvSpPr/>
          <p:nvPr/>
        </p:nvSpPr>
        <p:spPr>
          <a:xfrm>
            <a:off x="777240" y="3387852"/>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msg[2] = MC_PROTOCOL_CMD_STOP_MOTOR;</a:t>
            </a:r>
            <a:endParaRPr lang="en-US" sz="1200" dirty="0"/>
          </a:p>
        </p:txBody>
      </p:sp>
      <p:sp>
        <p:nvSpPr>
          <p:cNvPr id="202" name="Text 41">
            <a:extLst>
              <a:ext uri="{FF2B5EF4-FFF2-40B4-BE49-F238E27FC236}">
                <a16:creationId xmlns:a16="http://schemas.microsoft.com/office/drawing/2014/main" id="{CD7983C1-90F3-C6BF-9FD1-19B01D813890}"/>
              </a:ext>
            </a:extLst>
          </p:cNvPr>
          <p:cNvSpPr/>
          <p:nvPr/>
        </p:nvSpPr>
        <p:spPr>
          <a:xfrm>
            <a:off x="777240" y="3566160"/>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msg[3] = SelfCRCCalc(msg);</a:t>
            </a:r>
            <a:endParaRPr lang="en-US" sz="1200" dirty="0"/>
          </a:p>
        </p:txBody>
      </p:sp>
      <p:sp>
        <p:nvSpPr>
          <p:cNvPr id="204" name="Text 42">
            <a:extLst>
              <a:ext uri="{FF2B5EF4-FFF2-40B4-BE49-F238E27FC236}">
                <a16:creationId xmlns:a16="http://schemas.microsoft.com/office/drawing/2014/main" id="{7A2F592D-0B03-862D-C452-163A4B9D4C45}"/>
              </a:ext>
            </a:extLst>
          </p:cNvPr>
          <p:cNvSpPr/>
          <p:nvPr/>
        </p:nvSpPr>
        <p:spPr>
          <a:xfrm>
            <a:off x="777240" y="3744468"/>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206" name="Text 43">
            <a:extLst>
              <a:ext uri="{FF2B5EF4-FFF2-40B4-BE49-F238E27FC236}">
                <a16:creationId xmlns:a16="http://schemas.microsoft.com/office/drawing/2014/main" id="{55DB8734-76B9-2AF3-7439-1C8B4B1B4804}"/>
              </a:ext>
            </a:extLst>
          </p:cNvPr>
          <p:cNvSpPr/>
          <p:nvPr/>
        </p:nvSpPr>
        <p:spPr>
          <a:xfrm>
            <a:off x="777240" y="3922776"/>
            <a:ext cx="4892040" cy="178308"/>
          </a:xfrm>
          <a:prstGeom prst="rect">
            <a:avLst/>
          </a:prstGeom>
          <a:noFill/>
          <a:ln/>
        </p:spPr>
        <p:txBody>
          <a:bodyPr wrap="square" lIns="0" tIns="0" rIns="0" bIns="0" rtlCol="0" anchor="ctr"/>
          <a:lstStyle/>
          <a:p>
            <a:pPr marL="0" indent="0">
              <a:buNone/>
            </a:pPr>
            <a:r>
              <a:rPr lang="en-US" sz="1200" dirty="0">
                <a:solidFill>
                  <a:srgbClr val="8FD6EA"/>
                </a:solidFill>
                <a:latin typeface="Consolas" pitchFamily="34" charset="0"/>
                <a:ea typeface="Consolas" pitchFamily="34" charset="-122"/>
                <a:cs typeface="Consolas" pitchFamily="34" charset="-120"/>
              </a:rPr>
              <a:t>  for (count = 0; count &lt; (msg[1]+3); count++) {</a:t>
            </a:r>
            <a:endParaRPr lang="en-US" sz="1200" dirty="0"/>
          </a:p>
        </p:txBody>
      </p:sp>
      <p:sp>
        <p:nvSpPr>
          <p:cNvPr id="208" name="Text 44">
            <a:extLst>
              <a:ext uri="{FF2B5EF4-FFF2-40B4-BE49-F238E27FC236}">
                <a16:creationId xmlns:a16="http://schemas.microsoft.com/office/drawing/2014/main" id="{38B3928B-0437-C6B7-BF61-C48A488A99D8}"/>
              </a:ext>
            </a:extLst>
          </p:cNvPr>
          <p:cNvSpPr/>
          <p:nvPr/>
        </p:nvSpPr>
        <p:spPr>
          <a:xfrm>
            <a:off x="777240" y="4101084"/>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*retV = *(uint16_t*)(CFCP_RX_IRQ_Handler(</a:t>
            </a:r>
            <a:endParaRPr lang="en-US" sz="1200" dirty="0"/>
          </a:p>
        </p:txBody>
      </p:sp>
      <p:sp>
        <p:nvSpPr>
          <p:cNvPr id="210" name="Text 45">
            <a:extLst>
              <a:ext uri="{FF2B5EF4-FFF2-40B4-BE49-F238E27FC236}">
                <a16:creationId xmlns:a16="http://schemas.microsoft.com/office/drawing/2014/main" id="{5BBDF36B-93A6-C478-A7B2-AC2F22194B7C}"/>
              </a:ext>
            </a:extLst>
          </p:cNvPr>
          <p:cNvSpPr/>
          <p:nvPr/>
        </p:nvSpPr>
        <p:spPr>
          <a:xfrm>
            <a:off x="777240" y="4279392"/>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&amp;pFDCAN, msg[count]));</a:t>
            </a:r>
            <a:endParaRPr lang="en-US" sz="1200" dirty="0"/>
          </a:p>
        </p:txBody>
      </p:sp>
      <p:sp>
        <p:nvSpPr>
          <p:cNvPr id="212" name="Text 46">
            <a:extLst>
              <a:ext uri="{FF2B5EF4-FFF2-40B4-BE49-F238E27FC236}">
                <a16:creationId xmlns:a16="http://schemas.microsoft.com/office/drawing/2014/main" id="{5F463D4B-7F85-C842-48B8-7BDFE8A91AC4}"/>
              </a:ext>
            </a:extLst>
          </p:cNvPr>
          <p:cNvSpPr/>
          <p:nvPr/>
        </p:nvSpPr>
        <p:spPr>
          <a:xfrm>
            <a:off x="777240" y="4457700"/>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214" name="Text 47">
            <a:extLst>
              <a:ext uri="{FF2B5EF4-FFF2-40B4-BE49-F238E27FC236}">
                <a16:creationId xmlns:a16="http://schemas.microsoft.com/office/drawing/2014/main" id="{FBE2525D-A299-1D0C-12E2-37862662983C}"/>
              </a:ext>
            </a:extLst>
          </p:cNvPr>
          <p:cNvSpPr/>
          <p:nvPr/>
        </p:nvSpPr>
        <p:spPr>
          <a:xfrm>
            <a:off x="777240" y="4636008"/>
            <a:ext cx="4892040" cy="178308"/>
          </a:xfrm>
          <a:prstGeom prst="rect">
            <a:avLst/>
          </a:prstGeom>
          <a:noFill/>
          <a:ln/>
        </p:spPr>
        <p:txBody>
          <a:bodyPr wrap="square" lIns="0" tIns="0" rIns="0" bIns="0" rtlCol="0" anchor="ctr"/>
          <a:lstStyle/>
          <a:p>
            <a:pPr marL="0" indent="0">
              <a:buNone/>
            </a:pPr>
            <a:endParaRPr lang="en-US" sz="1200" dirty="0"/>
          </a:p>
        </p:txBody>
      </p:sp>
      <p:sp>
        <p:nvSpPr>
          <p:cNvPr id="216" name="Text 48">
            <a:extLst>
              <a:ext uri="{FF2B5EF4-FFF2-40B4-BE49-F238E27FC236}">
                <a16:creationId xmlns:a16="http://schemas.microsoft.com/office/drawing/2014/main" id="{2664F0AF-026C-42C4-5351-9153D85DBD1F}"/>
              </a:ext>
            </a:extLst>
          </p:cNvPr>
          <p:cNvSpPr/>
          <p:nvPr/>
        </p:nvSpPr>
        <p:spPr>
          <a:xfrm>
            <a:off x="777240" y="4814316"/>
            <a:ext cx="4892040" cy="178308"/>
          </a:xfrm>
          <a:prstGeom prst="rect">
            <a:avLst/>
          </a:prstGeom>
          <a:noFill/>
          <a:ln/>
        </p:spPr>
        <p:txBody>
          <a:bodyPr wrap="square" lIns="0" tIns="0" rIns="0" bIns="0" rtlCol="0" anchor="ctr"/>
          <a:lstStyle/>
          <a:p>
            <a:pPr marL="0" indent="0">
              <a:buNone/>
            </a:pPr>
            <a:r>
              <a:rPr lang="en-US" sz="1200" dirty="0">
                <a:solidFill>
                  <a:srgbClr val="8FD6EA"/>
                </a:solidFill>
                <a:latin typeface="Consolas" pitchFamily="34" charset="0"/>
                <a:ea typeface="Consolas" pitchFamily="34" charset="-122"/>
                <a:cs typeface="Consolas" pitchFamily="34" charset="-120"/>
              </a:rPr>
              <a:t>  if (RxArr[0] &amp; EXE_RESET) {</a:t>
            </a:r>
            <a:endParaRPr lang="en-US" sz="1200" dirty="0"/>
          </a:p>
        </p:txBody>
      </p:sp>
      <p:sp>
        <p:nvSpPr>
          <p:cNvPr id="218" name="Text 49">
            <a:extLst>
              <a:ext uri="{FF2B5EF4-FFF2-40B4-BE49-F238E27FC236}">
                <a16:creationId xmlns:a16="http://schemas.microsoft.com/office/drawing/2014/main" id="{820415D5-1C66-4AA2-EB3B-DEADD86DF2E8}"/>
              </a:ext>
            </a:extLst>
          </p:cNvPr>
          <p:cNvSpPr/>
          <p:nvPr/>
        </p:nvSpPr>
        <p:spPr>
          <a:xfrm>
            <a:off x="777240" y="4992624"/>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msg[2] = MC_PROTOCOL_CMD_RESET;</a:t>
            </a:r>
            <a:endParaRPr lang="en-US" sz="1200" dirty="0"/>
          </a:p>
        </p:txBody>
      </p:sp>
      <p:sp>
        <p:nvSpPr>
          <p:cNvPr id="220" name="Text 50">
            <a:extLst>
              <a:ext uri="{FF2B5EF4-FFF2-40B4-BE49-F238E27FC236}">
                <a16:creationId xmlns:a16="http://schemas.microsoft.com/office/drawing/2014/main" id="{83085B59-95D0-30BD-3595-12323EDC8952}"/>
              </a:ext>
            </a:extLst>
          </p:cNvPr>
          <p:cNvSpPr/>
          <p:nvPr/>
        </p:nvSpPr>
        <p:spPr>
          <a:xfrm>
            <a:off x="777240" y="5170932"/>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msg[3] = SelfCRCCalc(msg);</a:t>
            </a:r>
            <a:endParaRPr lang="en-US" sz="1200" dirty="0"/>
          </a:p>
        </p:txBody>
      </p:sp>
      <p:sp>
        <p:nvSpPr>
          <p:cNvPr id="222" name="Text 51">
            <a:extLst>
              <a:ext uri="{FF2B5EF4-FFF2-40B4-BE49-F238E27FC236}">
                <a16:creationId xmlns:a16="http://schemas.microsoft.com/office/drawing/2014/main" id="{27992CC7-8738-40BF-DFA0-38E00D12D0B5}"/>
              </a:ext>
            </a:extLst>
          </p:cNvPr>
          <p:cNvSpPr/>
          <p:nvPr/>
        </p:nvSpPr>
        <p:spPr>
          <a:xfrm>
            <a:off x="777240" y="5349240"/>
            <a:ext cx="4892040" cy="178308"/>
          </a:xfrm>
          <a:prstGeom prst="rect">
            <a:avLst/>
          </a:prstGeom>
          <a:noFill/>
          <a:ln/>
        </p:spPr>
        <p:txBody>
          <a:bodyPr wrap="square" lIns="0" tIns="0" rIns="0" bIns="0" rtlCol="0" anchor="ctr"/>
          <a:lstStyle/>
          <a:p>
            <a:pPr marL="0" indent="0">
              <a:buNone/>
            </a:pPr>
            <a:r>
              <a:rPr lang="en-US" sz="1200" dirty="0">
                <a:solidFill>
                  <a:srgbClr val="8FD6EA"/>
                </a:solidFill>
                <a:latin typeface="Consolas" pitchFamily="34" charset="0"/>
                <a:ea typeface="Consolas" pitchFamily="34" charset="-122"/>
                <a:cs typeface="Consolas" pitchFamily="34" charset="-120"/>
              </a:rPr>
              <a:t>    for (count = 0; count &lt; (msg[1]+3); count++) {</a:t>
            </a:r>
            <a:endParaRPr lang="en-US" sz="1200" dirty="0"/>
          </a:p>
        </p:txBody>
      </p:sp>
      <p:sp>
        <p:nvSpPr>
          <p:cNvPr id="224" name="Text 52">
            <a:extLst>
              <a:ext uri="{FF2B5EF4-FFF2-40B4-BE49-F238E27FC236}">
                <a16:creationId xmlns:a16="http://schemas.microsoft.com/office/drawing/2014/main" id="{2533AC65-80CB-62E8-32AA-640479CE1D4E}"/>
              </a:ext>
            </a:extLst>
          </p:cNvPr>
          <p:cNvSpPr/>
          <p:nvPr/>
        </p:nvSpPr>
        <p:spPr>
          <a:xfrm>
            <a:off x="777240" y="5527548"/>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*retV = *(uint16_t*)(CFCP_RX_IRQ_Handler(</a:t>
            </a:r>
            <a:endParaRPr lang="en-US" sz="1200" dirty="0"/>
          </a:p>
        </p:txBody>
      </p:sp>
      <p:sp>
        <p:nvSpPr>
          <p:cNvPr id="226" name="Text 53">
            <a:extLst>
              <a:ext uri="{FF2B5EF4-FFF2-40B4-BE49-F238E27FC236}">
                <a16:creationId xmlns:a16="http://schemas.microsoft.com/office/drawing/2014/main" id="{10F448EC-4C0C-6AEA-BCB4-1E82A45FE6FD}"/>
              </a:ext>
            </a:extLst>
          </p:cNvPr>
          <p:cNvSpPr/>
          <p:nvPr/>
        </p:nvSpPr>
        <p:spPr>
          <a:xfrm>
            <a:off x="777240" y="5705856"/>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&amp;pFDCAN, msg[count]));</a:t>
            </a:r>
            <a:endParaRPr lang="en-US" sz="1200" dirty="0"/>
          </a:p>
        </p:txBody>
      </p:sp>
      <p:sp>
        <p:nvSpPr>
          <p:cNvPr id="228" name="Text 54">
            <a:extLst>
              <a:ext uri="{FF2B5EF4-FFF2-40B4-BE49-F238E27FC236}">
                <a16:creationId xmlns:a16="http://schemas.microsoft.com/office/drawing/2014/main" id="{ED66F19C-B92C-0B4B-CE29-E1F0420CC2CA}"/>
              </a:ext>
            </a:extLst>
          </p:cNvPr>
          <p:cNvSpPr/>
          <p:nvPr/>
        </p:nvSpPr>
        <p:spPr>
          <a:xfrm>
            <a:off x="777240" y="5884164"/>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230" name="Text 55">
            <a:extLst>
              <a:ext uri="{FF2B5EF4-FFF2-40B4-BE49-F238E27FC236}">
                <a16:creationId xmlns:a16="http://schemas.microsoft.com/office/drawing/2014/main" id="{C0A59657-227A-BCC8-C179-B7166C2016D7}"/>
              </a:ext>
            </a:extLst>
          </p:cNvPr>
          <p:cNvSpPr/>
          <p:nvPr/>
        </p:nvSpPr>
        <p:spPr>
          <a:xfrm>
            <a:off x="777240" y="6062472"/>
            <a:ext cx="4892040" cy="178308"/>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a:t>
            </a:r>
            <a:endParaRPr lang="en-US" sz="1200" dirty="0"/>
          </a:p>
        </p:txBody>
      </p:sp>
      <p:sp>
        <p:nvSpPr>
          <p:cNvPr id="7" name="Text 0">
            <a:extLst>
              <a:ext uri="{FF2B5EF4-FFF2-40B4-BE49-F238E27FC236}">
                <a16:creationId xmlns:a16="http://schemas.microsoft.com/office/drawing/2014/main" id="{C73EE12E-049E-8AED-E924-AF805502EA8B}"/>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2209588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A0C63-AA53-59C3-D07E-65E0A6006B91}"/>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15F89903-0BA6-1321-354C-5DF9E9F0FF48}"/>
              </a:ext>
            </a:extLst>
          </p:cNvPr>
          <p:cNvSpPr>
            <a:spLocks noGrp="1"/>
          </p:cNvSpPr>
          <p:nvPr>
            <p:ph type="title"/>
          </p:nvPr>
        </p:nvSpPr>
        <p:spPr/>
        <p:txBody>
          <a:bodyPr/>
          <a:lstStyle/>
          <a:p>
            <a:r>
              <a:rPr lang="en-US" b="1" dirty="0">
                <a:solidFill>
                  <a:srgbClr val="0B2545"/>
                </a:solidFill>
                <a:latin typeface="Cambria" pitchFamily="34" charset="0"/>
                <a:ea typeface="Cambria" pitchFamily="34" charset="-122"/>
                <a:cs typeface="Cambria" pitchFamily="34" charset="-120"/>
              </a:rPr>
              <a:t>Independent control of </a:t>
            </a:r>
            <a:r>
              <a:rPr lang="en-US" b="1" dirty="0" err="1">
                <a:solidFill>
                  <a:srgbClr val="0B2545"/>
                </a:solidFill>
                <a:latin typeface="Cambria" pitchFamily="34" charset="0"/>
                <a:ea typeface="Cambria" pitchFamily="34" charset="-122"/>
                <a:cs typeface="Cambria" pitchFamily="34" charset="-120"/>
              </a:rPr>
              <a:t>I_d</a:t>
            </a:r>
            <a:r>
              <a:rPr lang="en-US" b="1" dirty="0">
                <a:solidFill>
                  <a:srgbClr val="0B2545"/>
                </a:solidFill>
                <a:latin typeface="Cambria" pitchFamily="34" charset="0"/>
                <a:ea typeface="Cambria" pitchFamily="34" charset="-122"/>
                <a:cs typeface="Cambria" pitchFamily="34" charset="-120"/>
              </a:rPr>
              <a:t>/</a:t>
            </a:r>
            <a:r>
              <a:rPr lang="en-US" b="1" dirty="0" err="1">
                <a:solidFill>
                  <a:srgbClr val="0B2545"/>
                </a:solidFill>
                <a:latin typeface="Cambria" pitchFamily="34" charset="0"/>
                <a:ea typeface="Cambria" pitchFamily="34" charset="-122"/>
                <a:cs typeface="Cambria" pitchFamily="34" charset="-120"/>
              </a:rPr>
              <a:t>I_q</a:t>
            </a:r>
            <a:r>
              <a:rPr lang="en-US" b="1" dirty="0">
                <a:solidFill>
                  <a:srgbClr val="0B2545"/>
                </a:solidFill>
                <a:latin typeface="Cambria" pitchFamily="34" charset="0"/>
                <a:ea typeface="Cambria" pitchFamily="34" charset="-122"/>
                <a:cs typeface="Cambria" pitchFamily="34" charset="-120"/>
              </a:rPr>
              <a:t> currents</a:t>
            </a:r>
            <a:endParaRPr lang="it-IT" dirty="0"/>
          </a:p>
        </p:txBody>
      </p:sp>
      <p:sp>
        <p:nvSpPr>
          <p:cNvPr id="6" name="Shape 2">
            <a:extLst>
              <a:ext uri="{FF2B5EF4-FFF2-40B4-BE49-F238E27FC236}">
                <a16:creationId xmlns:a16="http://schemas.microsoft.com/office/drawing/2014/main" id="{E41A64CA-B64D-0863-C325-99EFF9AEB7CD}"/>
              </a:ext>
            </a:extLst>
          </p:cNvPr>
          <p:cNvSpPr/>
          <p:nvPr/>
        </p:nvSpPr>
        <p:spPr>
          <a:xfrm>
            <a:off x="559308" y="1414927"/>
            <a:ext cx="5120640" cy="4457015"/>
          </a:xfrm>
          <a:prstGeom prst="roundRect">
            <a:avLst>
              <a:gd name="adj" fmla="val 1495"/>
            </a:avLst>
          </a:prstGeom>
          <a:solidFill>
            <a:srgbClr val="FFFFFF"/>
          </a:solidFill>
          <a:ln w="12700">
            <a:solidFill>
              <a:srgbClr val="E3E9F0"/>
            </a:solidFill>
            <a:prstDash val="solid"/>
          </a:ln>
        </p:spPr>
        <p:txBody>
          <a:bodyPr/>
          <a:lstStyle/>
          <a:p>
            <a:endParaRPr lang="it-IT" dirty="0"/>
          </a:p>
        </p:txBody>
      </p:sp>
      <p:sp>
        <p:nvSpPr>
          <p:cNvPr id="8" name="Shape 3">
            <a:extLst>
              <a:ext uri="{FF2B5EF4-FFF2-40B4-BE49-F238E27FC236}">
                <a16:creationId xmlns:a16="http://schemas.microsoft.com/office/drawing/2014/main" id="{29F8EF24-A421-7B9C-4DA7-BA6419909EAA}"/>
              </a:ext>
            </a:extLst>
          </p:cNvPr>
          <p:cNvSpPr/>
          <p:nvPr/>
        </p:nvSpPr>
        <p:spPr>
          <a:xfrm>
            <a:off x="548640" y="1417320"/>
            <a:ext cx="5120640" cy="498220"/>
          </a:xfrm>
          <a:prstGeom prst="roundRect">
            <a:avLst>
              <a:gd name="adj" fmla="val 14545"/>
            </a:avLst>
          </a:prstGeom>
          <a:solidFill>
            <a:srgbClr val="0B2545"/>
          </a:solidFill>
          <a:ln/>
        </p:spPr>
        <p:txBody>
          <a:bodyPr/>
          <a:lstStyle/>
          <a:p>
            <a:endParaRPr lang="it-IT"/>
          </a:p>
        </p:txBody>
      </p:sp>
      <p:sp>
        <p:nvSpPr>
          <p:cNvPr id="10" name="Shape 4">
            <a:extLst>
              <a:ext uri="{FF2B5EF4-FFF2-40B4-BE49-F238E27FC236}">
                <a16:creationId xmlns:a16="http://schemas.microsoft.com/office/drawing/2014/main" id="{C68C4006-F250-E68B-FEF0-E1C0FB27C103}"/>
              </a:ext>
            </a:extLst>
          </p:cNvPr>
          <p:cNvSpPr/>
          <p:nvPr/>
        </p:nvSpPr>
        <p:spPr>
          <a:xfrm>
            <a:off x="548640" y="1673352"/>
            <a:ext cx="5120640" cy="244580"/>
          </a:xfrm>
          <a:prstGeom prst="rect">
            <a:avLst/>
          </a:prstGeom>
          <a:solidFill>
            <a:srgbClr val="0B2545"/>
          </a:solidFill>
          <a:ln/>
        </p:spPr>
        <p:txBody>
          <a:bodyPr/>
          <a:lstStyle/>
          <a:p>
            <a:endParaRPr lang="it-IT"/>
          </a:p>
        </p:txBody>
      </p:sp>
      <p:sp>
        <p:nvSpPr>
          <p:cNvPr id="12" name="Text 5">
            <a:extLst>
              <a:ext uri="{FF2B5EF4-FFF2-40B4-BE49-F238E27FC236}">
                <a16:creationId xmlns:a16="http://schemas.microsoft.com/office/drawing/2014/main" id="{1CDCB20F-DAD3-2AC4-FF24-8EC65C0A23CD}"/>
              </a:ext>
            </a:extLst>
          </p:cNvPr>
          <p:cNvSpPr/>
          <p:nvPr/>
        </p:nvSpPr>
        <p:spPr>
          <a:xfrm>
            <a:off x="804672" y="1417320"/>
            <a:ext cx="4663440" cy="4982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Dedicated References</a:t>
            </a:r>
            <a:endParaRPr lang="en-US" sz="1500" dirty="0"/>
          </a:p>
        </p:txBody>
      </p:sp>
      <p:sp>
        <p:nvSpPr>
          <p:cNvPr id="14" name="Shape 6">
            <a:extLst>
              <a:ext uri="{FF2B5EF4-FFF2-40B4-BE49-F238E27FC236}">
                <a16:creationId xmlns:a16="http://schemas.microsoft.com/office/drawing/2014/main" id="{C59ADD5C-3013-CC4A-C7D2-E27A4E6F81D4}"/>
              </a:ext>
            </a:extLst>
          </p:cNvPr>
          <p:cNvSpPr/>
          <p:nvPr/>
        </p:nvSpPr>
        <p:spPr>
          <a:xfrm>
            <a:off x="804672" y="2279846"/>
            <a:ext cx="118872" cy="117761"/>
          </a:xfrm>
          <a:prstGeom prst="ellipse">
            <a:avLst/>
          </a:prstGeom>
          <a:solidFill>
            <a:srgbClr val="00B4D8"/>
          </a:solidFill>
          <a:ln/>
        </p:spPr>
        <p:txBody>
          <a:bodyPr/>
          <a:lstStyle/>
          <a:p>
            <a:endParaRPr lang="it-IT"/>
          </a:p>
        </p:txBody>
      </p:sp>
      <p:sp>
        <p:nvSpPr>
          <p:cNvPr id="16" name="Text 7">
            <a:extLst>
              <a:ext uri="{FF2B5EF4-FFF2-40B4-BE49-F238E27FC236}">
                <a16:creationId xmlns:a16="http://schemas.microsoft.com/office/drawing/2014/main" id="{EC1A9967-4394-9F45-156A-2A9E5EA9DFFC}"/>
              </a:ext>
            </a:extLst>
          </p:cNvPr>
          <p:cNvSpPr/>
          <p:nvPr/>
        </p:nvSpPr>
        <p:spPr>
          <a:xfrm>
            <a:off x="1051560" y="2179263"/>
            <a:ext cx="4416552" cy="769976"/>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Dedicated commands MC_PROTOCOL_CODE_SET_CURRENT_ID_REF and  MC_PROTOCOL_CODE_ SET_CURRENT_IQ_REF, using IDs not previously used in the library and their corresponding (+0x30) values on the DYNO side</a:t>
            </a:r>
            <a:endParaRPr lang="en-US" sz="1400" dirty="0"/>
          </a:p>
        </p:txBody>
      </p:sp>
      <p:sp>
        <p:nvSpPr>
          <p:cNvPr id="18" name="Shape 8">
            <a:extLst>
              <a:ext uri="{FF2B5EF4-FFF2-40B4-BE49-F238E27FC236}">
                <a16:creationId xmlns:a16="http://schemas.microsoft.com/office/drawing/2014/main" id="{7A2AB669-6D5C-F8B4-6A9D-EBA6FDB2B83E}"/>
              </a:ext>
            </a:extLst>
          </p:cNvPr>
          <p:cNvSpPr/>
          <p:nvPr/>
        </p:nvSpPr>
        <p:spPr>
          <a:xfrm>
            <a:off x="796290" y="3722719"/>
            <a:ext cx="118872" cy="117761"/>
          </a:xfrm>
          <a:prstGeom prst="ellipse">
            <a:avLst/>
          </a:prstGeom>
          <a:solidFill>
            <a:srgbClr val="00B4D8"/>
          </a:solidFill>
          <a:ln/>
        </p:spPr>
        <p:txBody>
          <a:bodyPr/>
          <a:lstStyle/>
          <a:p>
            <a:endParaRPr lang="it-IT"/>
          </a:p>
        </p:txBody>
      </p:sp>
      <p:sp>
        <p:nvSpPr>
          <p:cNvPr id="20" name="Text 9">
            <a:extLst>
              <a:ext uri="{FF2B5EF4-FFF2-40B4-BE49-F238E27FC236}">
                <a16:creationId xmlns:a16="http://schemas.microsoft.com/office/drawing/2014/main" id="{28CBDACA-9E8F-C750-A123-7503CBDDD0DC}"/>
              </a:ext>
            </a:extLst>
          </p:cNvPr>
          <p:cNvSpPr/>
          <p:nvPr/>
        </p:nvSpPr>
        <p:spPr>
          <a:xfrm>
            <a:off x="1088136" y="3629268"/>
            <a:ext cx="4343400" cy="769976"/>
          </a:xfrm>
          <a:prstGeom prst="rect">
            <a:avLst/>
          </a:prstGeom>
          <a:noFill/>
          <a:ln/>
        </p:spPr>
        <p:txBody>
          <a:bodyPr wrap="square" lIns="0" tIns="0" rIns="0" bIns="0" rtlCol="0" anchor="t"/>
          <a:lstStyle/>
          <a:p>
            <a:pPr marL="0" indent="0">
              <a:lnSpc>
                <a:spcPct val="122000"/>
              </a:lnSpc>
              <a:buNone/>
            </a:pPr>
            <a:r>
              <a:rPr lang="en-US" sz="1400" dirty="0">
                <a:solidFill>
                  <a:srgbClr val="1B1F27"/>
                </a:solidFill>
                <a:latin typeface="Calibri" pitchFamily="34" charset="0"/>
                <a:ea typeface="Calibri" pitchFamily="34" charset="-122"/>
                <a:cs typeface="Calibri" pitchFamily="34" charset="-120"/>
              </a:rPr>
              <a:t>Implementation of case statements in the DYNO2DW function, matching payload length to the number of bytes required by the function</a:t>
            </a:r>
            <a:endParaRPr lang="en-US" sz="1400" dirty="0"/>
          </a:p>
        </p:txBody>
      </p:sp>
      <p:sp>
        <p:nvSpPr>
          <p:cNvPr id="22" name="Shape 10">
            <a:extLst>
              <a:ext uri="{FF2B5EF4-FFF2-40B4-BE49-F238E27FC236}">
                <a16:creationId xmlns:a16="http://schemas.microsoft.com/office/drawing/2014/main" id="{4B88A86A-9F85-7A42-21A3-1D0255391877}"/>
              </a:ext>
            </a:extLst>
          </p:cNvPr>
          <p:cNvSpPr/>
          <p:nvPr/>
        </p:nvSpPr>
        <p:spPr>
          <a:xfrm>
            <a:off x="818388" y="4657842"/>
            <a:ext cx="118872" cy="117761"/>
          </a:xfrm>
          <a:prstGeom prst="ellipse">
            <a:avLst/>
          </a:prstGeom>
          <a:solidFill>
            <a:srgbClr val="00B4D8"/>
          </a:solidFill>
          <a:ln/>
        </p:spPr>
        <p:txBody>
          <a:bodyPr/>
          <a:lstStyle/>
          <a:p>
            <a:endParaRPr lang="it-IT"/>
          </a:p>
        </p:txBody>
      </p:sp>
      <p:sp>
        <p:nvSpPr>
          <p:cNvPr id="24" name="Text 11">
            <a:extLst>
              <a:ext uri="{FF2B5EF4-FFF2-40B4-BE49-F238E27FC236}">
                <a16:creationId xmlns:a16="http://schemas.microsoft.com/office/drawing/2014/main" id="{65A04F32-554E-ED28-1B8F-4D9E9E9C2448}"/>
              </a:ext>
            </a:extLst>
          </p:cNvPr>
          <p:cNvSpPr/>
          <p:nvPr/>
        </p:nvSpPr>
        <p:spPr>
          <a:xfrm>
            <a:off x="1124712" y="4586271"/>
            <a:ext cx="4343400" cy="769976"/>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16-bit signed decoding directly from CAN buffer bytes</a:t>
            </a:r>
            <a:endParaRPr lang="en-US" sz="1400" dirty="0"/>
          </a:p>
        </p:txBody>
      </p:sp>
      <p:sp>
        <p:nvSpPr>
          <p:cNvPr id="26" name="Shape 12">
            <a:extLst>
              <a:ext uri="{FF2B5EF4-FFF2-40B4-BE49-F238E27FC236}">
                <a16:creationId xmlns:a16="http://schemas.microsoft.com/office/drawing/2014/main" id="{7DC4D888-640B-C6E2-448A-0C9456672FE3}"/>
              </a:ext>
            </a:extLst>
          </p:cNvPr>
          <p:cNvSpPr/>
          <p:nvPr/>
        </p:nvSpPr>
        <p:spPr>
          <a:xfrm>
            <a:off x="796290" y="5223714"/>
            <a:ext cx="118872" cy="117761"/>
          </a:xfrm>
          <a:prstGeom prst="ellipse">
            <a:avLst/>
          </a:prstGeom>
          <a:solidFill>
            <a:srgbClr val="00B4D8"/>
          </a:solidFill>
          <a:ln/>
        </p:spPr>
        <p:txBody>
          <a:bodyPr/>
          <a:lstStyle/>
          <a:p>
            <a:endParaRPr lang="it-IT"/>
          </a:p>
        </p:txBody>
      </p:sp>
      <p:sp>
        <p:nvSpPr>
          <p:cNvPr id="28" name="Text 13">
            <a:extLst>
              <a:ext uri="{FF2B5EF4-FFF2-40B4-BE49-F238E27FC236}">
                <a16:creationId xmlns:a16="http://schemas.microsoft.com/office/drawing/2014/main" id="{6F5881F2-C868-35D6-831F-ED04E3A347FF}"/>
              </a:ext>
            </a:extLst>
          </p:cNvPr>
          <p:cNvSpPr/>
          <p:nvPr/>
        </p:nvSpPr>
        <p:spPr>
          <a:xfrm>
            <a:off x="1051560" y="5136330"/>
            <a:ext cx="4343400" cy="769976"/>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Independent application using </a:t>
            </a:r>
            <a:r>
              <a:rPr lang="en-US" sz="1400" dirty="0" err="1">
                <a:solidFill>
                  <a:srgbClr val="1B1F27"/>
                </a:solidFill>
                <a:latin typeface="Calibri" pitchFamily="34" charset="0"/>
                <a:ea typeface="Calibri" pitchFamily="34" charset="-122"/>
                <a:cs typeface="Calibri" pitchFamily="34" charset="-120"/>
              </a:rPr>
              <a:t>UI_SetIdRef</a:t>
            </a:r>
            <a:r>
              <a:rPr lang="en-US" sz="1400" dirty="0">
                <a:solidFill>
                  <a:srgbClr val="1B1F27"/>
                </a:solidFill>
                <a:latin typeface="Calibri" pitchFamily="34" charset="0"/>
                <a:ea typeface="Calibri" pitchFamily="34" charset="-122"/>
                <a:cs typeface="Calibri" pitchFamily="34" charset="-120"/>
              </a:rPr>
              <a:t>() and </a:t>
            </a:r>
            <a:r>
              <a:rPr lang="en-US" sz="1400" dirty="0" err="1">
                <a:solidFill>
                  <a:srgbClr val="1B1F27"/>
                </a:solidFill>
                <a:latin typeface="Calibri" pitchFamily="34" charset="0"/>
                <a:ea typeface="Calibri" pitchFamily="34" charset="-122"/>
                <a:cs typeface="Calibri" pitchFamily="34" charset="-120"/>
              </a:rPr>
              <a:t>UI_SetIqRef</a:t>
            </a:r>
            <a:r>
              <a:rPr lang="en-US" sz="1400" dirty="0">
                <a:solidFill>
                  <a:srgbClr val="1B1F27"/>
                </a:solidFill>
                <a:latin typeface="Calibri" pitchFamily="34" charset="0"/>
                <a:ea typeface="Calibri" pitchFamily="34" charset="-122"/>
                <a:cs typeface="Calibri" pitchFamily="34" charset="-120"/>
              </a:rPr>
              <a:t>()</a:t>
            </a:r>
            <a:endParaRPr lang="en-US" sz="1400" dirty="0"/>
          </a:p>
        </p:txBody>
      </p:sp>
      <p:sp>
        <p:nvSpPr>
          <p:cNvPr id="30" name="Shape 14">
            <a:extLst>
              <a:ext uri="{FF2B5EF4-FFF2-40B4-BE49-F238E27FC236}">
                <a16:creationId xmlns:a16="http://schemas.microsoft.com/office/drawing/2014/main" id="{5F32087E-96EF-5A6F-E856-BB40988F4502}"/>
              </a:ext>
            </a:extLst>
          </p:cNvPr>
          <p:cNvSpPr/>
          <p:nvPr/>
        </p:nvSpPr>
        <p:spPr>
          <a:xfrm>
            <a:off x="5897880" y="1417320"/>
            <a:ext cx="5742432" cy="4846320"/>
          </a:xfrm>
          <a:prstGeom prst="roundRect">
            <a:avLst>
              <a:gd name="adj" fmla="val 1869"/>
            </a:avLst>
          </a:prstGeom>
          <a:solidFill>
            <a:srgbClr val="071A33"/>
          </a:solidFill>
          <a:ln/>
          <a:effectLst>
            <a:outerShdw blurRad="101600" dist="25400" dir="5400000" algn="bl" rotWithShape="0">
              <a:srgbClr val="000000">
                <a:alpha val="22000"/>
              </a:srgbClr>
            </a:outerShdw>
          </a:effectLst>
        </p:spPr>
        <p:txBody>
          <a:bodyPr/>
          <a:lstStyle/>
          <a:p>
            <a:endParaRPr lang="it-IT" sz="1300"/>
          </a:p>
        </p:txBody>
      </p:sp>
      <p:sp>
        <p:nvSpPr>
          <p:cNvPr id="32" name="Text 15">
            <a:extLst>
              <a:ext uri="{FF2B5EF4-FFF2-40B4-BE49-F238E27FC236}">
                <a16:creationId xmlns:a16="http://schemas.microsoft.com/office/drawing/2014/main" id="{214ECDF1-D3E0-3927-A0CC-8A5957C318EE}"/>
              </a:ext>
            </a:extLst>
          </p:cNvPr>
          <p:cNvSpPr/>
          <p:nvPr/>
        </p:nvSpPr>
        <p:spPr>
          <a:xfrm>
            <a:off x="6153912" y="1673352"/>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#define MC_PROTOCOL_CODE_SET_CURRENT_ID_REF 0x0F</a:t>
            </a:r>
            <a:endParaRPr lang="en-US" sz="1300" dirty="0"/>
          </a:p>
        </p:txBody>
      </p:sp>
      <p:sp>
        <p:nvSpPr>
          <p:cNvPr id="34" name="Text 16">
            <a:extLst>
              <a:ext uri="{FF2B5EF4-FFF2-40B4-BE49-F238E27FC236}">
                <a16:creationId xmlns:a16="http://schemas.microsoft.com/office/drawing/2014/main" id="{EABD69B7-31A3-F31D-E6CB-8D0EE37FE185}"/>
              </a:ext>
            </a:extLst>
          </p:cNvPr>
          <p:cNvSpPr/>
          <p:nvPr/>
        </p:nvSpPr>
        <p:spPr>
          <a:xfrm>
            <a:off x="6153912" y="1842516"/>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#define MC_PROTOCOL_CODE_SET_CURRENT_IQ_REF 0x11</a:t>
            </a:r>
            <a:endParaRPr lang="en-US" sz="1300" dirty="0"/>
          </a:p>
        </p:txBody>
      </p:sp>
      <p:sp>
        <p:nvSpPr>
          <p:cNvPr id="36" name="Text 17">
            <a:extLst>
              <a:ext uri="{FF2B5EF4-FFF2-40B4-BE49-F238E27FC236}">
                <a16:creationId xmlns:a16="http://schemas.microsoft.com/office/drawing/2014/main" id="{7ACF8AC7-AB2D-94D8-E565-8AD740FF5D6E}"/>
              </a:ext>
            </a:extLst>
          </p:cNvPr>
          <p:cNvSpPr/>
          <p:nvPr/>
        </p:nvSpPr>
        <p:spPr>
          <a:xfrm>
            <a:off x="6153912" y="2011680"/>
            <a:ext cx="5230368" cy="167583"/>
          </a:xfrm>
          <a:prstGeom prst="rect">
            <a:avLst/>
          </a:prstGeom>
          <a:noFill/>
          <a:ln/>
        </p:spPr>
        <p:txBody>
          <a:bodyPr wrap="square" lIns="0" tIns="0" rIns="0" bIns="0" rtlCol="0" anchor="ctr"/>
          <a:lstStyle/>
          <a:p>
            <a:pPr marL="0" indent="0">
              <a:buNone/>
            </a:pPr>
            <a:endParaRPr lang="en-US" sz="950" dirty="0"/>
          </a:p>
        </p:txBody>
      </p:sp>
      <p:sp>
        <p:nvSpPr>
          <p:cNvPr id="38" name="Text 18">
            <a:extLst>
              <a:ext uri="{FF2B5EF4-FFF2-40B4-BE49-F238E27FC236}">
                <a16:creationId xmlns:a16="http://schemas.microsoft.com/office/drawing/2014/main" id="{8B238887-CD34-023D-F84B-C76878B40E4F}"/>
              </a:ext>
            </a:extLst>
          </p:cNvPr>
          <p:cNvSpPr/>
          <p:nvPr/>
        </p:nvSpPr>
        <p:spPr>
          <a:xfrm>
            <a:off x="6153912" y="2180844"/>
            <a:ext cx="5230368" cy="167583"/>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case SET_CURRENT_ID:</a:t>
            </a:r>
            <a:endParaRPr lang="en-US" sz="1300" dirty="0"/>
          </a:p>
        </p:txBody>
      </p:sp>
      <p:sp>
        <p:nvSpPr>
          <p:cNvPr id="40" name="Text 19">
            <a:extLst>
              <a:ext uri="{FF2B5EF4-FFF2-40B4-BE49-F238E27FC236}">
                <a16:creationId xmlns:a16="http://schemas.microsoft.com/office/drawing/2014/main" id="{BC20E688-FF6E-2C26-AE60-BEE7D4A077ED}"/>
              </a:ext>
            </a:extLst>
          </p:cNvPr>
          <p:cNvSpPr/>
          <p:nvPr/>
        </p:nvSpPr>
        <p:spPr>
          <a:xfrm>
            <a:off x="6153912" y="2350008"/>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msg[0] = MC_PROTOCOL_CODE_SET_CURRENT_ID_REF;</a:t>
            </a:r>
            <a:endParaRPr lang="en-US" sz="1300" dirty="0"/>
          </a:p>
        </p:txBody>
      </p:sp>
      <p:sp>
        <p:nvSpPr>
          <p:cNvPr id="42" name="Text 20">
            <a:extLst>
              <a:ext uri="{FF2B5EF4-FFF2-40B4-BE49-F238E27FC236}">
                <a16:creationId xmlns:a16="http://schemas.microsoft.com/office/drawing/2014/main" id="{CD1C33FC-0AD8-322F-A27E-FFAB7207DCBF}"/>
              </a:ext>
            </a:extLst>
          </p:cNvPr>
          <p:cNvSpPr/>
          <p:nvPr/>
        </p:nvSpPr>
        <p:spPr>
          <a:xfrm>
            <a:off x="6153912" y="2519172"/>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msg[1] = 0x2;</a:t>
            </a:r>
            <a:endParaRPr lang="en-US" sz="1300" dirty="0"/>
          </a:p>
        </p:txBody>
      </p:sp>
      <p:sp>
        <p:nvSpPr>
          <p:cNvPr id="44" name="Text 21">
            <a:extLst>
              <a:ext uri="{FF2B5EF4-FFF2-40B4-BE49-F238E27FC236}">
                <a16:creationId xmlns:a16="http://schemas.microsoft.com/office/drawing/2014/main" id="{09C8B390-A4AE-4D33-9C26-E7D480587A17}"/>
              </a:ext>
            </a:extLst>
          </p:cNvPr>
          <p:cNvSpPr/>
          <p:nvPr/>
        </p:nvSpPr>
        <p:spPr>
          <a:xfrm>
            <a:off x="6153912" y="2688336"/>
            <a:ext cx="5230368" cy="167583"/>
          </a:xfrm>
          <a:prstGeom prst="rect">
            <a:avLst/>
          </a:prstGeom>
          <a:noFill/>
          <a:ln/>
        </p:spPr>
        <p:txBody>
          <a:bodyPr wrap="square" lIns="0" tIns="0" rIns="0" bIns="0" rtlCol="0" anchor="ctr"/>
          <a:lstStyle/>
          <a:p>
            <a:pPr marL="0" indent="0">
              <a:buNone/>
            </a:pPr>
            <a:endParaRPr lang="en-US" sz="950" dirty="0"/>
          </a:p>
        </p:txBody>
      </p:sp>
      <p:sp>
        <p:nvSpPr>
          <p:cNvPr id="46" name="Text 22">
            <a:extLst>
              <a:ext uri="{FF2B5EF4-FFF2-40B4-BE49-F238E27FC236}">
                <a16:creationId xmlns:a16="http://schemas.microsoft.com/office/drawing/2014/main" id="{BE1BCA05-5C55-FC26-0BD0-FCE031B82AFB}"/>
              </a:ext>
            </a:extLst>
          </p:cNvPr>
          <p:cNvSpPr/>
          <p:nvPr/>
        </p:nvSpPr>
        <p:spPr>
          <a:xfrm>
            <a:off x="6153912" y="2857500"/>
            <a:ext cx="5230368" cy="167583"/>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case SET_CURRENT_IQ:</a:t>
            </a:r>
            <a:endParaRPr lang="en-US" sz="1300" dirty="0"/>
          </a:p>
        </p:txBody>
      </p:sp>
      <p:sp>
        <p:nvSpPr>
          <p:cNvPr id="48" name="Text 23">
            <a:extLst>
              <a:ext uri="{FF2B5EF4-FFF2-40B4-BE49-F238E27FC236}">
                <a16:creationId xmlns:a16="http://schemas.microsoft.com/office/drawing/2014/main" id="{9F4447BC-8C73-4C49-2457-8778D11F3158}"/>
              </a:ext>
            </a:extLst>
          </p:cNvPr>
          <p:cNvSpPr/>
          <p:nvPr/>
        </p:nvSpPr>
        <p:spPr>
          <a:xfrm>
            <a:off x="6153912" y="3026664"/>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msg[0] = MC_PROTOCOL_CODE_SET_CURRENT_IQ_REF;</a:t>
            </a:r>
            <a:endParaRPr lang="en-US" sz="1300" dirty="0"/>
          </a:p>
        </p:txBody>
      </p:sp>
      <p:sp>
        <p:nvSpPr>
          <p:cNvPr id="50" name="Text 24">
            <a:extLst>
              <a:ext uri="{FF2B5EF4-FFF2-40B4-BE49-F238E27FC236}">
                <a16:creationId xmlns:a16="http://schemas.microsoft.com/office/drawing/2014/main" id="{DF9C8135-6C4B-A74C-B1FA-67BF2F485E38}"/>
              </a:ext>
            </a:extLst>
          </p:cNvPr>
          <p:cNvSpPr/>
          <p:nvPr/>
        </p:nvSpPr>
        <p:spPr>
          <a:xfrm>
            <a:off x="6153912" y="3195828"/>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msg[1] = 0x2;</a:t>
            </a:r>
            <a:endParaRPr lang="en-US" sz="1300" dirty="0"/>
          </a:p>
        </p:txBody>
      </p:sp>
      <p:sp>
        <p:nvSpPr>
          <p:cNvPr id="52" name="Text 25">
            <a:extLst>
              <a:ext uri="{FF2B5EF4-FFF2-40B4-BE49-F238E27FC236}">
                <a16:creationId xmlns:a16="http://schemas.microsoft.com/office/drawing/2014/main" id="{0AEBEB81-4012-C9E0-A963-9DFC5CCF1ED7}"/>
              </a:ext>
            </a:extLst>
          </p:cNvPr>
          <p:cNvSpPr/>
          <p:nvPr/>
        </p:nvSpPr>
        <p:spPr>
          <a:xfrm>
            <a:off x="6153912" y="3364992"/>
            <a:ext cx="5230368" cy="167583"/>
          </a:xfrm>
          <a:prstGeom prst="rect">
            <a:avLst/>
          </a:prstGeom>
          <a:noFill/>
          <a:ln/>
        </p:spPr>
        <p:txBody>
          <a:bodyPr wrap="square" lIns="0" tIns="0" rIns="0" bIns="0" rtlCol="0" anchor="ctr"/>
          <a:lstStyle/>
          <a:p>
            <a:pPr marL="0" indent="0">
              <a:buNone/>
            </a:pPr>
            <a:endParaRPr lang="en-US" sz="950" dirty="0"/>
          </a:p>
        </p:txBody>
      </p:sp>
      <p:sp>
        <p:nvSpPr>
          <p:cNvPr id="54" name="Text 26">
            <a:extLst>
              <a:ext uri="{FF2B5EF4-FFF2-40B4-BE49-F238E27FC236}">
                <a16:creationId xmlns:a16="http://schemas.microsoft.com/office/drawing/2014/main" id="{ACB0554A-F6DE-3EC1-01F2-A9F664E16F6B}"/>
              </a:ext>
            </a:extLst>
          </p:cNvPr>
          <p:cNvSpPr/>
          <p:nvPr/>
        </p:nvSpPr>
        <p:spPr>
          <a:xfrm>
            <a:off x="6153912" y="3534156"/>
            <a:ext cx="5230368" cy="167583"/>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case MC_PROTOCOL_CODE_SET_CURRENT_ID_REF: {</a:t>
            </a:r>
            <a:endParaRPr lang="en-US" sz="1300" dirty="0"/>
          </a:p>
        </p:txBody>
      </p:sp>
      <p:sp>
        <p:nvSpPr>
          <p:cNvPr id="56" name="Text 27">
            <a:extLst>
              <a:ext uri="{FF2B5EF4-FFF2-40B4-BE49-F238E27FC236}">
                <a16:creationId xmlns:a16="http://schemas.microsoft.com/office/drawing/2014/main" id="{A1DA8C6E-C212-FC29-A622-1064C9DF09E7}"/>
              </a:ext>
            </a:extLst>
          </p:cNvPr>
          <p:cNvSpPr/>
          <p:nvPr/>
        </p:nvSpPr>
        <p:spPr>
          <a:xfrm>
            <a:off x="6153912" y="3703320"/>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int16_t hIdRef = (int16_t)buffer[0] +</a:t>
            </a:r>
            <a:endParaRPr lang="en-US" sz="1300" dirty="0"/>
          </a:p>
        </p:txBody>
      </p:sp>
      <p:sp>
        <p:nvSpPr>
          <p:cNvPr id="58" name="Text 28">
            <a:extLst>
              <a:ext uri="{FF2B5EF4-FFF2-40B4-BE49-F238E27FC236}">
                <a16:creationId xmlns:a16="http://schemas.microsoft.com/office/drawing/2014/main" id="{6ABD4483-D813-7710-C6D5-63670F561F52}"/>
              </a:ext>
            </a:extLst>
          </p:cNvPr>
          <p:cNvSpPr/>
          <p:nvPr/>
        </p:nvSpPr>
        <p:spPr>
          <a:xfrm>
            <a:off x="6153912" y="3872484"/>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((int16_t)buffer[1] &lt;&lt; 8);</a:t>
            </a:r>
            <a:endParaRPr lang="en-US" sz="1300" dirty="0"/>
          </a:p>
        </p:txBody>
      </p:sp>
      <p:sp>
        <p:nvSpPr>
          <p:cNvPr id="60" name="Text 29">
            <a:extLst>
              <a:ext uri="{FF2B5EF4-FFF2-40B4-BE49-F238E27FC236}">
                <a16:creationId xmlns:a16="http://schemas.microsoft.com/office/drawing/2014/main" id="{F229FD44-E97F-5089-D328-960D8F0504DA}"/>
              </a:ext>
            </a:extLst>
          </p:cNvPr>
          <p:cNvSpPr/>
          <p:nvPr/>
        </p:nvSpPr>
        <p:spPr>
          <a:xfrm>
            <a:off x="6153912" y="4041648"/>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UI_SetIdRef(&amp;pHandle-&gt;_Super, hIdRef);</a:t>
            </a:r>
            <a:endParaRPr lang="en-US" sz="1300" dirty="0"/>
          </a:p>
        </p:txBody>
      </p:sp>
      <p:sp>
        <p:nvSpPr>
          <p:cNvPr id="62" name="Text 30">
            <a:extLst>
              <a:ext uri="{FF2B5EF4-FFF2-40B4-BE49-F238E27FC236}">
                <a16:creationId xmlns:a16="http://schemas.microsoft.com/office/drawing/2014/main" id="{3B9D6A61-41A8-A82C-E48A-E3627EED2933}"/>
              </a:ext>
            </a:extLst>
          </p:cNvPr>
          <p:cNvSpPr/>
          <p:nvPr/>
        </p:nvSpPr>
        <p:spPr>
          <a:xfrm>
            <a:off x="6153912" y="4210812"/>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bNoError = true;</a:t>
            </a:r>
            <a:endParaRPr lang="en-US" sz="1300" dirty="0"/>
          </a:p>
        </p:txBody>
      </p:sp>
      <p:sp>
        <p:nvSpPr>
          <p:cNvPr id="64" name="Text 31">
            <a:extLst>
              <a:ext uri="{FF2B5EF4-FFF2-40B4-BE49-F238E27FC236}">
                <a16:creationId xmlns:a16="http://schemas.microsoft.com/office/drawing/2014/main" id="{FC8A24FD-713E-C903-8797-D114506B7CDA}"/>
              </a:ext>
            </a:extLst>
          </p:cNvPr>
          <p:cNvSpPr/>
          <p:nvPr/>
        </p:nvSpPr>
        <p:spPr>
          <a:xfrm>
            <a:off x="6153912" y="4379976"/>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break;</a:t>
            </a:r>
            <a:endParaRPr lang="en-US" sz="1300" dirty="0"/>
          </a:p>
        </p:txBody>
      </p:sp>
      <p:sp>
        <p:nvSpPr>
          <p:cNvPr id="66" name="Text 32">
            <a:extLst>
              <a:ext uri="{FF2B5EF4-FFF2-40B4-BE49-F238E27FC236}">
                <a16:creationId xmlns:a16="http://schemas.microsoft.com/office/drawing/2014/main" id="{C9099310-CEA8-0B59-FF73-844970CC380D}"/>
              </a:ext>
            </a:extLst>
          </p:cNvPr>
          <p:cNvSpPr/>
          <p:nvPr/>
        </p:nvSpPr>
        <p:spPr>
          <a:xfrm>
            <a:off x="6153912" y="4549140"/>
            <a:ext cx="5230368" cy="167583"/>
          </a:xfrm>
          <a:prstGeom prst="rect">
            <a:avLst/>
          </a:prstGeom>
          <a:noFill/>
          <a:ln/>
        </p:spPr>
        <p:txBody>
          <a:bodyPr wrap="square" lIns="0" tIns="0" rIns="0" bIns="0" rtlCol="0" anchor="ctr"/>
          <a:lstStyle/>
          <a:p>
            <a:pPr marL="0" indent="0">
              <a:buNone/>
            </a:pPr>
            <a:endParaRPr lang="en-US" sz="950" dirty="0"/>
          </a:p>
        </p:txBody>
      </p:sp>
      <p:sp>
        <p:nvSpPr>
          <p:cNvPr id="68" name="Text 33">
            <a:extLst>
              <a:ext uri="{FF2B5EF4-FFF2-40B4-BE49-F238E27FC236}">
                <a16:creationId xmlns:a16="http://schemas.microsoft.com/office/drawing/2014/main" id="{C17659C0-9847-C203-4453-252691FBC9C1}"/>
              </a:ext>
            </a:extLst>
          </p:cNvPr>
          <p:cNvSpPr/>
          <p:nvPr/>
        </p:nvSpPr>
        <p:spPr>
          <a:xfrm>
            <a:off x="6153912" y="4718304"/>
            <a:ext cx="5230368" cy="167583"/>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case MC_PROTOCOL_CODE_SET_CURRENT_IQ_REF: {</a:t>
            </a:r>
            <a:endParaRPr lang="en-US" sz="1300" dirty="0"/>
          </a:p>
        </p:txBody>
      </p:sp>
      <p:sp>
        <p:nvSpPr>
          <p:cNvPr id="70" name="Text 34">
            <a:extLst>
              <a:ext uri="{FF2B5EF4-FFF2-40B4-BE49-F238E27FC236}">
                <a16:creationId xmlns:a16="http://schemas.microsoft.com/office/drawing/2014/main" id="{BA0D104F-812F-BAAB-FC93-C46DB31FD018}"/>
              </a:ext>
            </a:extLst>
          </p:cNvPr>
          <p:cNvSpPr/>
          <p:nvPr/>
        </p:nvSpPr>
        <p:spPr>
          <a:xfrm>
            <a:off x="6153912" y="4887468"/>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int16_t hIqRef = (int16_t)buffer[0] +</a:t>
            </a:r>
            <a:endParaRPr lang="en-US" sz="1300" dirty="0"/>
          </a:p>
        </p:txBody>
      </p:sp>
      <p:sp>
        <p:nvSpPr>
          <p:cNvPr id="72" name="Text 35">
            <a:extLst>
              <a:ext uri="{FF2B5EF4-FFF2-40B4-BE49-F238E27FC236}">
                <a16:creationId xmlns:a16="http://schemas.microsoft.com/office/drawing/2014/main" id="{9C342F48-EED0-8ECE-6AC0-AC71C6CE9D0F}"/>
              </a:ext>
            </a:extLst>
          </p:cNvPr>
          <p:cNvSpPr/>
          <p:nvPr/>
        </p:nvSpPr>
        <p:spPr>
          <a:xfrm>
            <a:off x="6153912" y="5056632"/>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((int16_t)buffer[1] &lt;&lt; 8);</a:t>
            </a:r>
            <a:endParaRPr lang="en-US" sz="1300" dirty="0"/>
          </a:p>
        </p:txBody>
      </p:sp>
      <p:sp>
        <p:nvSpPr>
          <p:cNvPr id="74" name="Text 36">
            <a:extLst>
              <a:ext uri="{FF2B5EF4-FFF2-40B4-BE49-F238E27FC236}">
                <a16:creationId xmlns:a16="http://schemas.microsoft.com/office/drawing/2014/main" id="{14BB6B90-C49E-9CB5-12C6-F52D4DA4B3F9}"/>
              </a:ext>
            </a:extLst>
          </p:cNvPr>
          <p:cNvSpPr/>
          <p:nvPr/>
        </p:nvSpPr>
        <p:spPr>
          <a:xfrm>
            <a:off x="6153912" y="5225796"/>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UI_SetIqRef(&amp;pHandle-&gt;_Super, hIqRef);</a:t>
            </a:r>
            <a:endParaRPr lang="en-US" sz="1300" dirty="0"/>
          </a:p>
        </p:txBody>
      </p:sp>
      <p:sp>
        <p:nvSpPr>
          <p:cNvPr id="76" name="Text 37">
            <a:extLst>
              <a:ext uri="{FF2B5EF4-FFF2-40B4-BE49-F238E27FC236}">
                <a16:creationId xmlns:a16="http://schemas.microsoft.com/office/drawing/2014/main" id="{751E6373-D56A-6377-51AF-CEC1EA155061}"/>
              </a:ext>
            </a:extLst>
          </p:cNvPr>
          <p:cNvSpPr/>
          <p:nvPr/>
        </p:nvSpPr>
        <p:spPr>
          <a:xfrm>
            <a:off x="6153912" y="5394960"/>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bNoError = true;</a:t>
            </a:r>
            <a:endParaRPr lang="en-US" sz="1300" dirty="0"/>
          </a:p>
        </p:txBody>
      </p:sp>
      <p:sp>
        <p:nvSpPr>
          <p:cNvPr id="78" name="Text 38">
            <a:extLst>
              <a:ext uri="{FF2B5EF4-FFF2-40B4-BE49-F238E27FC236}">
                <a16:creationId xmlns:a16="http://schemas.microsoft.com/office/drawing/2014/main" id="{59103219-72BF-532A-78E7-33EE0D4512E1}"/>
              </a:ext>
            </a:extLst>
          </p:cNvPr>
          <p:cNvSpPr/>
          <p:nvPr/>
        </p:nvSpPr>
        <p:spPr>
          <a:xfrm>
            <a:off x="6153912" y="5564124"/>
            <a:ext cx="5230368" cy="16758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break;</a:t>
            </a:r>
            <a:endParaRPr lang="en-US" sz="1300" dirty="0"/>
          </a:p>
        </p:txBody>
      </p:sp>
      <p:sp>
        <p:nvSpPr>
          <p:cNvPr id="9" name="Text 0">
            <a:extLst>
              <a:ext uri="{FF2B5EF4-FFF2-40B4-BE49-F238E27FC236}">
                <a16:creationId xmlns:a16="http://schemas.microsoft.com/office/drawing/2014/main" id="{3FEE4F2D-2CCD-AC51-AA9C-7A63E39AC9C8}"/>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1319447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D56C7-AB1D-D3F2-AB5D-F3BB53BB5B76}"/>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0DE6369E-81D2-C416-2BD3-50A6E15B5A16}"/>
              </a:ext>
            </a:extLst>
          </p:cNvPr>
          <p:cNvSpPr>
            <a:spLocks noGrp="1"/>
          </p:cNvSpPr>
          <p:nvPr>
            <p:ph type="title"/>
          </p:nvPr>
        </p:nvSpPr>
        <p:spPr/>
        <p:txBody>
          <a:bodyPr/>
          <a:lstStyle/>
          <a:p>
            <a:r>
              <a:rPr lang="en-US" b="1" dirty="0" err="1">
                <a:solidFill>
                  <a:srgbClr val="0B2545"/>
                </a:solidFill>
                <a:latin typeface="Cambria" pitchFamily="34" charset="0"/>
                <a:ea typeface="Cambria" pitchFamily="34" charset="-122"/>
                <a:cs typeface="Cambria" pitchFamily="34" charset="-120"/>
              </a:rPr>
              <a:t>I_q</a:t>
            </a:r>
            <a:r>
              <a:rPr lang="en-US" b="1" dirty="0">
                <a:solidFill>
                  <a:srgbClr val="0B2545"/>
                </a:solidFill>
                <a:latin typeface="Cambria" pitchFamily="34" charset="0"/>
                <a:ea typeface="Cambria" pitchFamily="34" charset="-122"/>
                <a:cs typeface="Cambria" pitchFamily="34" charset="-120"/>
              </a:rPr>
              <a:t> Ramp</a:t>
            </a:r>
            <a:endParaRPr lang="it-IT" dirty="0"/>
          </a:p>
        </p:txBody>
      </p:sp>
      <p:sp>
        <p:nvSpPr>
          <p:cNvPr id="6" name="Shape 2">
            <a:extLst>
              <a:ext uri="{FF2B5EF4-FFF2-40B4-BE49-F238E27FC236}">
                <a16:creationId xmlns:a16="http://schemas.microsoft.com/office/drawing/2014/main" id="{0CF4B413-DB74-6988-2E6C-F6FC59562DB2}"/>
              </a:ext>
            </a:extLst>
          </p:cNvPr>
          <p:cNvSpPr/>
          <p:nvPr/>
        </p:nvSpPr>
        <p:spPr>
          <a:xfrm>
            <a:off x="548640" y="1851660"/>
            <a:ext cx="5120640" cy="2994660"/>
          </a:xfrm>
          <a:prstGeom prst="roundRect">
            <a:avLst>
              <a:gd name="adj" fmla="val 1495"/>
            </a:avLst>
          </a:prstGeom>
          <a:solidFill>
            <a:srgbClr val="FFFFFF"/>
          </a:solidFill>
          <a:ln w="12700">
            <a:solidFill>
              <a:srgbClr val="E3E9F0"/>
            </a:solidFill>
            <a:prstDash val="solid"/>
          </a:ln>
        </p:spPr>
        <p:txBody>
          <a:bodyPr/>
          <a:lstStyle/>
          <a:p>
            <a:endParaRPr lang="it-IT"/>
          </a:p>
        </p:txBody>
      </p:sp>
      <p:sp>
        <p:nvSpPr>
          <p:cNvPr id="8" name="Shape 3">
            <a:extLst>
              <a:ext uri="{FF2B5EF4-FFF2-40B4-BE49-F238E27FC236}">
                <a16:creationId xmlns:a16="http://schemas.microsoft.com/office/drawing/2014/main" id="{67E47C3C-D534-740F-D3F0-AD85ED69B49F}"/>
              </a:ext>
            </a:extLst>
          </p:cNvPr>
          <p:cNvSpPr/>
          <p:nvPr/>
        </p:nvSpPr>
        <p:spPr>
          <a:xfrm>
            <a:off x="548640" y="1825752"/>
            <a:ext cx="5120640" cy="502920"/>
          </a:xfrm>
          <a:prstGeom prst="roundRect">
            <a:avLst>
              <a:gd name="adj" fmla="val 14545"/>
            </a:avLst>
          </a:prstGeom>
          <a:solidFill>
            <a:srgbClr val="0B2545"/>
          </a:solidFill>
          <a:ln/>
        </p:spPr>
        <p:txBody>
          <a:bodyPr/>
          <a:lstStyle/>
          <a:p>
            <a:endParaRPr lang="it-IT"/>
          </a:p>
        </p:txBody>
      </p:sp>
      <p:sp>
        <p:nvSpPr>
          <p:cNvPr id="10" name="Shape 4">
            <a:extLst>
              <a:ext uri="{FF2B5EF4-FFF2-40B4-BE49-F238E27FC236}">
                <a16:creationId xmlns:a16="http://schemas.microsoft.com/office/drawing/2014/main" id="{5D7456BC-13E9-8D1A-1762-83C11959F325}"/>
              </a:ext>
            </a:extLst>
          </p:cNvPr>
          <p:cNvSpPr/>
          <p:nvPr/>
        </p:nvSpPr>
        <p:spPr>
          <a:xfrm>
            <a:off x="548640" y="2107692"/>
            <a:ext cx="5120640" cy="246888"/>
          </a:xfrm>
          <a:prstGeom prst="rect">
            <a:avLst/>
          </a:prstGeom>
          <a:solidFill>
            <a:srgbClr val="0B2545"/>
          </a:solidFill>
          <a:ln/>
        </p:spPr>
        <p:txBody>
          <a:bodyPr/>
          <a:lstStyle/>
          <a:p>
            <a:endParaRPr lang="it-IT"/>
          </a:p>
        </p:txBody>
      </p:sp>
      <p:sp>
        <p:nvSpPr>
          <p:cNvPr id="12" name="Text 5">
            <a:extLst>
              <a:ext uri="{FF2B5EF4-FFF2-40B4-BE49-F238E27FC236}">
                <a16:creationId xmlns:a16="http://schemas.microsoft.com/office/drawing/2014/main" id="{4A81A571-3091-36D1-ED71-1A5858BB19D0}"/>
              </a:ext>
            </a:extLst>
          </p:cNvPr>
          <p:cNvSpPr/>
          <p:nvPr/>
        </p:nvSpPr>
        <p:spPr>
          <a:xfrm>
            <a:off x="804672" y="1851660"/>
            <a:ext cx="4663440" cy="502920"/>
          </a:xfrm>
          <a:prstGeom prst="rect">
            <a:avLst/>
          </a:prstGeom>
          <a:noFill/>
          <a:ln/>
        </p:spPr>
        <p:txBody>
          <a:bodyPr wrap="square" lIns="0" tIns="0" rIns="0" bIns="0" rtlCol="0" anchor="ctr"/>
          <a:lstStyle/>
          <a:p>
            <a:r>
              <a:rPr lang="en-US" sz="1500" b="1">
                <a:solidFill>
                  <a:srgbClr val="FFFFFF"/>
                </a:solidFill>
                <a:latin typeface="Cambria" pitchFamily="34" charset="0"/>
                <a:ea typeface="Cambria" pitchFamily="34" charset="-122"/>
                <a:cs typeface="Cambria" pitchFamily="34" charset="-120"/>
              </a:rPr>
              <a:t>Dedicated references</a:t>
            </a:r>
            <a:endParaRPr lang="en-US" sz="1500" dirty="0"/>
          </a:p>
        </p:txBody>
      </p:sp>
      <p:sp>
        <p:nvSpPr>
          <p:cNvPr id="14" name="Shape 6">
            <a:extLst>
              <a:ext uri="{FF2B5EF4-FFF2-40B4-BE49-F238E27FC236}">
                <a16:creationId xmlns:a16="http://schemas.microsoft.com/office/drawing/2014/main" id="{ECB337B0-2B81-DA30-4E49-46F28BE72D72}"/>
              </a:ext>
            </a:extLst>
          </p:cNvPr>
          <p:cNvSpPr/>
          <p:nvPr/>
        </p:nvSpPr>
        <p:spPr>
          <a:xfrm>
            <a:off x="790956" y="2879853"/>
            <a:ext cx="118872" cy="118872"/>
          </a:xfrm>
          <a:prstGeom prst="ellipse">
            <a:avLst/>
          </a:prstGeom>
          <a:solidFill>
            <a:srgbClr val="00B4D8"/>
          </a:solidFill>
          <a:ln/>
        </p:spPr>
        <p:txBody>
          <a:bodyPr/>
          <a:lstStyle/>
          <a:p>
            <a:endParaRPr lang="it-IT"/>
          </a:p>
        </p:txBody>
      </p:sp>
      <p:sp>
        <p:nvSpPr>
          <p:cNvPr id="16" name="Text 7">
            <a:extLst>
              <a:ext uri="{FF2B5EF4-FFF2-40B4-BE49-F238E27FC236}">
                <a16:creationId xmlns:a16="http://schemas.microsoft.com/office/drawing/2014/main" id="{8587E87C-4D5A-8D07-551A-9EC1A3BA6DE4}"/>
              </a:ext>
            </a:extLst>
          </p:cNvPr>
          <p:cNvSpPr/>
          <p:nvPr/>
        </p:nvSpPr>
        <p:spPr>
          <a:xfrm>
            <a:off x="1051560" y="2781300"/>
            <a:ext cx="4343400" cy="777240"/>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Command and function already present in the library</a:t>
            </a:r>
            <a:endParaRPr lang="en-US" sz="1400" dirty="0"/>
          </a:p>
        </p:txBody>
      </p:sp>
      <p:sp>
        <p:nvSpPr>
          <p:cNvPr id="18" name="Shape 8">
            <a:extLst>
              <a:ext uri="{FF2B5EF4-FFF2-40B4-BE49-F238E27FC236}">
                <a16:creationId xmlns:a16="http://schemas.microsoft.com/office/drawing/2014/main" id="{71E295F3-FAA6-42E4-64CB-96DF72E5E271}"/>
              </a:ext>
            </a:extLst>
          </p:cNvPr>
          <p:cNvSpPr/>
          <p:nvPr/>
        </p:nvSpPr>
        <p:spPr>
          <a:xfrm>
            <a:off x="777240" y="3628645"/>
            <a:ext cx="118872" cy="118872"/>
          </a:xfrm>
          <a:prstGeom prst="ellipse">
            <a:avLst/>
          </a:prstGeom>
          <a:solidFill>
            <a:srgbClr val="00B4D8"/>
          </a:solidFill>
          <a:ln/>
        </p:spPr>
        <p:txBody>
          <a:bodyPr/>
          <a:lstStyle/>
          <a:p>
            <a:endParaRPr lang="it-IT"/>
          </a:p>
        </p:txBody>
      </p:sp>
      <p:sp>
        <p:nvSpPr>
          <p:cNvPr id="20" name="Text 9">
            <a:extLst>
              <a:ext uri="{FF2B5EF4-FFF2-40B4-BE49-F238E27FC236}">
                <a16:creationId xmlns:a16="http://schemas.microsoft.com/office/drawing/2014/main" id="{08E7CADE-9A79-B74F-FDC8-9B83D7841AAC}"/>
              </a:ext>
            </a:extLst>
          </p:cNvPr>
          <p:cNvSpPr/>
          <p:nvPr/>
        </p:nvSpPr>
        <p:spPr>
          <a:xfrm>
            <a:off x="1051560" y="3558540"/>
            <a:ext cx="4343400" cy="777240"/>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Implementation of case statements in the DYNO2DW function, with payload length equal to the number of bytes required by the function</a:t>
            </a:r>
            <a:endParaRPr lang="en-US" sz="1400" dirty="0"/>
          </a:p>
        </p:txBody>
      </p:sp>
      <p:sp>
        <p:nvSpPr>
          <p:cNvPr id="22" name="Shape 10">
            <a:extLst>
              <a:ext uri="{FF2B5EF4-FFF2-40B4-BE49-F238E27FC236}">
                <a16:creationId xmlns:a16="http://schemas.microsoft.com/office/drawing/2014/main" id="{32C41311-274C-D182-60BB-D9D8FE91FD40}"/>
              </a:ext>
            </a:extLst>
          </p:cNvPr>
          <p:cNvSpPr/>
          <p:nvPr/>
        </p:nvSpPr>
        <p:spPr>
          <a:xfrm>
            <a:off x="5971032" y="1515994"/>
            <a:ext cx="5742432" cy="3826012"/>
          </a:xfrm>
          <a:prstGeom prst="roundRect">
            <a:avLst>
              <a:gd name="adj" fmla="val 1869"/>
            </a:avLst>
          </a:prstGeom>
          <a:solidFill>
            <a:srgbClr val="071A33"/>
          </a:solidFill>
          <a:ln/>
          <a:effectLst>
            <a:outerShdw blurRad="101600" dist="25400" dir="5400000" algn="bl" rotWithShape="0">
              <a:srgbClr val="000000">
                <a:alpha val="22000"/>
              </a:srgbClr>
            </a:outerShdw>
          </a:effectLst>
        </p:spPr>
        <p:txBody>
          <a:bodyPr/>
          <a:lstStyle/>
          <a:p>
            <a:endParaRPr lang="it-IT"/>
          </a:p>
        </p:txBody>
      </p:sp>
      <p:sp>
        <p:nvSpPr>
          <p:cNvPr id="24" name="Text 11">
            <a:extLst>
              <a:ext uri="{FF2B5EF4-FFF2-40B4-BE49-F238E27FC236}">
                <a16:creationId xmlns:a16="http://schemas.microsoft.com/office/drawing/2014/main" id="{E1BEA69F-26C5-32C4-4CC2-4365B69CE252}"/>
              </a:ext>
            </a:extLst>
          </p:cNvPr>
          <p:cNvSpPr/>
          <p:nvPr/>
        </p:nvSpPr>
        <p:spPr>
          <a:xfrm>
            <a:off x="6227064" y="1836034"/>
            <a:ext cx="5230368" cy="205740"/>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case SET_IQ_RAMP:</a:t>
            </a:r>
            <a:endParaRPr lang="en-US" sz="1300" dirty="0"/>
          </a:p>
        </p:txBody>
      </p:sp>
      <p:sp>
        <p:nvSpPr>
          <p:cNvPr id="26" name="Text 12">
            <a:extLst>
              <a:ext uri="{FF2B5EF4-FFF2-40B4-BE49-F238E27FC236}">
                <a16:creationId xmlns:a16="http://schemas.microsoft.com/office/drawing/2014/main" id="{CE5B0FFC-EAB0-0CFB-A4BD-B61C6263889F}"/>
              </a:ext>
            </a:extLst>
          </p:cNvPr>
          <p:cNvSpPr/>
          <p:nvPr/>
        </p:nvSpPr>
        <p:spPr>
          <a:xfrm>
            <a:off x="6227064" y="2041774"/>
            <a:ext cx="5230368" cy="205740"/>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  msg[0] = MC_PROTOCOL_CODE_SET_TORQUE_RAMP;</a:t>
            </a:r>
            <a:endParaRPr lang="en-US" sz="1150" dirty="0"/>
          </a:p>
        </p:txBody>
      </p:sp>
      <p:sp>
        <p:nvSpPr>
          <p:cNvPr id="28" name="Text 13">
            <a:extLst>
              <a:ext uri="{FF2B5EF4-FFF2-40B4-BE49-F238E27FC236}">
                <a16:creationId xmlns:a16="http://schemas.microsoft.com/office/drawing/2014/main" id="{56679BFB-D7F2-1B1F-E8E2-30D360609FA6}"/>
              </a:ext>
            </a:extLst>
          </p:cNvPr>
          <p:cNvSpPr/>
          <p:nvPr/>
        </p:nvSpPr>
        <p:spPr>
          <a:xfrm>
            <a:off x="6227064" y="224751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msg[1] = 0x6;</a:t>
            </a:r>
            <a:endParaRPr lang="en-US" sz="1300" dirty="0"/>
          </a:p>
        </p:txBody>
      </p:sp>
      <p:sp>
        <p:nvSpPr>
          <p:cNvPr id="30" name="Text 14">
            <a:extLst>
              <a:ext uri="{FF2B5EF4-FFF2-40B4-BE49-F238E27FC236}">
                <a16:creationId xmlns:a16="http://schemas.microsoft.com/office/drawing/2014/main" id="{39872CF9-3068-C1D9-FD3C-5271A1D7ED0A}"/>
              </a:ext>
            </a:extLst>
          </p:cNvPr>
          <p:cNvSpPr/>
          <p:nvPr/>
        </p:nvSpPr>
        <p:spPr>
          <a:xfrm>
            <a:off x="6227064" y="2453254"/>
            <a:ext cx="5230368" cy="205740"/>
          </a:xfrm>
          <a:prstGeom prst="rect">
            <a:avLst/>
          </a:prstGeom>
          <a:noFill/>
          <a:ln/>
        </p:spPr>
        <p:txBody>
          <a:bodyPr wrap="square" lIns="0" tIns="0" rIns="0" bIns="0" rtlCol="0" anchor="ctr"/>
          <a:lstStyle/>
          <a:p>
            <a:pPr marL="0" indent="0">
              <a:buNone/>
            </a:pPr>
            <a:endParaRPr lang="en-US" sz="1150" dirty="0"/>
          </a:p>
        </p:txBody>
      </p:sp>
      <p:sp>
        <p:nvSpPr>
          <p:cNvPr id="32" name="Text 15">
            <a:extLst>
              <a:ext uri="{FF2B5EF4-FFF2-40B4-BE49-F238E27FC236}">
                <a16:creationId xmlns:a16="http://schemas.microsoft.com/office/drawing/2014/main" id="{BB8E1D80-9E21-2D83-661D-3E4A35D1DEBE}"/>
              </a:ext>
            </a:extLst>
          </p:cNvPr>
          <p:cNvSpPr/>
          <p:nvPr/>
        </p:nvSpPr>
        <p:spPr>
          <a:xfrm>
            <a:off x="6227064" y="265899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34" name="Text 16">
            <a:extLst>
              <a:ext uri="{FF2B5EF4-FFF2-40B4-BE49-F238E27FC236}">
                <a16:creationId xmlns:a16="http://schemas.microsoft.com/office/drawing/2014/main" id="{2639D602-1CCE-AC5A-DCFA-756B35A7447A}"/>
              </a:ext>
            </a:extLst>
          </p:cNvPr>
          <p:cNvSpPr/>
          <p:nvPr/>
        </p:nvSpPr>
        <p:spPr>
          <a:xfrm>
            <a:off x="6227064" y="2864734"/>
            <a:ext cx="5230368" cy="205740"/>
          </a:xfrm>
          <a:prstGeom prst="rect">
            <a:avLst/>
          </a:prstGeom>
          <a:noFill/>
          <a:ln/>
        </p:spPr>
        <p:txBody>
          <a:bodyPr wrap="square" lIns="0" tIns="0" rIns="0" bIns="0" rtlCol="0" anchor="ctr"/>
          <a:lstStyle/>
          <a:p>
            <a:pPr marL="0" indent="0">
              <a:buNone/>
            </a:pPr>
            <a:endParaRPr lang="en-US" sz="1150" dirty="0"/>
          </a:p>
        </p:txBody>
      </p:sp>
      <p:sp>
        <p:nvSpPr>
          <p:cNvPr id="36" name="Text 17">
            <a:extLst>
              <a:ext uri="{FF2B5EF4-FFF2-40B4-BE49-F238E27FC236}">
                <a16:creationId xmlns:a16="http://schemas.microsoft.com/office/drawing/2014/main" id="{C27DB069-F59F-0978-F5CE-6A0918BA724A}"/>
              </a:ext>
            </a:extLst>
          </p:cNvPr>
          <p:cNvSpPr/>
          <p:nvPr/>
        </p:nvSpPr>
        <p:spPr>
          <a:xfrm>
            <a:off x="6227064" y="3070474"/>
            <a:ext cx="5230368" cy="205740"/>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case MC_PROTOCOL_CODE_SET_TORQUE_RAMP: {</a:t>
            </a:r>
            <a:endParaRPr lang="en-US" sz="1300" dirty="0"/>
          </a:p>
        </p:txBody>
      </p:sp>
      <p:sp>
        <p:nvSpPr>
          <p:cNvPr id="38" name="Text 18">
            <a:extLst>
              <a:ext uri="{FF2B5EF4-FFF2-40B4-BE49-F238E27FC236}">
                <a16:creationId xmlns:a16="http://schemas.microsoft.com/office/drawing/2014/main" id="{DF64B8D9-B0D1-2459-3FD0-C9CE16827E95}"/>
              </a:ext>
            </a:extLst>
          </p:cNvPr>
          <p:cNvSpPr/>
          <p:nvPr/>
        </p:nvSpPr>
        <p:spPr>
          <a:xfrm>
            <a:off x="6227064" y="327621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uint16_t duration = buffer[4] +</a:t>
            </a:r>
            <a:endParaRPr lang="en-US" sz="1300" dirty="0"/>
          </a:p>
        </p:txBody>
      </p:sp>
      <p:sp>
        <p:nvSpPr>
          <p:cNvPr id="40" name="Text 19">
            <a:extLst>
              <a:ext uri="{FF2B5EF4-FFF2-40B4-BE49-F238E27FC236}">
                <a16:creationId xmlns:a16="http://schemas.microsoft.com/office/drawing/2014/main" id="{63B4AFEE-4A54-849B-7387-8354B3C65A3F}"/>
              </a:ext>
            </a:extLst>
          </p:cNvPr>
          <p:cNvSpPr/>
          <p:nvPr/>
        </p:nvSpPr>
        <p:spPr>
          <a:xfrm>
            <a:off x="6227064" y="348195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(buffer[5] &lt;&lt; 8);</a:t>
            </a:r>
            <a:endParaRPr lang="en-US" sz="1300" dirty="0"/>
          </a:p>
        </p:txBody>
      </p:sp>
      <p:sp>
        <p:nvSpPr>
          <p:cNvPr id="42" name="Text 20">
            <a:extLst>
              <a:ext uri="{FF2B5EF4-FFF2-40B4-BE49-F238E27FC236}">
                <a16:creationId xmlns:a16="http://schemas.microsoft.com/office/drawing/2014/main" id="{9A3DBD3F-51A2-CA15-37A8-EE92648BD1B8}"/>
              </a:ext>
            </a:extLst>
          </p:cNvPr>
          <p:cNvSpPr/>
          <p:nvPr/>
        </p:nvSpPr>
        <p:spPr>
          <a:xfrm>
            <a:off x="6227064" y="368769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int32_t torque = buffer[0] + (buffer[1] &lt;&lt; 8) +</a:t>
            </a:r>
            <a:endParaRPr lang="en-US" sz="1300" dirty="0"/>
          </a:p>
        </p:txBody>
      </p:sp>
      <p:sp>
        <p:nvSpPr>
          <p:cNvPr id="44" name="Text 21">
            <a:extLst>
              <a:ext uri="{FF2B5EF4-FFF2-40B4-BE49-F238E27FC236}">
                <a16:creationId xmlns:a16="http://schemas.microsoft.com/office/drawing/2014/main" id="{31A984E4-6121-1DAC-22C5-DC6F0374CAF0}"/>
              </a:ext>
            </a:extLst>
          </p:cNvPr>
          <p:cNvSpPr/>
          <p:nvPr/>
        </p:nvSpPr>
        <p:spPr>
          <a:xfrm>
            <a:off x="6227064" y="389343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(buffer[2] &lt;&lt; 16) + (buffer[3] &lt;&lt; 24);</a:t>
            </a:r>
            <a:endParaRPr lang="en-US" sz="1300" dirty="0"/>
          </a:p>
        </p:txBody>
      </p:sp>
      <p:sp>
        <p:nvSpPr>
          <p:cNvPr id="46" name="Text 22">
            <a:extLst>
              <a:ext uri="{FF2B5EF4-FFF2-40B4-BE49-F238E27FC236}">
                <a16:creationId xmlns:a16="http://schemas.microsoft.com/office/drawing/2014/main" id="{43F6CD6B-AF3A-8055-E3CC-5999566D9151}"/>
              </a:ext>
            </a:extLst>
          </p:cNvPr>
          <p:cNvSpPr/>
          <p:nvPr/>
        </p:nvSpPr>
        <p:spPr>
          <a:xfrm>
            <a:off x="6227064" y="409917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bNoError = UI_ExecTorqueRamp(</a:t>
            </a:r>
            <a:endParaRPr lang="en-US" sz="1300" dirty="0"/>
          </a:p>
        </p:txBody>
      </p:sp>
      <p:sp>
        <p:nvSpPr>
          <p:cNvPr id="48" name="Text 23">
            <a:extLst>
              <a:ext uri="{FF2B5EF4-FFF2-40B4-BE49-F238E27FC236}">
                <a16:creationId xmlns:a16="http://schemas.microsoft.com/office/drawing/2014/main" id="{F5EE9603-931B-ED7F-B507-EC4423680B4F}"/>
              </a:ext>
            </a:extLst>
          </p:cNvPr>
          <p:cNvSpPr/>
          <p:nvPr/>
        </p:nvSpPr>
        <p:spPr>
          <a:xfrm>
            <a:off x="6227064" y="430491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&amp;pHandle-&gt;_Super, torque, duration);</a:t>
            </a:r>
            <a:endParaRPr lang="en-US" sz="1300" dirty="0"/>
          </a:p>
        </p:txBody>
      </p:sp>
      <p:sp>
        <p:nvSpPr>
          <p:cNvPr id="50" name="Text 24">
            <a:extLst>
              <a:ext uri="{FF2B5EF4-FFF2-40B4-BE49-F238E27FC236}">
                <a16:creationId xmlns:a16="http://schemas.microsoft.com/office/drawing/2014/main" id="{4FA6BAB7-08D7-C1A9-7A99-6C49B2C0719C}"/>
              </a:ext>
            </a:extLst>
          </p:cNvPr>
          <p:cNvSpPr/>
          <p:nvPr/>
        </p:nvSpPr>
        <p:spPr>
          <a:xfrm>
            <a:off x="6227064" y="4510654"/>
            <a:ext cx="5230368" cy="2057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break;</a:t>
            </a:r>
            <a:endParaRPr lang="en-US" sz="1300" dirty="0"/>
          </a:p>
        </p:txBody>
      </p:sp>
      <p:sp>
        <p:nvSpPr>
          <p:cNvPr id="17" name="Text 0">
            <a:extLst>
              <a:ext uri="{FF2B5EF4-FFF2-40B4-BE49-F238E27FC236}">
                <a16:creationId xmlns:a16="http://schemas.microsoft.com/office/drawing/2014/main" id="{EB3FF24E-5DF8-DE7B-95F7-5D77A89A1523}"/>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2923183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0ED9-8A61-D175-F2A9-D562F00E3788}"/>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C52BFF2C-1C52-89DF-9257-C1938D1AE6BF}"/>
              </a:ext>
            </a:extLst>
          </p:cNvPr>
          <p:cNvSpPr>
            <a:spLocks noGrp="1"/>
          </p:cNvSpPr>
          <p:nvPr>
            <p:ph type="title"/>
          </p:nvPr>
        </p:nvSpPr>
        <p:spPr/>
        <p:txBody>
          <a:bodyPr/>
          <a:lstStyle/>
          <a:p>
            <a:r>
              <a:rPr lang="en-US" b="1" dirty="0" err="1">
                <a:solidFill>
                  <a:srgbClr val="0B2545"/>
                </a:solidFill>
                <a:latin typeface="Cambria" pitchFamily="34" charset="0"/>
                <a:ea typeface="Cambria" pitchFamily="34" charset="-122"/>
                <a:cs typeface="Cambria" pitchFamily="34" charset="-120"/>
              </a:rPr>
              <a:t>I_d</a:t>
            </a:r>
            <a:r>
              <a:rPr lang="en-US" b="1" dirty="0">
                <a:solidFill>
                  <a:srgbClr val="0B2545"/>
                </a:solidFill>
                <a:latin typeface="Cambria" pitchFamily="34" charset="0"/>
                <a:ea typeface="Cambria" pitchFamily="34" charset="-122"/>
                <a:cs typeface="Cambria" pitchFamily="34" charset="-120"/>
              </a:rPr>
              <a:t> Ramp</a:t>
            </a:r>
            <a:endParaRPr lang="it-IT" dirty="0"/>
          </a:p>
        </p:txBody>
      </p:sp>
      <p:sp>
        <p:nvSpPr>
          <p:cNvPr id="6" name="Shape 2">
            <a:extLst>
              <a:ext uri="{FF2B5EF4-FFF2-40B4-BE49-F238E27FC236}">
                <a16:creationId xmlns:a16="http://schemas.microsoft.com/office/drawing/2014/main" id="{28211C74-C793-E348-A90A-E3B2DE201E01}"/>
              </a:ext>
            </a:extLst>
          </p:cNvPr>
          <p:cNvSpPr/>
          <p:nvPr/>
        </p:nvSpPr>
        <p:spPr>
          <a:xfrm>
            <a:off x="548640" y="1851660"/>
            <a:ext cx="5120640" cy="3351780"/>
          </a:xfrm>
          <a:prstGeom prst="roundRect">
            <a:avLst>
              <a:gd name="adj" fmla="val 1495"/>
            </a:avLst>
          </a:prstGeom>
          <a:solidFill>
            <a:srgbClr val="FFFFFF"/>
          </a:solidFill>
          <a:ln w="12700">
            <a:solidFill>
              <a:srgbClr val="E3E9F0"/>
            </a:solidFill>
            <a:prstDash val="solid"/>
          </a:ln>
        </p:spPr>
        <p:txBody>
          <a:bodyPr/>
          <a:lstStyle/>
          <a:p>
            <a:endParaRPr lang="it-IT" sz="1400"/>
          </a:p>
        </p:txBody>
      </p:sp>
      <p:sp>
        <p:nvSpPr>
          <p:cNvPr id="8" name="Shape 3">
            <a:extLst>
              <a:ext uri="{FF2B5EF4-FFF2-40B4-BE49-F238E27FC236}">
                <a16:creationId xmlns:a16="http://schemas.microsoft.com/office/drawing/2014/main" id="{8BE5C1A7-38F5-CD88-00D5-5A543AAD5D0E}"/>
              </a:ext>
            </a:extLst>
          </p:cNvPr>
          <p:cNvSpPr/>
          <p:nvPr/>
        </p:nvSpPr>
        <p:spPr>
          <a:xfrm>
            <a:off x="548640" y="1825752"/>
            <a:ext cx="5120640" cy="502920"/>
          </a:xfrm>
          <a:prstGeom prst="roundRect">
            <a:avLst>
              <a:gd name="adj" fmla="val 14545"/>
            </a:avLst>
          </a:prstGeom>
          <a:solidFill>
            <a:srgbClr val="0B2545"/>
          </a:solidFill>
          <a:ln/>
        </p:spPr>
        <p:txBody>
          <a:bodyPr/>
          <a:lstStyle/>
          <a:p>
            <a:endParaRPr lang="it-IT" sz="1400"/>
          </a:p>
        </p:txBody>
      </p:sp>
      <p:sp>
        <p:nvSpPr>
          <p:cNvPr id="10" name="Shape 4">
            <a:extLst>
              <a:ext uri="{FF2B5EF4-FFF2-40B4-BE49-F238E27FC236}">
                <a16:creationId xmlns:a16="http://schemas.microsoft.com/office/drawing/2014/main" id="{316148F0-EE16-0234-A27C-783A836FBD65}"/>
              </a:ext>
            </a:extLst>
          </p:cNvPr>
          <p:cNvSpPr/>
          <p:nvPr/>
        </p:nvSpPr>
        <p:spPr>
          <a:xfrm>
            <a:off x="548640" y="2107692"/>
            <a:ext cx="5120640" cy="246888"/>
          </a:xfrm>
          <a:prstGeom prst="rect">
            <a:avLst/>
          </a:prstGeom>
          <a:solidFill>
            <a:srgbClr val="0B2545"/>
          </a:solidFill>
          <a:ln/>
        </p:spPr>
        <p:txBody>
          <a:bodyPr/>
          <a:lstStyle/>
          <a:p>
            <a:endParaRPr lang="it-IT" sz="1400"/>
          </a:p>
        </p:txBody>
      </p:sp>
      <p:sp>
        <p:nvSpPr>
          <p:cNvPr id="12" name="Text 5">
            <a:extLst>
              <a:ext uri="{FF2B5EF4-FFF2-40B4-BE49-F238E27FC236}">
                <a16:creationId xmlns:a16="http://schemas.microsoft.com/office/drawing/2014/main" id="{91D3EA4A-9155-1272-6FA3-B3B6FFC5E1DD}"/>
              </a:ext>
            </a:extLst>
          </p:cNvPr>
          <p:cNvSpPr/>
          <p:nvPr/>
        </p:nvSpPr>
        <p:spPr>
          <a:xfrm>
            <a:off x="804672" y="1851660"/>
            <a:ext cx="4663440" cy="502920"/>
          </a:xfrm>
          <a:prstGeom prst="rect">
            <a:avLst/>
          </a:prstGeom>
          <a:noFill/>
          <a:ln/>
        </p:spPr>
        <p:txBody>
          <a:bodyPr wrap="square" lIns="0" tIns="0" rIns="0" bIns="0" rtlCol="0" anchor="ctr"/>
          <a:lstStyle/>
          <a:p>
            <a:r>
              <a:rPr lang="en-US" sz="1400" b="1">
                <a:solidFill>
                  <a:srgbClr val="FFFFFF"/>
                </a:solidFill>
                <a:latin typeface="Cambria" pitchFamily="34" charset="0"/>
                <a:ea typeface="Cambria" pitchFamily="34" charset="-122"/>
                <a:cs typeface="Cambria" pitchFamily="34" charset="-120"/>
              </a:rPr>
              <a:t>Dedicated references</a:t>
            </a:r>
            <a:endParaRPr lang="en-US" sz="1400" dirty="0"/>
          </a:p>
        </p:txBody>
      </p:sp>
      <p:sp>
        <p:nvSpPr>
          <p:cNvPr id="5" name="Shape 6">
            <a:extLst>
              <a:ext uri="{FF2B5EF4-FFF2-40B4-BE49-F238E27FC236}">
                <a16:creationId xmlns:a16="http://schemas.microsoft.com/office/drawing/2014/main" id="{F238FA9C-63FD-A58C-579A-FE5837CF5926}"/>
              </a:ext>
            </a:extLst>
          </p:cNvPr>
          <p:cNvSpPr/>
          <p:nvPr/>
        </p:nvSpPr>
        <p:spPr>
          <a:xfrm>
            <a:off x="734568" y="2683378"/>
            <a:ext cx="118872" cy="118872"/>
          </a:xfrm>
          <a:prstGeom prst="ellipse">
            <a:avLst/>
          </a:prstGeom>
          <a:solidFill>
            <a:srgbClr val="00B4D8"/>
          </a:solidFill>
          <a:ln/>
        </p:spPr>
        <p:txBody>
          <a:bodyPr/>
          <a:lstStyle/>
          <a:p>
            <a:endParaRPr lang="it-IT" sz="1400"/>
          </a:p>
        </p:txBody>
      </p:sp>
      <p:sp>
        <p:nvSpPr>
          <p:cNvPr id="9" name="Text 7">
            <a:extLst>
              <a:ext uri="{FF2B5EF4-FFF2-40B4-BE49-F238E27FC236}">
                <a16:creationId xmlns:a16="http://schemas.microsoft.com/office/drawing/2014/main" id="{2C2801F8-A46D-B568-E912-814D3B34CB78}"/>
              </a:ext>
            </a:extLst>
          </p:cNvPr>
          <p:cNvSpPr/>
          <p:nvPr/>
        </p:nvSpPr>
        <p:spPr>
          <a:xfrm>
            <a:off x="981456" y="2582794"/>
            <a:ext cx="4343400" cy="777240"/>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Dedicated commands MC_PROTOCOL_CODE_SET_FLUX_RAMP, using ID not yet in use in the library and their corresponding (+0x30) on the DYNO side</a:t>
            </a:r>
            <a:endParaRPr lang="en-US" sz="1400" dirty="0"/>
          </a:p>
        </p:txBody>
      </p:sp>
      <p:sp>
        <p:nvSpPr>
          <p:cNvPr id="17" name="Text 9">
            <a:extLst>
              <a:ext uri="{FF2B5EF4-FFF2-40B4-BE49-F238E27FC236}">
                <a16:creationId xmlns:a16="http://schemas.microsoft.com/office/drawing/2014/main" id="{DAC76E50-FE9E-7145-B4CD-C15E7DF0F952}"/>
              </a:ext>
            </a:extLst>
          </p:cNvPr>
          <p:cNvSpPr/>
          <p:nvPr/>
        </p:nvSpPr>
        <p:spPr>
          <a:xfrm>
            <a:off x="1039368" y="3703320"/>
            <a:ext cx="4343400" cy="777240"/>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Implementation of case statements in the DYNO2DW function, matching payload length to the number of bytes required by the function</a:t>
            </a:r>
            <a:endParaRPr lang="en-US" sz="1400" dirty="0"/>
          </a:p>
        </p:txBody>
      </p:sp>
      <p:sp>
        <p:nvSpPr>
          <p:cNvPr id="21" name="Shape 10">
            <a:extLst>
              <a:ext uri="{FF2B5EF4-FFF2-40B4-BE49-F238E27FC236}">
                <a16:creationId xmlns:a16="http://schemas.microsoft.com/office/drawing/2014/main" id="{FE97B1BE-0C0B-21EB-B661-A09E264988DD}"/>
              </a:ext>
            </a:extLst>
          </p:cNvPr>
          <p:cNvSpPr/>
          <p:nvPr/>
        </p:nvSpPr>
        <p:spPr>
          <a:xfrm>
            <a:off x="759270" y="4622544"/>
            <a:ext cx="118872" cy="118872"/>
          </a:xfrm>
          <a:prstGeom prst="ellipse">
            <a:avLst/>
          </a:prstGeom>
          <a:solidFill>
            <a:srgbClr val="00B4D8"/>
          </a:solidFill>
          <a:ln/>
        </p:spPr>
        <p:txBody>
          <a:bodyPr/>
          <a:lstStyle/>
          <a:p>
            <a:endParaRPr lang="it-IT" sz="1400"/>
          </a:p>
        </p:txBody>
      </p:sp>
      <p:sp>
        <p:nvSpPr>
          <p:cNvPr id="25" name="Text 11">
            <a:extLst>
              <a:ext uri="{FF2B5EF4-FFF2-40B4-BE49-F238E27FC236}">
                <a16:creationId xmlns:a16="http://schemas.microsoft.com/office/drawing/2014/main" id="{1D16AAD2-8C95-354B-E682-B53DB5CBDE7E}"/>
              </a:ext>
            </a:extLst>
          </p:cNvPr>
          <p:cNvSpPr/>
          <p:nvPr/>
        </p:nvSpPr>
        <p:spPr>
          <a:xfrm>
            <a:off x="1039368" y="4572252"/>
            <a:ext cx="4343400" cy="777240"/>
          </a:xfrm>
          <a:prstGeom prst="rect">
            <a:avLst/>
          </a:prstGeom>
          <a:noFill/>
          <a:ln/>
        </p:spPr>
        <p:txBody>
          <a:bodyPr wrap="square" lIns="0" tIns="0" rIns="0" bIns="0" rtlCol="0" anchor="t"/>
          <a:lstStyle/>
          <a:p>
            <a:pPr>
              <a:lnSpc>
                <a:spcPct val="122000"/>
              </a:lnSpc>
            </a:pPr>
            <a:r>
              <a:rPr lang="en-US" sz="1400" dirty="0">
                <a:solidFill>
                  <a:srgbClr val="1B1F27"/>
                </a:solidFill>
                <a:latin typeface="Calibri" pitchFamily="34" charset="0"/>
                <a:ea typeface="Calibri" pitchFamily="34" charset="-122"/>
                <a:cs typeface="Calibri" pitchFamily="34" charset="-120"/>
              </a:rPr>
              <a:t>Implementation of  </a:t>
            </a:r>
            <a:r>
              <a:rPr lang="en-US" sz="1400" dirty="0" err="1">
                <a:solidFill>
                  <a:srgbClr val="1B1F27"/>
                </a:solidFill>
                <a:latin typeface="Calibri" pitchFamily="34" charset="0"/>
                <a:ea typeface="Calibri" pitchFamily="34" charset="-122"/>
                <a:cs typeface="Calibri" pitchFamily="34" charset="-120"/>
              </a:rPr>
              <a:t>UI_ExecFluxRamp</a:t>
            </a:r>
            <a:r>
              <a:rPr lang="en-US" sz="1400" dirty="0">
                <a:solidFill>
                  <a:srgbClr val="1B1F27"/>
                </a:solidFill>
                <a:latin typeface="Calibri" pitchFamily="34" charset="0"/>
                <a:ea typeface="Calibri" pitchFamily="34" charset="-122"/>
                <a:cs typeface="Calibri" pitchFamily="34" charset="-120"/>
              </a:rPr>
              <a:t>, </a:t>
            </a:r>
            <a:r>
              <a:rPr lang="en-US" sz="1400" dirty="0" err="1">
                <a:solidFill>
                  <a:srgbClr val="1B1F27"/>
                </a:solidFill>
                <a:latin typeface="Calibri" pitchFamily="34" charset="0"/>
                <a:ea typeface="Calibri" pitchFamily="34" charset="-122"/>
                <a:cs typeface="Calibri" pitchFamily="34" charset="-120"/>
              </a:rPr>
              <a:t>MCI_ExecFluxRamp</a:t>
            </a:r>
            <a:r>
              <a:rPr lang="en-US" sz="1400" dirty="0">
                <a:solidFill>
                  <a:srgbClr val="1B1F27"/>
                </a:solidFill>
                <a:latin typeface="Calibri" pitchFamily="34" charset="0"/>
                <a:ea typeface="Calibri" pitchFamily="34" charset="-122"/>
                <a:cs typeface="Calibri" pitchFamily="34" charset="-120"/>
              </a:rPr>
              <a:t>, and </a:t>
            </a:r>
            <a:r>
              <a:rPr lang="en-US" sz="1400" dirty="0" err="1">
                <a:solidFill>
                  <a:srgbClr val="1B1F27"/>
                </a:solidFill>
                <a:latin typeface="Calibri" pitchFamily="34" charset="0"/>
                <a:ea typeface="Calibri" pitchFamily="34" charset="-122"/>
                <a:cs typeface="Calibri" pitchFamily="34" charset="-120"/>
              </a:rPr>
              <a:t>STC_ExecFluxRamp</a:t>
            </a:r>
            <a:r>
              <a:rPr lang="en-US" sz="1400" dirty="0">
                <a:solidFill>
                  <a:srgbClr val="1B1F27"/>
                </a:solidFill>
                <a:latin typeface="Calibri" pitchFamily="34" charset="0"/>
                <a:ea typeface="Calibri" pitchFamily="34" charset="-122"/>
                <a:cs typeface="Calibri" pitchFamily="34" charset="-120"/>
              </a:rPr>
              <a:t> functions</a:t>
            </a:r>
            <a:endParaRPr lang="en-US" sz="1400" dirty="0"/>
          </a:p>
        </p:txBody>
      </p:sp>
      <p:sp>
        <p:nvSpPr>
          <p:cNvPr id="29" name="Shape 12">
            <a:extLst>
              <a:ext uri="{FF2B5EF4-FFF2-40B4-BE49-F238E27FC236}">
                <a16:creationId xmlns:a16="http://schemas.microsoft.com/office/drawing/2014/main" id="{BF3FB21E-6DEA-4D7D-4BC2-DEF6B1C18056}"/>
              </a:ext>
            </a:extLst>
          </p:cNvPr>
          <p:cNvSpPr/>
          <p:nvPr/>
        </p:nvSpPr>
        <p:spPr>
          <a:xfrm>
            <a:off x="5897880" y="1417320"/>
            <a:ext cx="5742432" cy="4245543"/>
          </a:xfrm>
          <a:prstGeom prst="roundRect">
            <a:avLst>
              <a:gd name="adj" fmla="val 1869"/>
            </a:avLst>
          </a:prstGeom>
          <a:solidFill>
            <a:srgbClr val="071A33"/>
          </a:solidFill>
          <a:ln/>
          <a:effectLst>
            <a:outerShdw blurRad="101600" dist="25400" dir="5400000" algn="bl" rotWithShape="0">
              <a:srgbClr val="000000">
                <a:alpha val="22000"/>
              </a:srgbClr>
            </a:outerShdw>
          </a:effectLst>
        </p:spPr>
        <p:txBody>
          <a:bodyPr/>
          <a:lstStyle/>
          <a:p>
            <a:endParaRPr lang="it-IT" sz="1400"/>
          </a:p>
        </p:txBody>
      </p:sp>
      <p:sp>
        <p:nvSpPr>
          <p:cNvPr id="33" name="Text 13">
            <a:extLst>
              <a:ext uri="{FF2B5EF4-FFF2-40B4-BE49-F238E27FC236}">
                <a16:creationId xmlns:a16="http://schemas.microsoft.com/office/drawing/2014/main" id="{203325C9-1046-A9AF-799D-15545AAB2296}"/>
              </a:ext>
            </a:extLst>
          </p:cNvPr>
          <p:cNvSpPr/>
          <p:nvPr/>
        </p:nvSpPr>
        <p:spPr>
          <a:xfrm>
            <a:off x="6153912" y="1673352"/>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#define MC_PROTOCOL_CODE_SET_FLUX_RAMP</a:t>
            </a:r>
            <a:endParaRPr lang="en-US" sz="1400" dirty="0"/>
          </a:p>
        </p:txBody>
      </p:sp>
      <p:sp>
        <p:nvSpPr>
          <p:cNvPr id="37" name="Text 14">
            <a:extLst>
              <a:ext uri="{FF2B5EF4-FFF2-40B4-BE49-F238E27FC236}">
                <a16:creationId xmlns:a16="http://schemas.microsoft.com/office/drawing/2014/main" id="{73783BF9-C85E-1F01-F20C-D6B0724FBFB9}"/>
              </a:ext>
            </a:extLst>
          </p:cNvPr>
          <p:cNvSpPr/>
          <p:nvPr/>
        </p:nvSpPr>
        <p:spPr>
          <a:xfrm>
            <a:off x="6153912" y="1842516"/>
            <a:ext cx="5230368" cy="146808"/>
          </a:xfrm>
          <a:prstGeom prst="rect">
            <a:avLst/>
          </a:prstGeom>
          <a:noFill/>
          <a:ln/>
        </p:spPr>
        <p:txBody>
          <a:bodyPr wrap="square" lIns="0" tIns="0" rIns="0" bIns="0" rtlCol="0" anchor="ctr"/>
          <a:lstStyle/>
          <a:p>
            <a:pPr marL="0" indent="0">
              <a:buNone/>
            </a:pPr>
            <a:endParaRPr lang="en-US" sz="1400" dirty="0"/>
          </a:p>
        </p:txBody>
      </p:sp>
      <p:sp>
        <p:nvSpPr>
          <p:cNvPr id="41" name="Text 15">
            <a:extLst>
              <a:ext uri="{FF2B5EF4-FFF2-40B4-BE49-F238E27FC236}">
                <a16:creationId xmlns:a16="http://schemas.microsoft.com/office/drawing/2014/main" id="{3F12FD17-220B-D4B6-1A36-A936729DA528}"/>
              </a:ext>
            </a:extLst>
          </p:cNvPr>
          <p:cNvSpPr/>
          <p:nvPr/>
        </p:nvSpPr>
        <p:spPr>
          <a:xfrm>
            <a:off x="6153912" y="2011680"/>
            <a:ext cx="5230368" cy="146808"/>
          </a:xfrm>
          <a:prstGeom prst="rect">
            <a:avLst/>
          </a:prstGeom>
          <a:noFill/>
          <a:ln/>
        </p:spPr>
        <p:txBody>
          <a:bodyPr wrap="square" lIns="0" tIns="0" rIns="0" bIns="0" rtlCol="0" anchor="ctr"/>
          <a:lstStyle/>
          <a:p>
            <a:pPr marL="0" indent="0">
              <a:buNone/>
            </a:pPr>
            <a:r>
              <a:rPr lang="en-US" sz="1400" dirty="0">
                <a:solidFill>
                  <a:srgbClr val="8FD6EA"/>
                </a:solidFill>
                <a:latin typeface="Consolas" pitchFamily="34" charset="0"/>
                <a:ea typeface="Consolas" pitchFamily="34" charset="-122"/>
                <a:cs typeface="Consolas" pitchFamily="34" charset="-120"/>
              </a:rPr>
              <a:t>case SET_ID_RAMP:</a:t>
            </a:r>
            <a:endParaRPr lang="en-US" sz="1400" dirty="0"/>
          </a:p>
        </p:txBody>
      </p:sp>
      <p:sp>
        <p:nvSpPr>
          <p:cNvPr id="45" name="Text 16">
            <a:extLst>
              <a:ext uri="{FF2B5EF4-FFF2-40B4-BE49-F238E27FC236}">
                <a16:creationId xmlns:a16="http://schemas.microsoft.com/office/drawing/2014/main" id="{15DC57BD-636C-3E9C-2840-C2B6E5FAF701}"/>
              </a:ext>
            </a:extLst>
          </p:cNvPr>
          <p:cNvSpPr/>
          <p:nvPr/>
        </p:nvSpPr>
        <p:spPr>
          <a:xfrm>
            <a:off x="6153912" y="2180844"/>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msg[0] = MC_PROTOCOL_CODE_SET_FLUX_RAMP;</a:t>
            </a:r>
            <a:endParaRPr lang="en-US" sz="1400" dirty="0"/>
          </a:p>
        </p:txBody>
      </p:sp>
      <p:sp>
        <p:nvSpPr>
          <p:cNvPr id="49" name="Text 17">
            <a:extLst>
              <a:ext uri="{FF2B5EF4-FFF2-40B4-BE49-F238E27FC236}">
                <a16:creationId xmlns:a16="http://schemas.microsoft.com/office/drawing/2014/main" id="{4FF174AE-ABF0-9E30-13AF-A474CE5EDF3F}"/>
              </a:ext>
            </a:extLst>
          </p:cNvPr>
          <p:cNvSpPr/>
          <p:nvPr/>
        </p:nvSpPr>
        <p:spPr>
          <a:xfrm>
            <a:off x="6153912" y="2350008"/>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msg[1] = 0x6;</a:t>
            </a:r>
            <a:endParaRPr lang="en-US" sz="1400" dirty="0"/>
          </a:p>
        </p:txBody>
      </p:sp>
      <p:sp>
        <p:nvSpPr>
          <p:cNvPr id="52" name="Text 18">
            <a:extLst>
              <a:ext uri="{FF2B5EF4-FFF2-40B4-BE49-F238E27FC236}">
                <a16:creationId xmlns:a16="http://schemas.microsoft.com/office/drawing/2014/main" id="{9F1550CF-DDA5-EBDF-A9EF-D03A7E8FA875}"/>
              </a:ext>
            </a:extLst>
          </p:cNvPr>
          <p:cNvSpPr/>
          <p:nvPr/>
        </p:nvSpPr>
        <p:spPr>
          <a:xfrm>
            <a:off x="6153912" y="2519172"/>
            <a:ext cx="5230368" cy="146808"/>
          </a:xfrm>
          <a:prstGeom prst="rect">
            <a:avLst/>
          </a:prstGeom>
          <a:noFill/>
          <a:ln/>
        </p:spPr>
        <p:txBody>
          <a:bodyPr wrap="square" lIns="0" tIns="0" rIns="0" bIns="0" rtlCol="0" anchor="ctr"/>
          <a:lstStyle/>
          <a:p>
            <a:pPr marL="0" indent="0">
              <a:buNone/>
            </a:pPr>
            <a:endParaRPr lang="en-US" sz="1400" dirty="0"/>
          </a:p>
        </p:txBody>
      </p:sp>
      <p:sp>
        <p:nvSpPr>
          <p:cNvPr id="54" name="Text 19">
            <a:extLst>
              <a:ext uri="{FF2B5EF4-FFF2-40B4-BE49-F238E27FC236}">
                <a16:creationId xmlns:a16="http://schemas.microsoft.com/office/drawing/2014/main" id="{B868DFBC-A03E-FD60-56CB-A36BCF91D9E9}"/>
              </a:ext>
            </a:extLst>
          </p:cNvPr>
          <p:cNvSpPr/>
          <p:nvPr/>
        </p:nvSpPr>
        <p:spPr>
          <a:xfrm>
            <a:off x="6153912" y="2688336"/>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a:t>
            </a:r>
            <a:endParaRPr lang="en-US" sz="1400" dirty="0"/>
          </a:p>
        </p:txBody>
      </p:sp>
      <p:sp>
        <p:nvSpPr>
          <p:cNvPr id="56" name="Text 20">
            <a:extLst>
              <a:ext uri="{FF2B5EF4-FFF2-40B4-BE49-F238E27FC236}">
                <a16:creationId xmlns:a16="http://schemas.microsoft.com/office/drawing/2014/main" id="{C1E7323A-95D5-637C-C7DD-0DE44E432EC3}"/>
              </a:ext>
            </a:extLst>
          </p:cNvPr>
          <p:cNvSpPr/>
          <p:nvPr/>
        </p:nvSpPr>
        <p:spPr>
          <a:xfrm>
            <a:off x="6153912" y="2857500"/>
            <a:ext cx="5230368" cy="146808"/>
          </a:xfrm>
          <a:prstGeom prst="rect">
            <a:avLst/>
          </a:prstGeom>
          <a:noFill/>
          <a:ln/>
        </p:spPr>
        <p:txBody>
          <a:bodyPr wrap="square" lIns="0" tIns="0" rIns="0" bIns="0" rtlCol="0" anchor="ctr"/>
          <a:lstStyle/>
          <a:p>
            <a:pPr marL="0" indent="0">
              <a:buNone/>
            </a:pPr>
            <a:endParaRPr lang="en-US" sz="1400" dirty="0"/>
          </a:p>
        </p:txBody>
      </p:sp>
      <p:sp>
        <p:nvSpPr>
          <p:cNvPr id="58" name="Text 21">
            <a:extLst>
              <a:ext uri="{FF2B5EF4-FFF2-40B4-BE49-F238E27FC236}">
                <a16:creationId xmlns:a16="http://schemas.microsoft.com/office/drawing/2014/main" id="{077635C5-077E-A1C8-B80F-5BE0DD9B56CC}"/>
              </a:ext>
            </a:extLst>
          </p:cNvPr>
          <p:cNvSpPr/>
          <p:nvPr/>
        </p:nvSpPr>
        <p:spPr>
          <a:xfrm>
            <a:off x="6153912" y="3026664"/>
            <a:ext cx="5230368" cy="146808"/>
          </a:xfrm>
          <a:prstGeom prst="rect">
            <a:avLst/>
          </a:prstGeom>
          <a:noFill/>
          <a:ln/>
        </p:spPr>
        <p:txBody>
          <a:bodyPr wrap="square" lIns="0" tIns="0" rIns="0" bIns="0" rtlCol="0" anchor="ctr"/>
          <a:lstStyle/>
          <a:p>
            <a:pPr marL="0" indent="0">
              <a:buNone/>
            </a:pPr>
            <a:r>
              <a:rPr lang="en-US" sz="1400" dirty="0">
                <a:solidFill>
                  <a:srgbClr val="8FD6EA"/>
                </a:solidFill>
                <a:latin typeface="Consolas" pitchFamily="34" charset="0"/>
                <a:ea typeface="Consolas" pitchFamily="34" charset="-122"/>
                <a:cs typeface="Consolas" pitchFamily="34" charset="-120"/>
              </a:rPr>
              <a:t>case MC_PROTOCOL_CODE_SET_FLUX_RAMP: {</a:t>
            </a:r>
            <a:endParaRPr lang="en-US" sz="1400" dirty="0"/>
          </a:p>
        </p:txBody>
      </p:sp>
      <p:sp>
        <p:nvSpPr>
          <p:cNvPr id="60" name="Text 22">
            <a:extLst>
              <a:ext uri="{FF2B5EF4-FFF2-40B4-BE49-F238E27FC236}">
                <a16:creationId xmlns:a16="http://schemas.microsoft.com/office/drawing/2014/main" id="{7BCD5E4C-9F8C-C7AD-5A9C-DB9C33E75142}"/>
              </a:ext>
            </a:extLst>
          </p:cNvPr>
          <p:cNvSpPr/>
          <p:nvPr/>
        </p:nvSpPr>
        <p:spPr>
          <a:xfrm>
            <a:off x="6153912" y="3195828"/>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qd_t hqd;</a:t>
            </a:r>
            <a:endParaRPr lang="en-US" sz="1400" dirty="0"/>
          </a:p>
        </p:txBody>
      </p:sp>
      <p:sp>
        <p:nvSpPr>
          <p:cNvPr id="62" name="Text 23">
            <a:extLst>
              <a:ext uri="{FF2B5EF4-FFF2-40B4-BE49-F238E27FC236}">
                <a16:creationId xmlns:a16="http://schemas.microsoft.com/office/drawing/2014/main" id="{4EF3942C-D99B-9962-4F0B-DE15E8687946}"/>
              </a:ext>
            </a:extLst>
          </p:cNvPr>
          <p:cNvSpPr/>
          <p:nvPr/>
        </p:nvSpPr>
        <p:spPr>
          <a:xfrm>
            <a:off x="6153912" y="3364992"/>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uint16_t duration = buffer[4] +</a:t>
            </a:r>
            <a:endParaRPr lang="en-US" sz="1400" dirty="0"/>
          </a:p>
        </p:txBody>
      </p:sp>
      <p:sp>
        <p:nvSpPr>
          <p:cNvPr id="64" name="Text 24">
            <a:extLst>
              <a:ext uri="{FF2B5EF4-FFF2-40B4-BE49-F238E27FC236}">
                <a16:creationId xmlns:a16="http://schemas.microsoft.com/office/drawing/2014/main" id="{361935EA-6928-E781-7688-CD68A50B9777}"/>
              </a:ext>
            </a:extLst>
          </p:cNvPr>
          <p:cNvSpPr/>
          <p:nvPr/>
        </p:nvSpPr>
        <p:spPr>
          <a:xfrm>
            <a:off x="6153912" y="3534156"/>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(buffer[5] &lt;&lt; 8);</a:t>
            </a:r>
            <a:endParaRPr lang="en-US" sz="1400" dirty="0"/>
          </a:p>
        </p:txBody>
      </p:sp>
      <p:sp>
        <p:nvSpPr>
          <p:cNvPr id="66" name="Text 25">
            <a:extLst>
              <a:ext uri="{FF2B5EF4-FFF2-40B4-BE49-F238E27FC236}">
                <a16:creationId xmlns:a16="http://schemas.microsoft.com/office/drawing/2014/main" id="{6D7899C0-5047-5233-25EC-F685BBBB06C7}"/>
              </a:ext>
            </a:extLst>
          </p:cNvPr>
          <p:cNvSpPr/>
          <p:nvPr/>
        </p:nvSpPr>
        <p:spPr>
          <a:xfrm>
            <a:off x="6153912" y="3703320"/>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UI_Handle_t* Name = &amp;pHandle-&gt;_Super;</a:t>
            </a:r>
            <a:endParaRPr lang="en-US" sz="1400" dirty="0"/>
          </a:p>
        </p:txBody>
      </p:sp>
      <p:sp>
        <p:nvSpPr>
          <p:cNvPr id="68" name="Text 26">
            <a:extLst>
              <a:ext uri="{FF2B5EF4-FFF2-40B4-BE49-F238E27FC236}">
                <a16:creationId xmlns:a16="http://schemas.microsoft.com/office/drawing/2014/main" id="{419E2034-01F6-AD21-F965-28AC756A16EF}"/>
              </a:ext>
            </a:extLst>
          </p:cNvPr>
          <p:cNvSpPr/>
          <p:nvPr/>
        </p:nvSpPr>
        <p:spPr>
          <a:xfrm>
            <a:off x="6153912" y="3872484"/>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MCI_Handle_t* Name2 =</a:t>
            </a:r>
            <a:endParaRPr lang="en-US" sz="1400" dirty="0"/>
          </a:p>
        </p:txBody>
      </p:sp>
      <p:sp>
        <p:nvSpPr>
          <p:cNvPr id="70" name="Text 27">
            <a:extLst>
              <a:ext uri="{FF2B5EF4-FFF2-40B4-BE49-F238E27FC236}">
                <a16:creationId xmlns:a16="http://schemas.microsoft.com/office/drawing/2014/main" id="{0AE9784B-9E60-359F-2C05-2378D5DBEEDA}"/>
              </a:ext>
            </a:extLst>
          </p:cNvPr>
          <p:cNvSpPr/>
          <p:nvPr/>
        </p:nvSpPr>
        <p:spPr>
          <a:xfrm>
            <a:off x="6153912" y="4041648"/>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Name-&gt;pMCI[Name-&gt;bSelectedDrive];</a:t>
            </a:r>
            <a:endParaRPr lang="en-US" sz="1400" dirty="0"/>
          </a:p>
        </p:txBody>
      </p:sp>
      <p:sp>
        <p:nvSpPr>
          <p:cNvPr id="72" name="Text 28">
            <a:extLst>
              <a:ext uri="{FF2B5EF4-FFF2-40B4-BE49-F238E27FC236}">
                <a16:creationId xmlns:a16="http://schemas.microsoft.com/office/drawing/2014/main" id="{EE755B24-418C-9C19-72E6-6420DD272860}"/>
              </a:ext>
            </a:extLst>
          </p:cNvPr>
          <p:cNvSpPr/>
          <p:nvPr/>
        </p:nvSpPr>
        <p:spPr>
          <a:xfrm>
            <a:off x="6153912" y="4210812"/>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hqd = MCI_GetIqdref(Name2);</a:t>
            </a:r>
            <a:endParaRPr lang="en-US" sz="1400" dirty="0"/>
          </a:p>
        </p:txBody>
      </p:sp>
      <p:sp>
        <p:nvSpPr>
          <p:cNvPr id="74" name="Text 29">
            <a:extLst>
              <a:ext uri="{FF2B5EF4-FFF2-40B4-BE49-F238E27FC236}">
                <a16:creationId xmlns:a16="http://schemas.microsoft.com/office/drawing/2014/main" id="{DC60B857-0CEE-CADF-DF6B-556D114744FC}"/>
              </a:ext>
            </a:extLst>
          </p:cNvPr>
          <p:cNvSpPr/>
          <p:nvPr/>
        </p:nvSpPr>
        <p:spPr>
          <a:xfrm>
            <a:off x="6153912" y="4379976"/>
            <a:ext cx="5230368" cy="146808"/>
          </a:xfrm>
          <a:prstGeom prst="rect">
            <a:avLst/>
          </a:prstGeom>
          <a:noFill/>
          <a:ln/>
        </p:spPr>
        <p:txBody>
          <a:bodyPr wrap="square" lIns="0" tIns="0" rIns="0" bIns="0" rtlCol="0" anchor="ctr"/>
          <a:lstStyle/>
          <a:p>
            <a:pPr marL="0" indent="0">
              <a:buNone/>
            </a:pPr>
            <a:endParaRPr lang="en-US" sz="1400" dirty="0"/>
          </a:p>
        </p:txBody>
      </p:sp>
      <p:sp>
        <p:nvSpPr>
          <p:cNvPr id="76" name="Text 30">
            <a:extLst>
              <a:ext uri="{FF2B5EF4-FFF2-40B4-BE49-F238E27FC236}">
                <a16:creationId xmlns:a16="http://schemas.microsoft.com/office/drawing/2014/main" id="{6243D905-2D02-81AE-AE89-C0A5C5167A8A}"/>
              </a:ext>
            </a:extLst>
          </p:cNvPr>
          <p:cNvSpPr/>
          <p:nvPr/>
        </p:nvSpPr>
        <p:spPr>
          <a:xfrm>
            <a:off x="6153912" y="4549140"/>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hqd.d = buffer[2] + (buffer[3] &lt;&lt; 8);</a:t>
            </a:r>
            <a:endParaRPr lang="en-US" sz="1400" dirty="0"/>
          </a:p>
        </p:txBody>
      </p:sp>
      <p:sp>
        <p:nvSpPr>
          <p:cNvPr id="78" name="Text 31">
            <a:extLst>
              <a:ext uri="{FF2B5EF4-FFF2-40B4-BE49-F238E27FC236}">
                <a16:creationId xmlns:a16="http://schemas.microsoft.com/office/drawing/2014/main" id="{6F93E715-3FCB-A0A0-1361-AFA8C6B7339D}"/>
              </a:ext>
            </a:extLst>
          </p:cNvPr>
          <p:cNvSpPr/>
          <p:nvPr/>
        </p:nvSpPr>
        <p:spPr>
          <a:xfrm>
            <a:off x="6153912" y="4718304"/>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bNoError = UI_ExecCurrentRamps(</a:t>
            </a:r>
            <a:endParaRPr lang="en-US" sz="1400" dirty="0"/>
          </a:p>
        </p:txBody>
      </p:sp>
      <p:sp>
        <p:nvSpPr>
          <p:cNvPr id="80" name="Text 32">
            <a:extLst>
              <a:ext uri="{FF2B5EF4-FFF2-40B4-BE49-F238E27FC236}">
                <a16:creationId xmlns:a16="http://schemas.microsoft.com/office/drawing/2014/main" id="{5DF9C970-16A2-76F8-C564-3C35AD74B7B5}"/>
              </a:ext>
            </a:extLst>
          </p:cNvPr>
          <p:cNvSpPr/>
          <p:nvPr/>
        </p:nvSpPr>
        <p:spPr>
          <a:xfrm>
            <a:off x="6153912" y="4887468"/>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&amp;pHandle-&gt;_Super, hqd, duration);</a:t>
            </a:r>
            <a:endParaRPr lang="en-US" sz="1400" dirty="0"/>
          </a:p>
        </p:txBody>
      </p:sp>
      <p:sp>
        <p:nvSpPr>
          <p:cNvPr id="82" name="Text 33">
            <a:extLst>
              <a:ext uri="{FF2B5EF4-FFF2-40B4-BE49-F238E27FC236}">
                <a16:creationId xmlns:a16="http://schemas.microsoft.com/office/drawing/2014/main" id="{8EE8D388-8FAE-3CA6-F458-B7E4A02BB6DC}"/>
              </a:ext>
            </a:extLst>
          </p:cNvPr>
          <p:cNvSpPr/>
          <p:nvPr/>
        </p:nvSpPr>
        <p:spPr>
          <a:xfrm>
            <a:off x="6153912" y="5056632"/>
            <a:ext cx="5230368" cy="146808"/>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 break;</a:t>
            </a:r>
            <a:endParaRPr lang="en-US" sz="1400" dirty="0"/>
          </a:p>
        </p:txBody>
      </p:sp>
      <p:sp>
        <p:nvSpPr>
          <p:cNvPr id="7" name="Shape 6">
            <a:extLst>
              <a:ext uri="{FF2B5EF4-FFF2-40B4-BE49-F238E27FC236}">
                <a16:creationId xmlns:a16="http://schemas.microsoft.com/office/drawing/2014/main" id="{C5472A61-F943-0A6C-2421-8793555BEB46}"/>
              </a:ext>
            </a:extLst>
          </p:cNvPr>
          <p:cNvSpPr/>
          <p:nvPr/>
        </p:nvSpPr>
        <p:spPr>
          <a:xfrm>
            <a:off x="766196" y="3790692"/>
            <a:ext cx="118872" cy="118872"/>
          </a:xfrm>
          <a:prstGeom prst="ellipse">
            <a:avLst/>
          </a:prstGeom>
          <a:solidFill>
            <a:srgbClr val="00B4D8"/>
          </a:solidFill>
          <a:ln/>
        </p:spPr>
        <p:txBody>
          <a:bodyPr/>
          <a:lstStyle/>
          <a:p>
            <a:endParaRPr lang="it-IT" sz="1400"/>
          </a:p>
        </p:txBody>
      </p:sp>
      <p:sp>
        <p:nvSpPr>
          <p:cNvPr id="16" name="Text 0">
            <a:extLst>
              <a:ext uri="{FF2B5EF4-FFF2-40B4-BE49-F238E27FC236}">
                <a16:creationId xmlns:a16="http://schemas.microsoft.com/office/drawing/2014/main" id="{4641745D-5E79-172F-333C-2173E7AE9B4D}"/>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1505068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3ABD-2BFE-FB1E-8CD8-65752BBF8A8C}"/>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70C120BE-846D-3BDB-8248-BC6A39B5C8ED}"/>
              </a:ext>
            </a:extLst>
          </p:cNvPr>
          <p:cNvSpPr>
            <a:spLocks noGrp="1"/>
          </p:cNvSpPr>
          <p:nvPr>
            <p:ph type="title"/>
          </p:nvPr>
        </p:nvSpPr>
        <p:spPr/>
        <p:txBody>
          <a:bodyPr/>
          <a:lstStyle/>
          <a:p>
            <a:r>
              <a:rPr lang="en-US" b="1" dirty="0" err="1">
                <a:solidFill>
                  <a:srgbClr val="0B2545"/>
                </a:solidFill>
                <a:latin typeface="Cambria" pitchFamily="34" charset="0"/>
                <a:ea typeface="Cambria" pitchFamily="34" charset="-122"/>
                <a:cs typeface="Cambria" pitchFamily="34" charset="-120"/>
              </a:rPr>
              <a:t>I_d</a:t>
            </a:r>
            <a:r>
              <a:rPr lang="en-US" b="1" dirty="0">
                <a:solidFill>
                  <a:srgbClr val="0B2545"/>
                </a:solidFill>
                <a:latin typeface="Cambria" pitchFamily="34" charset="0"/>
                <a:ea typeface="Cambria" pitchFamily="34" charset="-122"/>
                <a:cs typeface="Cambria" pitchFamily="34" charset="-120"/>
              </a:rPr>
              <a:t> Ramp — Implementation </a:t>
            </a:r>
            <a:endParaRPr lang="it-IT" dirty="0"/>
          </a:p>
        </p:txBody>
      </p:sp>
      <p:sp>
        <p:nvSpPr>
          <p:cNvPr id="7" name="Text 2">
            <a:extLst>
              <a:ext uri="{FF2B5EF4-FFF2-40B4-BE49-F238E27FC236}">
                <a16:creationId xmlns:a16="http://schemas.microsoft.com/office/drawing/2014/main" id="{22484AE5-F572-6064-C4FD-B0EB3ED8EF69}"/>
              </a:ext>
            </a:extLst>
          </p:cNvPr>
          <p:cNvSpPr/>
          <p:nvPr/>
        </p:nvSpPr>
        <p:spPr>
          <a:xfrm>
            <a:off x="548640" y="1115568"/>
            <a:ext cx="11064240" cy="313970"/>
          </a:xfrm>
          <a:prstGeom prst="rect">
            <a:avLst/>
          </a:prstGeom>
          <a:noFill/>
          <a:ln/>
        </p:spPr>
        <p:txBody>
          <a:bodyPr wrap="square" lIns="0" tIns="0" rIns="0" bIns="0" rtlCol="0" anchor="ctr"/>
          <a:lstStyle/>
          <a:p>
            <a:r>
              <a:rPr lang="en-US" dirty="0">
                <a:solidFill>
                  <a:srgbClr val="5B6B7F"/>
                </a:solidFill>
                <a:latin typeface="Calibri" pitchFamily="34" charset="0"/>
                <a:ea typeface="Calibri" pitchFamily="34" charset="-122"/>
                <a:cs typeface="Calibri" pitchFamily="34" charset="-120"/>
              </a:rPr>
              <a:t>Call chain from the UI layer to ramp calculation in the State Machine Functions.</a:t>
            </a:r>
            <a:endParaRPr lang="en-US" dirty="0"/>
          </a:p>
        </p:txBody>
      </p:sp>
      <p:sp>
        <p:nvSpPr>
          <p:cNvPr id="14" name="Shape 3">
            <a:extLst>
              <a:ext uri="{FF2B5EF4-FFF2-40B4-BE49-F238E27FC236}">
                <a16:creationId xmlns:a16="http://schemas.microsoft.com/office/drawing/2014/main" id="{91A22DA4-D71D-A3B0-945E-528B49003BF8}"/>
              </a:ext>
            </a:extLst>
          </p:cNvPr>
          <p:cNvSpPr/>
          <p:nvPr/>
        </p:nvSpPr>
        <p:spPr>
          <a:xfrm>
            <a:off x="548640" y="1600200"/>
            <a:ext cx="5532120" cy="4619847"/>
          </a:xfrm>
          <a:prstGeom prst="roundRect">
            <a:avLst>
              <a:gd name="adj" fmla="val 1942"/>
            </a:avLst>
          </a:prstGeom>
          <a:solidFill>
            <a:srgbClr val="071A33"/>
          </a:solidFill>
          <a:ln/>
          <a:effectLst>
            <a:outerShdw blurRad="101600" dist="25400" dir="5400000" algn="bl" rotWithShape="0">
              <a:srgbClr val="000000">
                <a:alpha val="22000"/>
              </a:srgbClr>
            </a:outerShdw>
          </a:effectLst>
        </p:spPr>
        <p:txBody>
          <a:bodyPr/>
          <a:lstStyle/>
          <a:p>
            <a:endParaRPr lang="it-IT" sz="1300"/>
          </a:p>
        </p:txBody>
      </p:sp>
      <p:sp>
        <p:nvSpPr>
          <p:cNvPr id="16" name="Text 4">
            <a:extLst>
              <a:ext uri="{FF2B5EF4-FFF2-40B4-BE49-F238E27FC236}">
                <a16:creationId xmlns:a16="http://schemas.microsoft.com/office/drawing/2014/main" id="{ED6386F6-35CB-CBD5-162D-F506D4188829}"/>
              </a:ext>
            </a:extLst>
          </p:cNvPr>
          <p:cNvSpPr/>
          <p:nvPr/>
        </p:nvSpPr>
        <p:spPr>
          <a:xfrm>
            <a:off x="777240" y="1709928"/>
            <a:ext cx="5074920" cy="269117"/>
          </a:xfrm>
          <a:prstGeom prst="rect">
            <a:avLst/>
          </a:prstGeom>
          <a:noFill/>
          <a:ln/>
        </p:spPr>
        <p:txBody>
          <a:bodyPr wrap="square" lIns="0" tIns="0" rIns="0" bIns="0" rtlCol="0" anchor="ctr"/>
          <a:lstStyle/>
          <a:p>
            <a:pPr marL="0" indent="0">
              <a:buNone/>
            </a:pPr>
            <a:r>
              <a:rPr lang="en-US" sz="1300" dirty="0">
                <a:solidFill>
                  <a:srgbClr val="6E86A6"/>
                </a:solidFill>
                <a:latin typeface="Consolas" pitchFamily="34" charset="0"/>
                <a:ea typeface="Consolas" pitchFamily="34" charset="-122"/>
                <a:cs typeface="Consolas" pitchFamily="34" charset="-120"/>
              </a:rPr>
              <a:t>UI_ExecFluxRamp / MCI_ExecFluxRamp</a:t>
            </a:r>
            <a:endParaRPr lang="en-US" sz="1300" dirty="0"/>
          </a:p>
        </p:txBody>
      </p:sp>
      <p:sp>
        <p:nvSpPr>
          <p:cNvPr id="19" name="Text 5">
            <a:extLst>
              <a:ext uri="{FF2B5EF4-FFF2-40B4-BE49-F238E27FC236}">
                <a16:creationId xmlns:a16="http://schemas.microsoft.com/office/drawing/2014/main" id="{046DB554-0B92-C485-D5B6-FBEBEB5C3CF5}"/>
              </a:ext>
            </a:extLst>
          </p:cNvPr>
          <p:cNvSpPr/>
          <p:nvPr/>
        </p:nvSpPr>
        <p:spPr>
          <a:xfrm>
            <a:off x="804672" y="2130552"/>
            <a:ext cx="5020056" cy="183897"/>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__weak bool UI_ExecFluxRamp(UI_Handle_t *pHandle,</a:t>
            </a:r>
            <a:endParaRPr lang="en-US" sz="1300" dirty="0"/>
          </a:p>
        </p:txBody>
      </p:sp>
      <p:sp>
        <p:nvSpPr>
          <p:cNvPr id="22" name="Text 6">
            <a:extLst>
              <a:ext uri="{FF2B5EF4-FFF2-40B4-BE49-F238E27FC236}">
                <a16:creationId xmlns:a16="http://schemas.microsoft.com/office/drawing/2014/main" id="{C5850584-6791-2B6E-EA6B-34F76C64E212}"/>
              </a:ext>
            </a:extLst>
          </p:cNvPr>
          <p:cNvSpPr/>
          <p:nvPr/>
        </p:nvSpPr>
        <p:spPr>
          <a:xfrm>
            <a:off x="804672" y="2318004"/>
            <a:ext cx="5020056" cy="183897"/>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                     qd_t Vqd, uint16_t hDurationms) {</a:t>
            </a:r>
            <a:endParaRPr lang="en-US" sz="1300" dirty="0">
              <a:solidFill>
                <a:srgbClr val="8FD6EA"/>
              </a:solidFill>
            </a:endParaRPr>
          </a:p>
        </p:txBody>
      </p:sp>
      <p:sp>
        <p:nvSpPr>
          <p:cNvPr id="24" name="Text 7">
            <a:extLst>
              <a:ext uri="{FF2B5EF4-FFF2-40B4-BE49-F238E27FC236}">
                <a16:creationId xmlns:a16="http://schemas.microsoft.com/office/drawing/2014/main" id="{4182D9D6-5343-03A0-B795-F9DFB45249EF}"/>
              </a:ext>
            </a:extLst>
          </p:cNvPr>
          <p:cNvSpPr/>
          <p:nvPr/>
        </p:nvSpPr>
        <p:spPr>
          <a:xfrm>
            <a:off x="804672" y="2505456"/>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MCI_Handle_t *pMCI =</a:t>
            </a:r>
            <a:endParaRPr lang="en-US" sz="1300" dirty="0"/>
          </a:p>
        </p:txBody>
      </p:sp>
      <p:sp>
        <p:nvSpPr>
          <p:cNvPr id="27" name="Text 8">
            <a:extLst>
              <a:ext uri="{FF2B5EF4-FFF2-40B4-BE49-F238E27FC236}">
                <a16:creationId xmlns:a16="http://schemas.microsoft.com/office/drawing/2014/main" id="{645D71CC-A5CD-8E02-9246-11E8DCA8ABEA}"/>
              </a:ext>
            </a:extLst>
          </p:cNvPr>
          <p:cNvSpPr/>
          <p:nvPr/>
        </p:nvSpPr>
        <p:spPr>
          <a:xfrm>
            <a:off x="804672" y="2692908"/>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pHandle-&gt;pMCI[pHandle-&gt;bSelectedDrive];</a:t>
            </a:r>
            <a:endParaRPr lang="en-US" sz="1300" dirty="0"/>
          </a:p>
        </p:txBody>
      </p:sp>
      <p:sp>
        <p:nvSpPr>
          <p:cNvPr id="30" name="Text 9">
            <a:extLst>
              <a:ext uri="{FF2B5EF4-FFF2-40B4-BE49-F238E27FC236}">
                <a16:creationId xmlns:a16="http://schemas.microsoft.com/office/drawing/2014/main" id="{281CE3AE-2BC1-A1EB-98DA-B610BEDFC19A}"/>
              </a:ext>
            </a:extLst>
          </p:cNvPr>
          <p:cNvSpPr/>
          <p:nvPr/>
        </p:nvSpPr>
        <p:spPr>
          <a:xfrm>
            <a:off x="804672" y="2880360"/>
            <a:ext cx="5020056" cy="183897"/>
          </a:xfrm>
          <a:prstGeom prst="rect">
            <a:avLst/>
          </a:prstGeom>
          <a:noFill/>
          <a:ln/>
        </p:spPr>
        <p:txBody>
          <a:bodyPr wrap="square" lIns="0" tIns="0" rIns="0" bIns="0" rtlCol="0" anchor="ctr"/>
          <a:lstStyle/>
          <a:p>
            <a:pPr marL="0" indent="0">
              <a:buNone/>
            </a:pPr>
            <a:endParaRPr lang="en-US" sz="1300" dirty="0"/>
          </a:p>
        </p:txBody>
      </p:sp>
      <p:sp>
        <p:nvSpPr>
          <p:cNvPr id="32" name="Text 10">
            <a:extLst>
              <a:ext uri="{FF2B5EF4-FFF2-40B4-BE49-F238E27FC236}">
                <a16:creationId xmlns:a16="http://schemas.microsoft.com/office/drawing/2014/main" id="{EA7F97A7-2616-F843-452D-40CE85AEAC4C}"/>
              </a:ext>
            </a:extLst>
          </p:cNvPr>
          <p:cNvSpPr/>
          <p:nvPr/>
        </p:nvSpPr>
        <p:spPr>
          <a:xfrm>
            <a:off x="804672" y="3067812"/>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 Call MCI Exec Current Ramp */</a:t>
            </a:r>
            <a:endParaRPr lang="en-US" sz="1300" dirty="0"/>
          </a:p>
        </p:txBody>
      </p:sp>
      <p:sp>
        <p:nvSpPr>
          <p:cNvPr id="35" name="Text 11">
            <a:extLst>
              <a:ext uri="{FF2B5EF4-FFF2-40B4-BE49-F238E27FC236}">
                <a16:creationId xmlns:a16="http://schemas.microsoft.com/office/drawing/2014/main" id="{FCC68C18-30D5-B659-C968-C73BBB06E0A7}"/>
              </a:ext>
            </a:extLst>
          </p:cNvPr>
          <p:cNvSpPr/>
          <p:nvPr/>
        </p:nvSpPr>
        <p:spPr>
          <a:xfrm>
            <a:off x="804672" y="3255264"/>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MCI_ExecFluxRamp(pMCI, Vqd, hDurationms);</a:t>
            </a:r>
            <a:endParaRPr lang="en-US" sz="1300" dirty="0"/>
          </a:p>
        </p:txBody>
      </p:sp>
      <p:sp>
        <p:nvSpPr>
          <p:cNvPr id="38" name="Text 12">
            <a:extLst>
              <a:ext uri="{FF2B5EF4-FFF2-40B4-BE49-F238E27FC236}">
                <a16:creationId xmlns:a16="http://schemas.microsoft.com/office/drawing/2014/main" id="{35AF7C96-6F3F-E2C4-D779-B05FBCFAD9C7}"/>
              </a:ext>
            </a:extLst>
          </p:cNvPr>
          <p:cNvSpPr/>
          <p:nvPr/>
        </p:nvSpPr>
        <p:spPr>
          <a:xfrm>
            <a:off x="804672" y="3442716"/>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return true;</a:t>
            </a:r>
            <a:endParaRPr lang="en-US" sz="1300" dirty="0"/>
          </a:p>
        </p:txBody>
      </p:sp>
      <p:sp>
        <p:nvSpPr>
          <p:cNvPr id="40" name="Text 13">
            <a:extLst>
              <a:ext uri="{FF2B5EF4-FFF2-40B4-BE49-F238E27FC236}">
                <a16:creationId xmlns:a16="http://schemas.microsoft.com/office/drawing/2014/main" id="{CA226AAB-2F7F-7A5E-12A4-781E2C04186F}"/>
              </a:ext>
            </a:extLst>
          </p:cNvPr>
          <p:cNvSpPr/>
          <p:nvPr/>
        </p:nvSpPr>
        <p:spPr>
          <a:xfrm>
            <a:off x="804672" y="3630168"/>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43" name="Text 14">
            <a:extLst>
              <a:ext uri="{FF2B5EF4-FFF2-40B4-BE49-F238E27FC236}">
                <a16:creationId xmlns:a16="http://schemas.microsoft.com/office/drawing/2014/main" id="{BFA520A4-3259-6A7C-3935-4C5D3FD1C1B2}"/>
              </a:ext>
            </a:extLst>
          </p:cNvPr>
          <p:cNvSpPr/>
          <p:nvPr/>
        </p:nvSpPr>
        <p:spPr>
          <a:xfrm>
            <a:off x="804672" y="3817620"/>
            <a:ext cx="5020056" cy="183897"/>
          </a:xfrm>
          <a:prstGeom prst="rect">
            <a:avLst/>
          </a:prstGeom>
          <a:noFill/>
          <a:ln/>
        </p:spPr>
        <p:txBody>
          <a:bodyPr wrap="square" lIns="0" tIns="0" rIns="0" bIns="0" rtlCol="0" anchor="ctr"/>
          <a:lstStyle/>
          <a:p>
            <a:pPr marL="0" indent="0">
              <a:buNone/>
            </a:pPr>
            <a:endParaRPr lang="en-US" sz="1300" dirty="0"/>
          </a:p>
        </p:txBody>
      </p:sp>
      <p:sp>
        <p:nvSpPr>
          <p:cNvPr id="46" name="Text 15">
            <a:extLst>
              <a:ext uri="{FF2B5EF4-FFF2-40B4-BE49-F238E27FC236}">
                <a16:creationId xmlns:a16="http://schemas.microsoft.com/office/drawing/2014/main" id="{84D99F1F-9804-5382-5DD3-4EE8F64D0B17}"/>
              </a:ext>
            </a:extLst>
          </p:cNvPr>
          <p:cNvSpPr/>
          <p:nvPr/>
        </p:nvSpPr>
        <p:spPr>
          <a:xfrm>
            <a:off x="804672" y="4005072"/>
            <a:ext cx="5020056" cy="183897"/>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__weak void MCI_ExecFluxRamp(MCI_Handle_t *pHandle,</a:t>
            </a:r>
            <a:endParaRPr lang="en-US" sz="1300" dirty="0"/>
          </a:p>
        </p:txBody>
      </p:sp>
      <p:sp>
        <p:nvSpPr>
          <p:cNvPr id="48" name="Text 16">
            <a:extLst>
              <a:ext uri="{FF2B5EF4-FFF2-40B4-BE49-F238E27FC236}">
                <a16:creationId xmlns:a16="http://schemas.microsoft.com/office/drawing/2014/main" id="{68C2816A-8968-CDB6-E313-A420784D5F02}"/>
              </a:ext>
            </a:extLst>
          </p:cNvPr>
          <p:cNvSpPr/>
          <p:nvPr/>
        </p:nvSpPr>
        <p:spPr>
          <a:xfrm>
            <a:off x="804672" y="4192524"/>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qd_t Iqdref, uint16_t hDurationms) {</a:t>
            </a:r>
            <a:endParaRPr lang="en-US" sz="1300" dirty="0"/>
          </a:p>
        </p:txBody>
      </p:sp>
      <p:sp>
        <p:nvSpPr>
          <p:cNvPr id="51" name="Text 17">
            <a:extLst>
              <a:ext uri="{FF2B5EF4-FFF2-40B4-BE49-F238E27FC236}">
                <a16:creationId xmlns:a16="http://schemas.microsoft.com/office/drawing/2014/main" id="{E81A809D-DDBC-C62F-C3AF-0DD7CAD9EC81}"/>
              </a:ext>
            </a:extLst>
          </p:cNvPr>
          <p:cNvSpPr/>
          <p:nvPr/>
        </p:nvSpPr>
        <p:spPr>
          <a:xfrm>
            <a:off x="804672" y="4379976"/>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pHandle-&gt;lastCommand = MCI_EXECFLUXTRAMP;</a:t>
            </a:r>
            <a:endParaRPr lang="en-US" sz="1300" dirty="0"/>
          </a:p>
        </p:txBody>
      </p:sp>
      <p:sp>
        <p:nvSpPr>
          <p:cNvPr id="55" name="Text 18">
            <a:extLst>
              <a:ext uri="{FF2B5EF4-FFF2-40B4-BE49-F238E27FC236}">
                <a16:creationId xmlns:a16="http://schemas.microsoft.com/office/drawing/2014/main" id="{8FEC2B18-3C5C-743A-D9D1-6467764C1DAD}"/>
              </a:ext>
            </a:extLst>
          </p:cNvPr>
          <p:cNvSpPr/>
          <p:nvPr/>
        </p:nvSpPr>
        <p:spPr>
          <a:xfrm>
            <a:off x="804672" y="4567428"/>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pHandle-&gt;hFinalFlux = Iqdref.d;</a:t>
            </a:r>
            <a:endParaRPr lang="en-US" sz="1300" dirty="0"/>
          </a:p>
        </p:txBody>
      </p:sp>
      <p:sp>
        <p:nvSpPr>
          <p:cNvPr id="59" name="Text 19">
            <a:extLst>
              <a:ext uri="{FF2B5EF4-FFF2-40B4-BE49-F238E27FC236}">
                <a16:creationId xmlns:a16="http://schemas.microsoft.com/office/drawing/2014/main" id="{0ABA089B-275C-3F5C-BEBB-9A9A5DC099F4}"/>
              </a:ext>
            </a:extLst>
          </p:cNvPr>
          <p:cNvSpPr/>
          <p:nvPr/>
        </p:nvSpPr>
        <p:spPr>
          <a:xfrm>
            <a:off x="804672" y="4754880"/>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pHandle-&gt;hDurationms = hDurationms;</a:t>
            </a:r>
            <a:endParaRPr lang="en-US" sz="1300" dirty="0"/>
          </a:p>
        </p:txBody>
      </p:sp>
      <p:sp>
        <p:nvSpPr>
          <p:cNvPr id="63" name="Text 20">
            <a:extLst>
              <a:ext uri="{FF2B5EF4-FFF2-40B4-BE49-F238E27FC236}">
                <a16:creationId xmlns:a16="http://schemas.microsoft.com/office/drawing/2014/main" id="{7B67ECF5-2304-1EDC-4119-1F80CA5349E7}"/>
              </a:ext>
            </a:extLst>
          </p:cNvPr>
          <p:cNvSpPr/>
          <p:nvPr/>
        </p:nvSpPr>
        <p:spPr>
          <a:xfrm>
            <a:off x="804672" y="4942332"/>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pHandle-&gt;CommandState =</a:t>
            </a:r>
            <a:endParaRPr lang="en-US" sz="1300" dirty="0"/>
          </a:p>
        </p:txBody>
      </p:sp>
      <p:sp>
        <p:nvSpPr>
          <p:cNvPr id="67" name="Text 21">
            <a:extLst>
              <a:ext uri="{FF2B5EF4-FFF2-40B4-BE49-F238E27FC236}">
                <a16:creationId xmlns:a16="http://schemas.microsoft.com/office/drawing/2014/main" id="{FD89020A-49D5-7B72-117E-9360F44119CC}"/>
              </a:ext>
            </a:extLst>
          </p:cNvPr>
          <p:cNvSpPr/>
          <p:nvPr/>
        </p:nvSpPr>
        <p:spPr>
          <a:xfrm>
            <a:off x="804672" y="5129784"/>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MCI_COMMAND_NOT_ALREADY_EXECUTED;</a:t>
            </a:r>
            <a:endParaRPr lang="en-US" sz="1300" dirty="0"/>
          </a:p>
        </p:txBody>
      </p:sp>
      <p:sp>
        <p:nvSpPr>
          <p:cNvPr id="71" name="Text 22">
            <a:extLst>
              <a:ext uri="{FF2B5EF4-FFF2-40B4-BE49-F238E27FC236}">
                <a16:creationId xmlns:a16="http://schemas.microsoft.com/office/drawing/2014/main" id="{5408E856-C709-612A-003F-B7630C38464C}"/>
              </a:ext>
            </a:extLst>
          </p:cNvPr>
          <p:cNvSpPr/>
          <p:nvPr/>
        </p:nvSpPr>
        <p:spPr>
          <a:xfrm>
            <a:off x="804672" y="5317236"/>
            <a:ext cx="5020056" cy="183897"/>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75" name="Shape 23">
            <a:extLst>
              <a:ext uri="{FF2B5EF4-FFF2-40B4-BE49-F238E27FC236}">
                <a16:creationId xmlns:a16="http://schemas.microsoft.com/office/drawing/2014/main" id="{512CD5CF-5CDC-A76E-0D46-3D5308AF518C}"/>
              </a:ext>
            </a:extLst>
          </p:cNvPr>
          <p:cNvSpPr/>
          <p:nvPr/>
        </p:nvSpPr>
        <p:spPr>
          <a:xfrm>
            <a:off x="6309360" y="1600200"/>
            <a:ext cx="5330952" cy="4619847"/>
          </a:xfrm>
          <a:prstGeom prst="roundRect">
            <a:avLst>
              <a:gd name="adj" fmla="val 1942"/>
            </a:avLst>
          </a:prstGeom>
          <a:solidFill>
            <a:srgbClr val="071A33"/>
          </a:solidFill>
          <a:ln/>
          <a:effectLst>
            <a:outerShdw blurRad="101600" dist="25400" dir="5400000" algn="bl" rotWithShape="0">
              <a:srgbClr val="000000">
                <a:alpha val="22000"/>
              </a:srgbClr>
            </a:outerShdw>
          </a:effectLst>
        </p:spPr>
        <p:txBody>
          <a:bodyPr/>
          <a:lstStyle/>
          <a:p>
            <a:endParaRPr lang="it-IT" sz="1300"/>
          </a:p>
        </p:txBody>
      </p:sp>
      <p:sp>
        <p:nvSpPr>
          <p:cNvPr id="79" name="Text 24">
            <a:extLst>
              <a:ext uri="{FF2B5EF4-FFF2-40B4-BE49-F238E27FC236}">
                <a16:creationId xmlns:a16="http://schemas.microsoft.com/office/drawing/2014/main" id="{5D00DF1D-2647-D052-871A-905A8E184AEE}"/>
              </a:ext>
            </a:extLst>
          </p:cNvPr>
          <p:cNvSpPr/>
          <p:nvPr/>
        </p:nvSpPr>
        <p:spPr>
          <a:xfrm>
            <a:off x="6537960" y="1709928"/>
            <a:ext cx="4873752" cy="269117"/>
          </a:xfrm>
          <a:prstGeom prst="rect">
            <a:avLst/>
          </a:prstGeom>
          <a:noFill/>
          <a:ln/>
        </p:spPr>
        <p:txBody>
          <a:bodyPr wrap="square" lIns="0" tIns="0" rIns="0" bIns="0" rtlCol="0" anchor="ctr"/>
          <a:lstStyle/>
          <a:p>
            <a:pPr marL="0" indent="0">
              <a:buNone/>
            </a:pPr>
            <a:r>
              <a:rPr lang="en-US" sz="1300" dirty="0">
                <a:solidFill>
                  <a:srgbClr val="6E86A6"/>
                </a:solidFill>
                <a:latin typeface="Consolas" pitchFamily="34" charset="0"/>
                <a:ea typeface="Consolas" pitchFamily="34" charset="-122"/>
                <a:cs typeface="Consolas" pitchFamily="34" charset="-120"/>
              </a:rPr>
              <a:t>STC_ExecCurrentRamps</a:t>
            </a:r>
            <a:endParaRPr lang="en-US" sz="1300" dirty="0"/>
          </a:p>
        </p:txBody>
      </p:sp>
      <p:sp>
        <p:nvSpPr>
          <p:cNvPr id="83" name="Text 25">
            <a:extLst>
              <a:ext uri="{FF2B5EF4-FFF2-40B4-BE49-F238E27FC236}">
                <a16:creationId xmlns:a16="http://schemas.microsoft.com/office/drawing/2014/main" id="{4C32A850-DC06-02C6-BC28-2DFD4B29FA0A}"/>
              </a:ext>
            </a:extLst>
          </p:cNvPr>
          <p:cNvSpPr/>
          <p:nvPr/>
        </p:nvSpPr>
        <p:spPr>
          <a:xfrm>
            <a:off x="6565392" y="2057400"/>
            <a:ext cx="4818888" cy="136353"/>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__weak bool STC_ExecCurrentRamps(</a:t>
            </a:r>
            <a:endParaRPr lang="en-US" sz="1300" dirty="0"/>
          </a:p>
        </p:txBody>
      </p:sp>
      <p:sp>
        <p:nvSpPr>
          <p:cNvPr id="85" name="Text 26">
            <a:extLst>
              <a:ext uri="{FF2B5EF4-FFF2-40B4-BE49-F238E27FC236}">
                <a16:creationId xmlns:a16="http://schemas.microsoft.com/office/drawing/2014/main" id="{589BBF7D-0798-5AC3-0B2F-A22035E5101E}"/>
              </a:ext>
            </a:extLst>
          </p:cNvPr>
          <p:cNvSpPr/>
          <p:nvPr/>
        </p:nvSpPr>
        <p:spPr>
          <a:xfrm>
            <a:off x="6565392" y="2196389"/>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t>
            </a:r>
            <a:r>
              <a:rPr lang="en-US" sz="1300" dirty="0">
                <a:solidFill>
                  <a:srgbClr val="8FD6EA"/>
                </a:solidFill>
                <a:latin typeface="Consolas" pitchFamily="34" charset="0"/>
                <a:ea typeface="Consolas" pitchFamily="34" charset="-122"/>
                <a:cs typeface="Consolas" pitchFamily="34" charset="-120"/>
              </a:rPr>
              <a:t>SpeednTorqCtrl_Handle_t *pHandle,</a:t>
            </a:r>
            <a:endParaRPr lang="en-US" sz="1300" dirty="0">
              <a:solidFill>
                <a:srgbClr val="8FD6EA"/>
              </a:solidFill>
            </a:endParaRPr>
          </a:p>
        </p:txBody>
      </p:sp>
      <p:sp>
        <p:nvSpPr>
          <p:cNvPr id="87" name="Text 27">
            <a:extLst>
              <a:ext uri="{FF2B5EF4-FFF2-40B4-BE49-F238E27FC236}">
                <a16:creationId xmlns:a16="http://schemas.microsoft.com/office/drawing/2014/main" id="{0A3E8BB0-5AA7-925E-6E5A-FEB7F02A85DD}"/>
              </a:ext>
            </a:extLst>
          </p:cNvPr>
          <p:cNvSpPr/>
          <p:nvPr/>
        </p:nvSpPr>
        <p:spPr>
          <a:xfrm>
            <a:off x="6565392" y="2335378"/>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t>
            </a:r>
            <a:r>
              <a:rPr lang="en-US" sz="1300" dirty="0">
                <a:solidFill>
                  <a:srgbClr val="8FD6EA"/>
                </a:solidFill>
                <a:latin typeface="Consolas" pitchFamily="34" charset="0"/>
                <a:ea typeface="Consolas" pitchFamily="34" charset="-122"/>
                <a:cs typeface="Consolas" pitchFamily="34" charset="-120"/>
              </a:rPr>
              <a:t>int16_t hFinalFlux, uint16_t hDurationms) {</a:t>
            </a:r>
            <a:endParaRPr lang="en-US" sz="1300" dirty="0">
              <a:solidFill>
                <a:srgbClr val="8FD6EA"/>
              </a:solidFill>
            </a:endParaRPr>
          </a:p>
        </p:txBody>
      </p:sp>
      <p:sp>
        <p:nvSpPr>
          <p:cNvPr id="89" name="Text 28">
            <a:extLst>
              <a:ext uri="{FF2B5EF4-FFF2-40B4-BE49-F238E27FC236}">
                <a16:creationId xmlns:a16="http://schemas.microsoft.com/office/drawing/2014/main" id="{8A072403-8738-DF79-D230-B978EBBE1DC2}"/>
              </a:ext>
            </a:extLst>
          </p:cNvPr>
          <p:cNvSpPr/>
          <p:nvPr/>
        </p:nvSpPr>
        <p:spPr>
          <a:xfrm>
            <a:off x="6565392" y="2474366"/>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bool AllowedRange = true;</a:t>
            </a:r>
            <a:endParaRPr lang="en-US" sz="1300" dirty="0"/>
          </a:p>
        </p:txBody>
      </p:sp>
      <p:sp>
        <p:nvSpPr>
          <p:cNvPr id="91" name="Text 29">
            <a:extLst>
              <a:ext uri="{FF2B5EF4-FFF2-40B4-BE49-F238E27FC236}">
                <a16:creationId xmlns:a16="http://schemas.microsoft.com/office/drawing/2014/main" id="{4E8B544B-F4CB-E4D7-BCD2-69FB56D6F890}"/>
              </a:ext>
            </a:extLst>
          </p:cNvPr>
          <p:cNvSpPr/>
          <p:nvPr/>
        </p:nvSpPr>
        <p:spPr>
          <a:xfrm>
            <a:off x="6565392" y="2613355"/>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uint32_t wAux;</a:t>
            </a:r>
            <a:endParaRPr lang="en-US" sz="1300" dirty="0"/>
          </a:p>
        </p:txBody>
      </p:sp>
      <p:sp>
        <p:nvSpPr>
          <p:cNvPr id="93" name="Text 30">
            <a:extLst>
              <a:ext uri="{FF2B5EF4-FFF2-40B4-BE49-F238E27FC236}">
                <a16:creationId xmlns:a16="http://schemas.microsoft.com/office/drawing/2014/main" id="{A3C3649B-686B-3F98-D3EA-22E71167B122}"/>
              </a:ext>
            </a:extLst>
          </p:cNvPr>
          <p:cNvSpPr/>
          <p:nvPr/>
        </p:nvSpPr>
        <p:spPr>
          <a:xfrm>
            <a:off x="6565392" y="2752344"/>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int32_t wAux1;</a:t>
            </a:r>
            <a:endParaRPr lang="en-US" sz="1300" dirty="0"/>
          </a:p>
        </p:txBody>
      </p:sp>
      <p:sp>
        <p:nvSpPr>
          <p:cNvPr id="95" name="Text 31">
            <a:extLst>
              <a:ext uri="{FF2B5EF4-FFF2-40B4-BE49-F238E27FC236}">
                <a16:creationId xmlns:a16="http://schemas.microsoft.com/office/drawing/2014/main" id="{633B75CA-384A-BE55-04B1-44688C572BD1}"/>
              </a:ext>
            </a:extLst>
          </p:cNvPr>
          <p:cNvSpPr/>
          <p:nvPr/>
        </p:nvSpPr>
        <p:spPr>
          <a:xfrm>
            <a:off x="6565392" y="2891333"/>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int16_t hCurrentReferenceId =</a:t>
            </a:r>
            <a:endParaRPr lang="en-US" sz="1300" dirty="0"/>
          </a:p>
        </p:txBody>
      </p:sp>
      <p:sp>
        <p:nvSpPr>
          <p:cNvPr id="97" name="Text 32">
            <a:extLst>
              <a:ext uri="{FF2B5EF4-FFF2-40B4-BE49-F238E27FC236}">
                <a16:creationId xmlns:a16="http://schemas.microsoft.com/office/drawing/2014/main" id="{86B58986-1B87-6E21-B822-F6D3D547EF04}"/>
              </a:ext>
            </a:extLst>
          </p:cNvPr>
          <p:cNvSpPr/>
          <p:nvPr/>
        </p:nvSpPr>
        <p:spPr>
          <a:xfrm>
            <a:off x="6565392" y="3030322"/>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STC_GetFluxRef(pHandle);</a:t>
            </a:r>
            <a:endParaRPr lang="en-US" sz="1300" dirty="0"/>
          </a:p>
        </p:txBody>
      </p:sp>
      <p:sp>
        <p:nvSpPr>
          <p:cNvPr id="99" name="Text 33">
            <a:extLst>
              <a:ext uri="{FF2B5EF4-FFF2-40B4-BE49-F238E27FC236}">
                <a16:creationId xmlns:a16="http://schemas.microsoft.com/office/drawing/2014/main" id="{30AFE32C-D68C-4016-7F1D-59231BBC7637}"/>
              </a:ext>
            </a:extLst>
          </p:cNvPr>
          <p:cNvSpPr/>
          <p:nvPr/>
        </p:nvSpPr>
        <p:spPr>
          <a:xfrm>
            <a:off x="6565392" y="3169310"/>
            <a:ext cx="4818888" cy="136353"/>
          </a:xfrm>
          <a:prstGeom prst="rect">
            <a:avLst/>
          </a:prstGeom>
          <a:noFill/>
          <a:ln/>
        </p:spPr>
        <p:txBody>
          <a:bodyPr wrap="square" lIns="0" tIns="0" rIns="0" bIns="0" rtlCol="0" anchor="ctr"/>
          <a:lstStyle/>
          <a:p>
            <a:pPr marL="0" indent="0">
              <a:buNone/>
            </a:pPr>
            <a:endParaRPr lang="en-US" sz="1300" dirty="0"/>
          </a:p>
        </p:txBody>
      </p:sp>
      <p:sp>
        <p:nvSpPr>
          <p:cNvPr id="101" name="Text 34">
            <a:extLst>
              <a:ext uri="{FF2B5EF4-FFF2-40B4-BE49-F238E27FC236}">
                <a16:creationId xmlns:a16="http://schemas.microsoft.com/office/drawing/2014/main" id="{A5858040-3DFD-6160-E7EF-A75B7011545D}"/>
              </a:ext>
            </a:extLst>
          </p:cNvPr>
          <p:cNvSpPr/>
          <p:nvPr/>
        </p:nvSpPr>
        <p:spPr>
          <a:xfrm>
            <a:off x="6565392" y="3308299"/>
            <a:ext cx="4818888" cy="136353"/>
          </a:xfrm>
          <a:prstGeom prst="rect">
            <a:avLst/>
          </a:prstGeom>
          <a:noFill/>
          <a:ln/>
        </p:spPr>
        <p:txBody>
          <a:bodyPr wrap="square" lIns="0" tIns="0" rIns="0" bIns="0" rtlCol="0" anchor="ctr"/>
          <a:lstStyle/>
          <a:p>
            <a:pPr marL="0" indent="0">
              <a:buNone/>
            </a:pPr>
            <a:r>
              <a:rPr lang="en-US" sz="1300" dirty="0">
                <a:solidFill>
                  <a:srgbClr val="F2C879"/>
                </a:solidFill>
                <a:latin typeface="Consolas" pitchFamily="34" charset="0"/>
                <a:ea typeface="Consolas" pitchFamily="34" charset="-122"/>
                <a:cs typeface="Consolas" pitchFamily="34" charset="-120"/>
              </a:rPr>
              <a:t>  if (AllowedRange == true) {</a:t>
            </a:r>
            <a:endParaRPr lang="en-US" sz="1300" dirty="0"/>
          </a:p>
        </p:txBody>
      </p:sp>
      <p:sp>
        <p:nvSpPr>
          <p:cNvPr id="103" name="Text 35">
            <a:extLst>
              <a:ext uri="{FF2B5EF4-FFF2-40B4-BE49-F238E27FC236}">
                <a16:creationId xmlns:a16="http://schemas.microsoft.com/office/drawing/2014/main" id="{6CB3A6D9-82CD-4CE2-5FA4-3D2D7FA6126D}"/>
              </a:ext>
            </a:extLst>
          </p:cNvPr>
          <p:cNvSpPr/>
          <p:nvPr/>
        </p:nvSpPr>
        <p:spPr>
          <a:xfrm>
            <a:off x="6565392" y="3447288"/>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STC_SetControlMode(pHandle, STC_TORQUE_MODE);</a:t>
            </a:r>
            <a:endParaRPr lang="en-US" sz="1300" dirty="0"/>
          </a:p>
        </p:txBody>
      </p:sp>
      <p:sp>
        <p:nvSpPr>
          <p:cNvPr id="105" name="Text 36">
            <a:extLst>
              <a:ext uri="{FF2B5EF4-FFF2-40B4-BE49-F238E27FC236}">
                <a16:creationId xmlns:a16="http://schemas.microsoft.com/office/drawing/2014/main" id="{21CAECDA-8A7A-664C-965C-6C132D0D9FE9}"/>
              </a:ext>
            </a:extLst>
          </p:cNvPr>
          <p:cNvSpPr/>
          <p:nvPr/>
        </p:nvSpPr>
        <p:spPr>
          <a:xfrm>
            <a:off x="6565392" y="3586277"/>
            <a:ext cx="4818888" cy="136353"/>
          </a:xfrm>
          <a:prstGeom prst="rect">
            <a:avLst/>
          </a:prstGeom>
          <a:noFill/>
          <a:ln/>
        </p:spPr>
        <p:txBody>
          <a:bodyPr wrap="square" lIns="0" tIns="0" rIns="0" bIns="0" rtlCol="0" anchor="ctr"/>
          <a:lstStyle/>
          <a:p>
            <a:pPr marL="0" indent="0">
              <a:buNone/>
            </a:pPr>
            <a:endParaRPr lang="en-US" sz="1300" dirty="0"/>
          </a:p>
        </p:txBody>
      </p:sp>
      <p:sp>
        <p:nvSpPr>
          <p:cNvPr id="107" name="Text 37">
            <a:extLst>
              <a:ext uri="{FF2B5EF4-FFF2-40B4-BE49-F238E27FC236}">
                <a16:creationId xmlns:a16="http://schemas.microsoft.com/office/drawing/2014/main" id="{AC539DF9-537D-9FF9-23AE-3CA41E115E24}"/>
              </a:ext>
            </a:extLst>
          </p:cNvPr>
          <p:cNvSpPr/>
          <p:nvPr/>
        </p:nvSpPr>
        <p:spPr>
          <a:xfrm>
            <a:off x="6565392" y="3725266"/>
            <a:ext cx="4818888" cy="136353"/>
          </a:xfrm>
          <a:prstGeom prst="rect">
            <a:avLst/>
          </a:prstGeom>
          <a:noFill/>
          <a:ln/>
        </p:spPr>
        <p:txBody>
          <a:bodyPr wrap="square" lIns="0" tIns="0" rIns="0" bIns="0" rtlCol="0" anchor="ctr"/>
          <a:lstStyle/>
          <a:p>
            <a:pPr marL="0" indent="0">
              <a:buNone/>
            </a:pPr>
            <a:r>
              <a:rPr lang="en-US" sz="1300" dirty="0">
                <a:solidFill>
                  <a:srgbClr val="F2C879"/>
                </a:solidFill>
                <a:latin typeface="Consolas" pitchFamily="34" charset="0"/>
                <a:ea typeface="Consolas" pitchFamily="34" charset="-122"/>
                <a:cs typeface="Consolas" pitchFamily="34" charset="-120"/>
              </a:rPr>
              <a:t>    if (hDurationms == 0u) {</a:t>
            </a:r>
            <a:endParaRPr lang="en-US" sz="1300" dirty="0"/>
          </a:p>
        </p:txBody>
      </p:sp>
      <p:sp>
        <p:nvSpPr>
          <p:cNvPr id="109" name="Text 38">
            <a:extLst>
              <a:ext uri="{FF2B5EF4-FFF2-40B4-BE49-F238E27FC236}">
                <a16:creationId xmlns:a16="http://schemas.microsoft.com/office/drawing/2014/main" id="{24D3FAFD-F32B-D9E8-A40D-55829199C327}"/>
              </a:ext>
            </a:extLst>
          </p:cNvPr>
          <p:cNvSpPr/>
          <p:nvPr/>
        </p:nvSpPr>
        <p:spPr>
          <a:xfrm>
            <a:off x="6565392" y="3864254"/>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pHandle-&gt;FluxRef = (int32_t)hFinalFlux * 65536;</a:t>
            </a:r>
            <a:endParaRPr lang="en-US" sz="1300" dirty="0"/>
          </a:p>
        </p:txBody>
      </p:sp>
      <p:sp>
        <p:nvSpPr>
          <p:cNvPr id="111" name="Text 39">
            <a:extLst>
              <a:ext uri="{FF2B5EF4-FFF2-40B4-BE49-F238E27FC236}">
                <a16:creationId xmlns:a16="http://schemas.microsoft.com/office/drawing/2014/main" id="{2373B5EF-5EE8-DD23-AC29-D9E39FEEA6FF}"/>
              </a:ext>
            </a:extLst>
          </p:cNvPr>
          <p:cNvSpPr/>
          <p:nvPr/>
        </p:nvSpPr>
        <p:spPr>
          <a:xfrm>
            <a:off x="6565392" y="4003243"/>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pHandle-&gt;RampRemainingStepId = 0u;</a:t>
            </a:r>
            <a:endParaRPr lang="en-US" sz="1300" dirty="0"/>
          </a:p>
        </p:txBody>
      </p:sp>
      <p:sp>
        <p:nvSpPr>
          <p:cNvPr id="113" name="Text 40">
            <a:extLst>
              <a:ext uri="{FF2B5EF4-FFF2-40B4-BE49-F238E27FC236}">
                <a16:creationId xmlns:a16="http://schemas.microsoft.com/office/drawing/2014/main" id="{69B1B806-511F-8312-8AAA-95F6E1990EF1}"/>
              </a:ext>
            </a:extLst>
          </p:cNvPr>
          <p:cNvSpPr/>
          <p:nvPr/>
        </p:nvSpPr>
        <p:spPr>
          <a:xfrm>
            <a:off x="6565392" y="4142232"/>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pHandle-&gt;IncDecAmountId = 0;</a:t>
            </a:r>
            <a:endParaRPr lang="en-US" sz="1300" dirty="0"/>
          </a:p>
        </p:txBody>
      </p:sp>
      <p:sp>
        <p:nvSpPr>
          <p:cNvPr id="115" name="Text 41">
            <a:extLst>
              <a:ext uri="{FF2B5EF4-FFF2-40B4-BE49-F238E27FC236}">
                <a16:creationId xmlns:a16="http://schemas.microsoft.com/office/drawing/2014/main" id="{058DC412-DF97-925B-1B83-FF4C6B6C0597}"/>
              </a:ext>
            </a:extLst>
          </p:cNvPr>
          <p:cNvSpPr/>
          <p:nvPr/>
        </p:nvSpPr>
        <p:spPr>
          <a:xfrm>
            <a:off x="6565392" y="4281221"/>
            <a:ext cx="4818888" cy="136353"/>
          </a:xfrm>
          <a:prstGeom prst="rect">
            <a:avLst/>
          </a:prstGeom>
          <a:noFill/>
          <a:ln/>
        </p:spPr>
        <p:txBody>
          <a:bodyPr wrap="square" lIns="0" tIns="0" rIns="0" bIns="0" rtlCol="0" anchor="ctr"/>
          <a:lstStyle/>
          <a:p>
            <a:pPr marL="0" indent="0">
              <a:buNone/>
            </a:pPr>
            <a:r>
              <a:rPr lang="en-US" sz="1300" dirty="0">
                <a:solidFill>
                  <a:srgbClr val="F2C879"/>
                </a:solidFill>
                <a:latin typeface="Consolas" pitchFamily="34" charset="0"/>
                <a:ea typeface="Consolas" pitchFamily="34" charset="-122"/>
                <a:cs typeface="Consolas" pitchFamily="34" charset="-120"/>
              </a:rPr>
              <a:t>    } else {</a:t>
            </a:r>
            <a:endParaRPr lang="en-US" sz="1300" dirty="0"/>
          </a:p>
        </p:txBody>
      </p:sp>
      <p:sp>
        <p:nvSpPr>
          <p:cNvPr id="117" name="Text 42">
            <a:extLst>
              <a:ext uri="{FF2B5EF4-FFF2-40B4-BE49-F238E27FC236}">
                <a16:creationId xmlns:a16="http://schemas.microsoft.com/office/drawing/2014/main" id="{EADCAF0A-2852-3A78-E82B-EB1D32AEE069}"/>
              </a:ext>
            </a:extLst>
          </p:cNvPr>
          <p:cNvSpPr/>
          <p:nvPr/>
        </p:nvSpPr>
        <p:spPr>
          <a:xfrm>
            <a:off x="6565392" y="4420210"/>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pHandle-&gt;TargetFinalId = hFinalFlux;</a:t>
            </a:r>
            <a:endParaRPr lang="en-US" sz="1300" dirty="0"/>
          </a:p>
        </p:txBody>
      </p:sp>
      <p:sp>
        <p:nvSpPr>
          <p:cNvPr id="119" name="Text 43">
            <a:extLst>
              <a:ext uri="{FF2B5EF4-FFF2-40B4-BE49-F238E27FC236}">
                <a16:creationId xmlns:a16="http://schemas.microsoft.com/office/drawing/2014/main" id="{A5F5E855-4D92-AE3C-B295-8AB9B196F40C}"/>
              </a:ext>
            </a:extLst>
          </p:cNvPr>
          <p:cNvSpPr/>
          <p:nvPr/>
        </p:nvSpPr>
        <p:spPr>
          <a:xfrm>
            <a:off x="6565392" y="4559198"/>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wAux = (uint32_t)hDurationms *</a:t>
            </a:r>
            <a:endParaRPr lang="en-US" sz="1300" dirty="0"/>
          </a:p>
        </p:txBody>
      </p:sp>
      <p:sp>
        <p:nvSpPr>
          <p:cNvPr id="121" name="Text 44">
            <a:extLst>
              <a:ext uri="{FF2B5EF4-FFF2-40B4-BE49-F238E27FC236}">
                <a16:creationId xmlns:a16="http://schemas.microsoft.com/office/drawing/2014/main" id="{B6BCFC26-91E9-E120-B5F0-E5A60B9A3FE7}"/>
              </a:ext>
            </a:extLst>
          </p:cNvPr>
          <p:cNvSpPr/>
          <p:nvPr/>
        </p:nvSpPr>
        <p:spPr>
          <a:xfrm>
            <a:off x="6565392" y="4698187"/>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(uint32_t)pHandle-&gt;STCFrequencyHz;</a:t>
            </a:r>
            <a:endParaRPr lang="en-US" sz="1300" dirty="0"/>
          </a:p>
        </p:txBody>
      </p:sp>
      <p:sp>
        <p:nvSpPr>
          <p:cNvPr id="123" name="Text 45">
            <a:extLst>
              <a:ext uri="{FF2B5EF4-FFF2-40B4-BE49-F238E27FC236}">
                <a16:creationId xmlns:a16="http://schemas.microsoft.com/office/drawing/2014/main" id="{0F86790C-981C-3447-0D25-2DDA36FC3E04}"/>
              </a:ext>
            </a:extLst>
          </p:cNvPr>
          <p:cNvSpPr/>
          <p:nvPr/>
        </p:nvSpPr>
        <p:spPr>
          <a:xfrm>
            <a:off x="6565392" y="4837176"/>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wAux /= 1000u;</a:t>
            </a:r>
            <a:endParaRPr lang="en-US" sz="1300" dirty="0"/>
          </a:p>
        </p:txBody>
      </p:sp>
      <p:sp>
        <p:nvSpPr>
          <p:cNvPr id="125" name="Text 46">
            <a:extLst>
              <a:ext uri="{FF2B5EF4-FFF2-40B4-BE49-F238E27FC236}">
                <a16:creationId xmlns:a16="http://schemas.microsoft.com/office/drawing/2014/main" id="{363AD077-6EC5-55A2-DD9E-13D173CA0393}"/>
              </a:ext>
            </a:extLst>
          </p:cNvPr>
          <p:cNvSpPr/>
          <p:nvPr/>
        </p:nvSpPr>
        <p:spPr>
          <a:xfrm>
            <a:off x="6565392" y="4976165"/>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pHandle-&gt;RampRemainingStepId = wAux + 1u;</a:t>
            </a:r>
            <a:endParaRPr lang="en-US" sz="1300" dirty="0"/>
          </a:p>
        </p:txBody>
      </p:sp>
      <p:sp>
        <p:nvSpPr>
          <p:cNvPr id="127" name="Text 47">
            <a:extLst>
              <a:ext uri="{FF2B5EF4-FFF2-40B4-BE49-F238E27FC236}">
                <a16:creationId xmlns:a16="http://schemas.microsoft.com/office/drawing/2014/main" id="{43FF8682-B163-CBAB-5C82-C77623140B32}"/>
              </a:ext>
            </a:extLst>
          </p:cNvPr>
          <p:cNvSpPr/>
          <p:nvPr/>
        </p:nvSpPr>
        <p:spPr>
          <a:xfrm>
            <a:off x="6565392" y="5115154"/>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wAux1 = ((int32_t)hFinalFlux -</a:t>
            </a:r>
            <a:endParaRPr lang="en-US" sz="1300" dirty="0"/>
          </a:p>
        </p:txBody>
      </p:sp>
      <p:sp>
        <p:nvSpPr>
          <p:cNvPr id="129" name="Text 48">
            <a:extLst>
              <a:ext uri="{FF2B5EF4-FFF2-40B4-BE49-F238E27FC236}">
                <a16:creationId xmlns:a16="http://schemas.microsoft.com/office/drawing/2014/main" id="{57C7C2CF-D8CF-1850-447D-1D1C2CE2FF61}"/>
              </a:ext>
            </a:extLst>
          </p:cNvPr>
          <p:cNvSpPr/>
          <p:nvPr/>
        </p:nvSpPr>
        <p:spPr>
          <a:xfrm>
            <a:off x="6565392" y="5254142"/>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(int32_t)hCurrentReferenceId) * 65536;</a:t>
            </a:r>
            <a:endParaRPr lang="en-US" sz="1300" dirty="0"/>
          </a:p>
        </p:txBody>
      </p:sp>
      <p:sp>
        <p:nvSpPr>
          <p:cNvPr id="131" name="Text 49">
            <a:extLst>
              <a:ext uri="{FF2B5EF4-FFF2-40B4-BE49-F238E27FC236}">
                <a16:creationId xmlns:a16="http://schemas.microsoft.com/office/drawing/2014/main" id="{C192AF19-CC0C-3FA8-11D5-B7BCA2CDEC1E}"/>
              </a:ext>
            </a:extLst>
          </p:cNvPr>
          <p:cNvSpPr/>
          <p:nvPr/>
        </p:nvSpPr>
        <p:spPr>
          <a:xfrm>
            <a:off x="6565392" y="5393131"/>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wAux1 /= (int32_t)pHandle-&gt;RampRemainingStepId;</a:t>
            </a:r>
            <a:endParaRPr lang="en-US" sz="1300" dirty="0"/>
          </a:p>
        </p:txBody>
      </p:sp>
      <p:sp>
        <p:nvSpPr>
          <p:cNvPr id="133" name="Text 50">
            <a:extLst>
              <a:ext uri="{FF2B5EF4-FFF2-40B4-BE49-F238E27FC236}">
                <a16:creationId xmlns:a16="http://schemas.microsoft.com/office/drawing/2014/main" id="{A4ED8F1A-9070-007D-BCAE-6A72F8394B2B}"/>
              </a:ext>
            </a:extLst>
          </p:cNvPr>
          <p:cNvSpPr/>
          <p:nvPr/>
        </p:nvSpPr>
        <p:spPr>
          <a:xfrm>
            <a:off x="6565392" y="5532120"/>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pHandle-&gt;IncDecAmountId = wAux1;</a:t>
            </a:r>
            <a:endParaRPr lang="en-US" sz="1300" dirty="0"/>
          </a:p>
        </p:txBody>
      </p:sp>
      <p:sp>
        <p:nvSpPr>
          <p:cNvPr id="135" name="Text 51">
            <a:extLst>
              <a:ext uri="{FF2B5EF4-FFF2-40B4-BE49-F238E27FC236}">
                <a16:creationId xmlns:a16="http://schemas.microsoft.com/office/drawing/2014/main" id="{44B9A9FC-D223-9640-4CE5-69DABA711295}"/>
              </a:ext>
            </a:extLst>
          </p:cNvPr>
          <p:cNvSpPr/>
          <p:nvPr/>
        </p:nvSpPr>
        <p:spPr>
          <a:xfrm>
            <a:off x="6565392" y="5671109"/>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t>
            </a:r>
            <a:endParaRPr lang="en-US" sz="1300" dirty="0"/>
          </a:p>
        </p:txBody>
      </p:sp>
      <p:sp>
        <p:nvSpPr>
          <p:cNvPr id="137" name="Text 52">
            <a:extLst>
              <a:ext uri="{FF2B5EF4-FFF2-40B4-BE49-F238E27FC236}">
                <a16:creationId xmlns:a16="http://schemas.microsoft.com/office/drawing/2014/main" id="{F100E52F-AD26-E20F-02E4-9D587A690452}"/>
              </a:ext>
            </a:extLst>
          </p:cNvPr>
          <p:cNvSpPr/>
          <p:nvPr/>
        </p:nvSpPr>
        <p:spPr>
          <a:xfrm>
            <a:off x="6565392" y="5810098"/>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t>
            </a:r>
            <a:endParaRPr lang="en-US" sz="1300" dirty="0"/>
          </a:p>
        </p:txBody>
      </p:sp>
      <p:sp>
        <p:nvSpPr>
          <p:cNvPr id="139" name="Text 53">
            <a:extLst>
              <a:ext uri="{FF2B5EF4-FFF2-40B4-BE49-F238E27FC236}">
                <a16:creationId xmlns:a16="http://schemas.microsoft.com/office/drawing/2014/main" id="{85DD030B-69D8-63BD-38A6-D30E2489A3B8}"/>
              </a:ext>
            </a:extLst>
          </p:cNvPr>
          <p:cNvSpPr/>
          <p:nvPr/>
        </p:nvSpPr>
        <p:spPr>
          <a:xfrm>
            <a:off x="6565392" y="5949086"/>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return AllowedRange;</a:t>
            </a:r>
            <a:endParaRPr lang="en-US" sz="1300" dirty="0"/>
          </a:p>
        </p:txBody>
      </p:sp>
      <p:sp>
        <p:nvSpPr>
          <p:cNvPr id="141" name="Text 54">
            <a:extLst>
              <a:ext uri="{FF2B5EF4-FFF2-40B4-BE49-F238E27FC236}">
                <a16:creationId xmlns:a16="http://schemas.microsoft.com/office/drawing/2014/main" id="{8D9C08B2-27AC-6299-474E-22586B7C78C9}"/>
              </a:ext>
            </a:extLst>
          </p:cNvPr>
          <p:cNvSpPr/>
          <p:nvPr/>
        </p:nvSpPr>
        <p:spPr>
          <a:xfrm>
            <a:off x="6565392" y="6088075"/>
            <a:ext cx="4818888" cy="136353"/>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0" name="Text 0">
            <a:extLst>
              <a:ext uri="{FF2B5EF4-FFF2-40B4-BE49-F238E27FC236}">
                <a16:creationId xmlns:a16="http://schemas.microsoft.com/office/drawing/2014/main" id="{347A4C24-9E84-472B-6BC3-7DFAAE27A2E2}"/>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1775168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8308-6DC1-6CDF-5F95-5158EF0713C2}"/>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03FD6A70-63CB-28B3-A9D8-B1BE781C499F}"/>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PI Registers Decoding</a:t>
            </a:r>
            <a:endParaRPr lang="it-IT" dirty="0"/>
          </a:p>
        </p:txBody>
      </p:sp>
      <p:sp>
        <p:nvSpPr>
          <p:cNvPr id="8" name="Text 2">
            <a:extLst>
              <a:ext uri="{FF2B5EF4-FFF2-40B4-BE49-F238E27FC236}">
                <a16:creationId xmlns:a16="http://schemas.microsoft.com/office/drawing/2014/main" id="{AA14616A-E896-8062-9D60-CF073CDD5483}"/>
              </a:ext>
            </a:extLst>
          </p:cNvPr>
          <p:cNvSpPr/>
          <p:nvPr/>
        </p:nvSpPr>
        <p:spPr>
          <a:xfrm>
            <a:off x="548640" y="1323340"/>
            <a:ext cx="10607040" cy="1099820"/>
          </a:xfrm>
          <a:prstGeom prst="rect">
            <a:avLst/>
          </a:prstGeom>
          <a:noFill/>
          <a:ln/>
        </p:spPr>
        <p:txBody>
          <a:bodyPr wrap="square" rtlCol="0" anchor="ctr"/>
          <a:lstStyle/>
          <a:p>
            <a:pPr>
              <a:lnSpc>
                <a:spcPct val="120000"/>
              </a:lnSpc>
            </a:pPr>
            <a:r>
              <a:rPr lang="en-US" dirty="0">
                <a:solidFill>
                  <a:srgbClr val="16212B"/>
                </a:solidFill>
                <a:latin typeface="Calibri" pitchFamily="34" charset="0"/>
                <a:ea typeface="Calibri" pitchFamily="34" charset="-122"/>
                <a:cs typeface="Calibri" pitchFamily="34" charset="-120"/>
              </a:rPr>
              <a:t>The management of the control registers has been refined to allow PI gain tuning (e.g. MC_PROTOCOL_REG_SPEED_KP) directly from CAN, by unpacking the 32-bit </a:t>
            </a:r>
            <a:r>
              <a:rPr lang="en-US" dirty="0" err="1">
                <a:solidFill>
                  <a:srgbClr val="16212B"/>
                </a:solidFill>
                <a:latin typeface="Calibri" pitchFamily="34" charset="0"/>
                <a:ea typeface="Calibri" pitchFamily="34" charset="-122"/>
                <a:cs typeface="Calibri" pitchFamily="34" charset="-120"/>
              </a:rPr>
              <a:t>wValue</a:t>
            </a:r>
            <a:r>
              <a:rPr lang="en-US" dirty="0">
                <a:solidFill>
                  <a:srgbClr val="16212B"/>
                </a:solidFill>
                <a:latin typeface="Calibri" pitchFamily="34" charset="0"/>
                <a:ea typeface="Calibri" pitchFamily="34" charset="-122"/>
                <a:cs typeface="Calibri" pitchFamily="34" charset="-120"/>
              </a:rPr>
              <a:t> variable to set or read both numerator and nominator in a single message.</a:t>
            </a:r>
            <a:endParaRPr lang="en-US" sz="1400" dirty="0"/>
          </a:p>
        </p:txBody>
      </p:sp>
      <p:sp>
        <p:nvSpPr>
          <p:cNvPr id="10" name="Text 3">
            <a:extLst>
              <a:ext uri="{FF2B5EF4-FFF2-40B4-BE49-F238E27FC236}">
                <a16:creationId xmlns:a16="http://schemas.microsoft.com/office/drawing/2014/main" id="{6404A9DC-CF67-ED60-0D88-4F298EB13068}"/>
              </a:ext>
            </a:extLst>
          </p:cNvPr>
          <p:cNvSpPr/>
          <p:nvPr/>
        </p:nvSpPr>
        <p:spPr>
          <a:xfrm>
            <a:off x="2274771" y="2547620"/>
            <a:ext cx="7315200" cy="274320"/>
          </a:xfrm>
          <a:prstGeom prst="rect">
            <a:avLst/>
          </a:prstGeom>
          <a:noFill/>
          <a:ln/>
        </p:spPr>
        <p:txBody>
          <a:bodyPr wrap="square" rtlCol="0" anchor="ctr"/>
          <a:lstStyle/>
          <a:p>
            <a:pPr marL="0" indent="0">
              <a:buNone/>
            </a:pPr>
            <a:r>
              <a:rPr lang="en-US" sz="2000" b="1" dirty="0">
                <a:solidFill>
                  <a:srgbClr val="03234B"/>
                </a:solidFill>
                <a:latin typeface="Calibri" pitchFamily="34" charset="0"/>
                <a:ea typeface="Calibri" pitchFamily="34" charset="-122"/>
                <a:cs typeface="Calibri" pitchFamily="34" charset="-120"/>
              </a:rPr>
              <a:t>wValue (32 bit)</a:t>
            </a:r>
            <a:endParaRPr lang="en-US" sz="2000" dirty="0"/>
          </a:p>
        </p:txBody>
      </p:sp>
      <p:sp>
        <p:nvSpPr>
          <p:cNvPr id="12" name="Text 6">
            <a:extLst>
              <a:ext uri="{FF2B5EF4-FFF2-40B4-BE49-F238E27FC236}">
                <a16:creationId xmlns:a16="http://schemas.microsoft.com/office/drawing/2014/main" id="{9BD758C5-D539-6F9B-CECB-AEF1E8B87C12}"/>
              </a:ext>
            </a:extLst>
          </p:cNvPr>
          <p:cNvSpPr/>
          <p:nvPr/>
        </p:nvSpPr>
        <p:spPr>
          <a:xfrm>
            <a:off x="2274771" y="2931668"/>
            <a:ext cx="3657600" cy="7315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16 bit più significativi</a:t>
            </a:r>
            <a:endParaRPr lang="en-US" sz="1250" dirty="0"/>
          </a:p>
        </p:txBody>
      </p:sp>
      <p:sp>
        <p:nvSpPr>
          <p:cNvPr id="14" name="Text 7">
            <a:extLst>
              <a:ext uri="{FF2B5EF4-FFF2-40B4-BE49-F238E27FC236}">
                <a16:creationId xmlns:a16="http://schemas.microsoft.com/office/drawing/2014/main" id="{CAA00DB0-06EB-540D-4F1D-FD51164B92E6}"/>
              </a:ext>
            </a:extLst>
          </p:cNvPr>
          <p:cNvSpPr/>
          <p:nvPr/>
        </p:nvSpPr>
        <p:spPr>
          <a:xfrm>
            <a:off x="5932371" y="2931668"/>
            <a:ext cx="3657600" cy="7315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16 bit meno significativi</a:t>
            </a:r>
            <a:endParaRPr lang="en-US" sz="1250" dirty="0"/>
          </a:p>
        </p:txBody>
      </p:sp>
      <p:sp>
        <p:nvSpPr>
          <p:cNvPr id="16" name="Shape 8">
            <a:extLst>
              <a:ext uri="{FF2B5EF4-FFF2-40B4-BE49-F238E27FC236}">
                <a16:creationId xmlns:a16="http://schemas.microsoft.com/office/drawing/2014/main" id="{2A973B97-73D6-2429-E34B-01F9BFEC6B80}"/>
              </a:ext>
            </a:extLst>
          </p:cNvPr>
          <p:cNvSpPr/>
          <p:nvPr/>
        </p:nvSpPr>
        <p:spPr>
          <a:xfrm>
            <a:off x="4076138" y="3649853"/>
            <a:ext cx="45719" cy="516255"/>
          </a:xfrm>
          <a:prstGeom prst="bentConnector2">
            <a:avLst/>
          </a:prstGeom>
          <a:noFill/>
          <a:ln w="25400">
            <a:solidFill>
              <a:srgbClr val="3CB4E6"/>
            </a:solidFill>
            <a:prstDash val="solid"/>
          </a:ln>
        </p:spPr>
        <p:txBody>
          <a:bodyPr/>
          <a:lstStyle/>
          <a:p>
            <a:endParaRPr lang="it-IT"/>
          </a:p>
        </p:txBody>
      </p:sp>
      <p:sp>
        <p:nvSpPr>
          <p:cNvPr id="18" name="Shape 9">
            <a:extLst>
              <a:ext uri="{FF2B5EF4-FFF2-40B4-BE49-F238E27FC236}">
                <a16:creationId xmlns:a16="http://schemas.microsoft.com/office/drawing/2014/main" id="{4DEA78A4-1B4C-D2F7-A13F-1A848993BB9B}"/>
              </a:ext>
            </a:extLst>
          </p:cNvPr>
          <p:cNvSpPr/>
          <p:nvPr/>
        </p:nvSpPr>
        <p:spPr>
          <a:xfrm>
            <a:off x="7742882" y="3663188"/>
            <a:ext cx="45719" cy="502920"/>
          </a:xfrm>
          <a:prstGeom prst="bentConnector2">
            <a:avLst/>
          </a:prstGeom>
          <a:noFill/>
          <a:ln w="25400">
            <a:solidFill>
              <a:srgbClr val="3CB4E6"/>
            </a:solidFill>
            <a:prstDash val="solid"/>
          </a:ln>
        </p:spPr>
        <p:txBody>
          <a:bodyPr/>
          <a:lstStyle/>
          <a:p>
            <a:endParaRPr lang="it-IT"/>
          </a:p>
        </p:txBody>
      </p:sp>
      <p:sp>
        <p:nvSpPr>
          <p:cNvPr id="20" name="Shape 10">
            <a:extLst>
              <a:ext uri="{FF2B5EF4-FFF2-40B4-BE49-F238E27FC236}">
                <a16:creationId xmlns:a16="http://schemas.microsoft.com/office/drawing/2014/main" id="{7E5105EC-CACC-9137-53A1-1C1473875B73}"/>
              </a:ext>
            </a:extLst>
          </p:cNvPr>
          <p:cNvSpPr/>
          <p:nvPr/>
        </p:nvSpPr>
        <p:spPr>
          <a:xfrm>
            <a:off x="2247338" y="4166108"/>
            <a:ext cx="3584453" cy="1361440"/>
          </a:xfrm>
          <a:prstGeom prst="rect">
            <a:avLst/>
          </a:prstGeom>
          <a:solidFill>
            <a:srgbClr val="F2F7FB"/>
          </a:solidFill>
          <a:ln w="12700">
            <a:solidFill>
              <a:srgbClr val="DCE7F0"/>
            </a:solidFill>
            <a:prstDash val="solid"/>
          </a:ln>
        </p:spPr>
        <p:txBody>
          <a:bodyPr/>
          <a:lstStyle/>
          <a:p>
            <a:endParaRPr lang="it-IT"/>
          </a:p>
        </p:txBody>
      </p:sp>
      <p:sp>
        <p:nvSpPr>
          <p:cNvPr id="22" name="Text 11">
            <a:extLst>
              <a:ext uri="{FF2B5EF4-FFF2-40B4-BE49-F238E27FC236}">
                <a16:creationId xmlns:a16="http://schemas.microsoft.com/office/drawing/2014/main" id="{22A323BD-D3C8-27A4-AE3F-FBAC4B860D1C}"/>
              </a:ext>
            </a:extLst>
          </p:cNvPr>
          <p:cNvSpPr/>
          <p:nvPr/>
        </p:nvSpPr>
        <p:spPr>
          <a:xfrm>
            <a:off x="2247338" y="4239260"/>
            <a:ext cx="3584453" cy="365760"/>
          </a:xfrm>
          <a:prstGeom prst="rect">
            <a:avLst/>
          </a:prstGeom>
          <a:noFill/>
          <a:ln/>
        </p:spPr>
        <p:txBody>
          <a:bodyPr wrap="square" rtlCol="0" anchor="ctr"/>
          <a:lstStyle/>
          <a:p>
            <a:pPr algn="ctr"/>
            <a:r>
              <a:rPr lang="en-US" sz="1600" b="1">
                <a:solidFill>
                  <a:srgbClr val="03234B"/>
                </a:solidFill>
                <a:latin typeface="Calibri" pitchFamily="34" charset="0"/>
                <a:ea typeface="Calibri" pitchFamily="34" charset="-122"/>
                <a:cs typeface="Calibri" pitchFamily="34" charset="-120"/>
              </a:rPr>
              <a:t>Denominator — Divisor Pow2</a:t>
            </a:r>
            <a:endParaRPr lang="en-US" sz="1600" dirty="0"/>
          </a:p>
        </p:txBody>
      </p:sp>
      <p:sp>
        <p:nvSpPr>
          <p:cNvPr id="24" name="Text 12">
            <a:extLst>
              <a:ext uri="{FF2B5EF4-FFF2-40B4-BE49-F238E27FC236}">
                <a16:creationId xmlns:a16="http://schemas.microsoft.com/office/drawing/2014/main" id="{BEDD9423-1B43-7E8F-8231-585FBCE5F332}"/>
              </a:ext>
            </a:extLst>
          </p:cNvPr>
          <p:cNvSpPr/>
          <p:nvPr/>
        </p:nvSpPr>
        <p:spPr>
          <a:xfrm>
            <a:off x="2274772" y="4965700"/>
            <a:ext cx="3578348" cy="365760"/>
          </a:xfrm>
          <a:prstGeom prst="rect">
            <a:avLst/>
          </a:prstGeom>
          <a:noFill/>
          <a:ln/>
        </p:spPr>
        <p:txBody>
          <a:bodyPr wrap="square" rtlCol="0" anchor="ctr"/>
          <a:lstStyle/>
          <a:p>
            <a:pPr marL="0" indent="0" algn="ctr">
              <a:buNone/>
            </a:pPr>
            <a:r>
              <a:rPr lang="en-US" sz="1600" b="1" dirty="0">
                <a:solidFill>
                  <a:srgbClr val="0E7DAD"/>
                </a:solidFill>
                <a:latin typeface="Courier New" pitchFamily="34" charset="0"/>
                <a:ea typeface="Courier New" pitchFamily="34" charset="-122"/>
                <a:cs typeface="Courier New" pitchFamily="34" charset="-120"/>
              </a:rPr>
              <a:t>(wValue &gt;&gt; 16) &amp; 0xFFFF</a:t>
            </a:r>
            <a:endParaRPr lang="en-US" sz="1600" dirty="0"/>
          </a:p>
        </p:txBody>
      </p:sp>
      <p:sp>
        <p:nvSpPr>
          <p:cNvPr id="26" name="Text 13">
            <a:extLst>
              <a:ext uri="{FF2B5EF4-FFF2-40B4-BE49-F238E27FC236}">
                <a16:creationId xmlns:a16="http://schemas.microsoft.com/office/drawing/2014/main" id="{D75D2023-2D6A-D6DC-6305-72EF801A3C8E}"/>
              </a:ext>
            </a:extLst>
          </p:cNvPr>
          <p:cNvSpPr/>
          <p:nvPr/>
        </p:nvSpPr>
        <p:spPr>
          <a:xfrm>
            <a:off x="2274772" y="4565904"/>
            <a:ext cx="3578347" cy="365760"/>
          </a:xfrm>
          <a:prstGeom prst="rect">
            <a:avLst/>
          </a:prstGeom>
          <a:noFill/>
          <a:ln/>
        </p:spPr>
        <p:txBody>
          <a:bodyPr wrap="square" rtlCol="0" anchor="ctr"/>
          <a:lstStyle/>
          <a:p>
            <a:pPr marL="0" indent="0" algn="ctr">
              <a:buNone/>
            </a:pPr>
            <a:r>
              <a:rPr lang="en-US" sz="1600" i="1" dirty="0">
                <a:solidFill>
                  <a:srgbClr val="51606E"/>
                </a:solidFill>
                <a:latin typeface="Calibri" pitchFamily="34" charset="0"/>
                <a:ea typeface="Calibri" pitchFamily="34" charset="-122"/>
                <a:cs typeface="Calibri" pitchFamily="34" charset="-120"/>
              </a:rPr>
              <a:t>→ PID_SetKPDivisorPOW2()</a:t>
            </a:r>
            <a:endParaRPr lang="en-US" sz="1600" dirty="0"/>
          </a:p>
        </p:txBody>
      </p:sp>
      <p:sp>
        <p:nvSpPr>
          <p:cNvPr id="28" name="Shape 14">
            <a:extLst>
              <a:ext uri="{FF2B5EF4-FFF2-40B4-BE49-F238E27FC236}">
                <a16:creationId xmlns:a16="http://schemas.microsoft.com/office/drawing/2014/main" id="{5A97BD7F-C345-BF24-E811-4045A3E06BA3}"/>
              </a:ext>
            </a:extLst>
          </p:cNvPr>
          <p:cNvSpPr/>
          <p:nvPr/>
        </p:nvSpPr>
        <p:spPr>
          <a:xfrm>
            <a:off x="6005519" y="4166108"/>
            <a:ext cx="3584452" cy="1368552"/>
          </a:xfrm>
          <a:prstGeom prst="rect">
            <a:avLst/>
          </a:prstGeom>
          <a:solidFill>
            <a:srgbClr val="F2F7FB"/>
          </a:solidFill>
          <a:ln w="12700">
            <a:solidFill>
              <a:srgbClr val="DCE7F0"/>
            </a:solidFill>
            <a:prstDash val="solid"/>
          </a:ln>
        </p:spPr>
        <p:txBody>
          <a:bodyPr/>
          <a:lstStyle/>
          <a:p>
            <a:pPr algn="ctr"/>
            <a:endParaRPr lang="it-IT" sz="1600"/>
          </a:p>
        </p:txBody>
      </p:sp>
      <p:sp>
        <p:nvSpPr>
          <p:cNvPr id="30" name="Text 15">
            <a:extLst>
              <a:ext uri="{FF2B5EF4-FFF2-40B4-BE49-F238E27FC236}">
                <a16:creationId xmlns:a16="http://schemas.microsoft.com/office/drawing/2014/main" id="{2E82F945-3BB6-57A0-2DBD-589E03508551}"/>
              </a:ext>
            </a:extLst>
          </p:cNvPr>
          <p:cNvSpPr/>
          <p:nvPr/>
        </p:nvSpPr>
        <p:spPr>
          <a:xfrm>
            <a:off x="6026847" y="4239260"/>
            <a:ext cx="3563123" cy="365760"/>
          </a:xfrm>
          <a:prstGeom prst="rect">
            <a:avLst/>
          </a:prstGeom>
          <a:noFill/>
          <a:ln/>
        </p:spPr>
        <p:txBody>
          <a:bodyPr wrap="square" rtlCol="0" anchor="ctr"/>
          <a:lstStyle/>
          <a:p>
            <a:pPr algn="ctr"/>
            <a:r>
              <a:rPr lang="en-US" sz="1600" b="1">
                <a:solidFill>
                  <a:srgbClr val="03234B"/>
                </a:solidFill>
                <a:latin typeface="Calibri" pitchFamily="34" charset="0"/>
                <a:ea typeface="Calibri" pitchFamily="34" charset="-122"/>
                <a:cs typeface="Calibri" pitchFamily="34" charset="-120"/>
              </a:rPr>
              <a:t>Numerator — Gain Kp</a:t>
            </a:r>
            <a:endParaRPr lang="en-US" sz="1600" dirty="0"/>
          </a:p>
        </p:txBody>
      </p:sp>
      <p:sp>
        <p:nvSpPr>
          <p:cNvPr id="32" name="Text 16">
            <a:extLst>
              <a:ext uri="{FF2B5EF4-FFF2-40B4-BE49-F238E27FC236}">
                <a16:creationId xmlns:a16="http://schemas.microsoft.com/office/drawing/2014/main" id="{C11A0CA8-C62A-C431-C749-59EA88AE4789}"/>
              </a:ext>
            </a:extLst>
          </p:cNvPr>
          <p:cNvSpPr/>
          <p:nvPr/>
        </p:nvSpPr>
        <p:spPr>
          <a:xfrm>
            <a:off x="6026847" y="4950460"/>
            <a:ext cx="3563121" cy="365760"/>
          </a:xfrm>
          <a:prstGeom prst="rect">
            <a:avLst/>
          </a:prstGeom>
          <a:noFill/>
          <a:ln/>
        </p:spPr>
        <p:txBody>
          <a:bodyPr wrap="square" rtlCol="0" anchor="ctr"/>
          <a:lstStyle/>
          <a:p>
            <a:pPr marL="0" indent="0" algn="ctr">
              <a:buNone/>
            </a:pPr>
            <a:r>
              <a:rPr lang="en-US" sz="1600" b="1" dirty="0">
                <a:solidFill>
                  <a:srgbClr val="0E7DAD"/>
                </a:solidFill>
                <a:latin typeface="Courier New" pitchFamily="34" charset="0"/>
                <a:ea typeface="Courier New" pitchFamily="34" charset="-122"/>
                <a:cs typeface="Courier New" pitchFamily="34" charset="-120"/>
              </a:rPr>
              <a:t>wValue &amp; 0xFFFF</a:t>
            </a:r>
            <a:endParaRPr lang="en-US" sz="1600" dirty="0"/>
          </a:p>
        </p:txBody>
      </p:sp>
      <p:sp>
        <p:nvSpPr>
          <p:cNvPr id="34" name="Text 17">
            <a:extLst>
              <a:ext uri="{FF2B5EF4-FFF2-40B4-BE49-F238E27FC236}">
                <a16:creationId xmlns:a16="http://schemas.microsoft.com/office/drawing/2014/main" id="{193AE4DF-CBAB-18EA-2B26-8B467AB76021}"/>
              </a:ext>
            </a:extLst>
          </p:cNvPr>
          <p:cNvSpPr/>
          <p:nvPr/>
        </p:nvSpPr>
        <p:spPr>
          <a:xfrm>
            <a:off x="6026846" y="4584700"/>
            <a:ext cx="3563123" cy="365760"/>
          </a:xfrm>
          <a:prstGeom prst="rect">
            <a:avLst/>
          </a:prstGeom>
          <a:noFill/>
          <a:ln/>
        </p:spPr>
        <p:txBody>
          <a:bodyPr wrap="square" rtlCol="0" anchor="ctr"/>
          <a:lstStyle/>
          <a:p>
            <a:pPr marL="0" indent="0" algn="ctr">
              <a:buNone/>
            </a:pPr>
            <a:r>
              <a:rPr lang="en-US" sz="1600" i="1" dirty="0">
                <a:solidFill>
                  <a:srgbClr val="51606E"/>
                </a:solidFill>
                <a:latin typeface="Calibri" pitchFamily="34" charset="0"/>
                <a:ea typeface="Calibri" pitchFamily="34" charset="-122"/>
                <a:cs typeface="Calibri" pitchFamily="34" charset="-120"/>
              </a:rPr>
              <a:t>→ PID_SetKP()</a:t>
            </a:r>
            <a:endParaRPr lang="en-US" sz="1600" dirty="0"/>
          </a:p>
        </p:txBody>
      </p:sp>
      <p:sp>
        <p:nvSpPr>
          <p:cNvPr id="36" name="Shape 4">
            <a:extLst>
              <a:ext uri="{FF2B5EF4-FFF2-40B4-BE49-F238E27FC236}">
                <a16:creationId xmlns:a16="http://schemas.microsoft.com/office/drawing/2014/main" id="{CBEEAC6E-D3A1-3833-AFC7-76357F7F89C1}"/>
              </a:ext>
            </a:extLst>
          </p:cNvPr>
          <p:cNvSpPr/>
          <p:nvPr/>
        </p:nvSpPr>
        <p:spPr>
          <a:xfrm>
            <a:off x="2247338" y="2931668"/>
            <a:ext cx="3538734" cy="731520"/>
          </a:xfrm>
          <a:prstGeom prst="rect">
            <a:avLst/>
          </a:prstGeom>
          <a:solidFill>
            <a:srgbClr val="0B3868"/>
          </a:solidFill>
          <a:ln w="12700">
            <a:solidFill>
              <a:srgbClr val="FFFFFF"/>
            </a:solidFill>
            <a:prstDash val="solid"/>
          </a:ln>
        </p:spPr>
        <p:txBody>
          <a:bodyPr/>
          <a:lstStyle/>
          <a:p>
            <a:endParaRPr lang="it-IT" dirty="0"/>
          </a:p>
        </p:txBody>
      </p:sp>
      <p:sp>
        <p:nvSpPr>
          <p:cNvPr id="38" name="Text 6">
            <a:extLst>
              <a:ext uri="{FF2B5EF4-FFF2-40B4-BE49-F238E27FC236}">
                <a16:creationId xmlns:a16="http://schemas.microsoft.com/office/drawing/2014/main" id="{D9BB3DEA-AAB5-65D3-869D-111876F060D3}"/>
              </a:ext>
            </a:extLst>
          </p:cNvPr>
          <p:cNvSpPr/>
          <p:nvPr/>
        </p:nvSpPr>
        <p:spPr>
          <a:xfrm>
            <a:off x="2247338" y="2931668"/>
            <a:ext cx="3657600" cy="731520"/>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Most Significant 16 bits</a:t>
            </a:r>
            <a:endParaRPr lang="en-US" sz="1600" dirty="0"/>
          </a:p>
        </p:txBody>
      </p:sp>
      <p:sp>
        <p:nvSpPr>
          <p:cNvPr id="40" name="Shape 5">
            <a:extLst>
              <a:ext uri="{FF2B5EF4-FFF2-40B4-BE49-F238E27FC236}">
                <a16:creationId xmlns:a16="http://schemas.microsoft.com/office/drawing/2014/main" id="{128E91CB-A2EA-33C6-AAD0-FFE409687EB7}"/>
              </a:ext>
            </a:extLst>
          </p:cNvPr>
          <p:cNvSpPr/>
          <p:nvPr/>
        </p:nvSpPr>
        <p:spPr>
          <a:xfrm>
            <a:off x="6005518" y="2931668"/>
            <a:ext cx="3611885" cy="731520"/>
          </a:xfrm>
          <a:prstGeom prst="rect">
            <a:avLst/>
          </a:prstGeom>
          <a:solidFill>
            <a:srgbClr val="03234B"/>
          </a:solidFill>
          <a:ln w="12700">
            <a:solidFill>
              <a:srgbClr val="FFFFFF"/>
            </a:solidFill>
            <a:prstDash val="solid"/>
          </a:ln>
        </p:spPr>
        <p:txBody>
          <a:bodyPr/>
          <a:lstStyle/>
          <a:p>
            <a:endParaRPr lang="it-IT" dirty="0"/>
          </a:p>
        </p:txBody>
      </p:sp>
      <p:sp>
        <p:nvSpPr>
          <p:cNvPr id="42" name="Text 7">
            <a:extLst>
              <a:ext uri="{FF2B5EF4-FFF2-40B4-BE49-F238E27FC236}">
                <a16:creationId xmlns:a16="http://schemas.microsoft.com/office/drawing/2014/main" id="{47B57C04-D4F5-ACE1-4696-0A1CCC5BAF4A}"/>
              </a:ext>
            </a:extLst>
          </p:cNvPr>
          <p:cNvSpPr/>
          <p:nvPr/>
        </p:nvSpPr>
        <p:spPr>
          <a:xfrm>
            <a:off x="5959804" y="2931668"/>
            <a:ext cx="3657600" cy="7315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Least Significant 16 bits</a:t>
            </a:r>
            <a:endParaRPr lang="en-US" sz="1600" dirty="0"/>
          </a:p>
        </p:txBody>
      </p:sp>
      <p:sp>
        <p:nvSpPr>
          <p:cNvPr id="11" name="Text 0">
            <a:extLst>
              <a:ext uri="{FF2B5EF4-FFF2-40B4-BE49-F238E27FC236}">
                <a16:creationId xmlns:a16="http://schemas.microsoft.com/office/drawing/2014/main" id="{F9001CED-747E-B73B-B250-60948E3BB615}"/>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3706021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82E80-DB2F-5B05-AC27-C14635DD3E58}"/>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D8F8E3CD-76DE-1942-CD01-869B0193A397}"/>
              </a:ext>
            </a:extLst>
          </p:cNvPr>
          <p:cNvSpPr>
            <a:spLocks noGrp="1"/>
          </p:cNvSpPr>
          <p:nvPr>
            <p:ph type="title"/>
          </p:nvPr>
        </p:nvSpPr>
        <p:spPr/>
        <p:txBody>
          <a:bodyPr/>
          <a:lstStyle/>
          <a:p>
            <a:r>
              <a:rPr lang="en-US" sz="3200" b="1" dirty="0">
                <a:solidFill>
                  <a:srgbClr val="0B2545"/>
                </a:solidFill>
                <a:latin typeface="Cambria" pitchFamily="34" charset="0"/>
                <a:ea typeface="Cambria" pitchFamily="34" charset="-122"/>
                <a:cs typeface="Cambria" pitchFamily="34" charset="-120"/>
              </a:rPr>
              <a:t>Reading and Writing registers — </a:t>
            </a:r>
            <a:r>
              <a:rPr lang="en-US" sz="3200" b="1" dirty="0" err="1">
                <a:solidFill>
                  <a:srgbClr val="0B2545"/>
                </a:solidFill>
                <a:latin typeface="Cambria" pitchFamily="34" charset="0"/>
                <a:ea typeface="Cambria" pitchFamily="34" charset="-122"/>
                <a:cs typeface="Cambria" pitchFamily="34" charset="-120"/>
              </a:rPr>
              <a:t>UI_SetReg</a:t>
            </a:r>
            <a:r>
              <a:rPr lang="en-US" sz="3200" b="1" dirty="0">
                <a:solidFill>
                  <a:srgbClr val="0B2545"/>
                </a:solidFill>
                <a:latin typeface="Cambria" pitchFamily="34" charset="0"/>
                <a:ea typeface="Cambria" pitchFamily="34" charset="-122"/>
                <a:cs typeface="Cambria" pitchFamily="34" charset="-120"/>
              </a:rPr>
              <a:t> / </a:t>
            </a:r>
            <a:r>
              <a:rPr lang="en-US" sz="3200" b="1" dirty="0" err="1">
                <a:solidFill>
                  <a:srgbClr val="0B2545"/>
                </a:solidFill>
                <a:latin typeface="Cambria" pitchFamily="34" charset="0"/>
                <a:ea typeface="Cambria" pitchFamily="34" charset="-122"/>
                <a:cs typeface="Cambria" pitchFamily="34" charset="-120"/>
              </a:rPr>
              <a:t>UI_GetReg</a:t>
            </a:r>
            <a:endParaRPr lang="it-IT" sz="3200" dirty="0"/>
          </a:p>
        </p:txBody>
      </p:sp>
      <p:sp>
        <p:nvSpPr>
          <p:cNvPr id="6" name="Text 2">
            <a:extLst>
              <a:ext uri="{FF2B5EF4-FFF2-40B4-BE49-F238E27FC236}">
                <a16:creationId xmlns:a16="http://schemas.microsoft.com/office/drawing/2014/main" id="{18A7DD56-971B-4845-A6D3-D1502B75E528}"/>
              </a:ext>
            </a:extLst>
          </p:cNvPr>
          <p:cNvSpPr/>
          <p:nvPr/>
        </p:nvSpPr>
        <p:spPr>
          <a:xfrm>
            <a:off x="548640" y="1115568"/>
            <a:ext cx="11064240" cy="320040"/>
          </a:xfrm>
          <a:prstGeom prst="rect">
            <a:avLst/>
          </a:prstGeom>
          <a:noFill/>
          <a:ln/>
        </p:spPr>
        <p:txBody>
          <a:bodyPr wrap="square" lIns="0" tIns="0" rIns="0" bIns="0" rtlCol="0" anchor="ctr"/>
          <a:lstStyle/>
          <a:p>
            <a:r>
              <a:rPr lang="en-US" sz="2000">
                <a:solidFill>
                  <a:srgbClr val="5B6B7F"/>
                </a:solidFill>
                <a:latin typeface="Calibri" pitchFamily="34" charset="0"/>
                <a:ea typeface="Calibri" pitchFamily="34" charset="-122"/>
                <a:cs typeface="Calibri" pitchFamily="34" charset="-120"/>
              </a:rPr>
              <a:t>Example of SPEED_KP register management: writing the gain and its divisor.</a:t>
            </a:r>
            <a:endParaRPr lang="en-US" sz="2000" dirty="0"/>
          </a:p>
        </p:txBody>
      </p:sp>
      <p:sp>
        <p:nvSpPr>
          <p:cNvPr id="8" name="Shape 3">
            <a:extLst>
              <a:ext uri="{FF2B5EF4-FFF2-40B4-BE49-F238E27FC236}">
                <a16:creationId xmlns:a16="http://schemas.microsoft.com/office/drawing/2014/main" id="{301BB5CA-130B-52F3-67A1-FFAD9E6CA219}"/>
              </a:ext>
            </a:extLst>
          </p:cNvPr>
          <p:cNvSpPr/>
          <p:nvPr/>
        </p:nvSpPr>
        <p:spPr>
          <a:xfrm>
            <a:off x="548640" y="1600200"/>
            <a:ext cx="5532120" cy="4592053"/>
          </a:xfrm>
          <a:prstGeom prst="roundRect">
            <a:avLst>
              <a:gd name="adj" fmla="val 1942"/>
            </a:avLst>
          </a:prstGeom>
          <a:solidFill>
            <a:srgbClr val="071A33"/>
          </a:solidFill>
          <a:ln/>
          <a:effectLst>
            <a:outerShdw blurRad="101600" dist="25400" dir="5400000" algn="bl" rotWithShape="0">
              <a:srgbClr val="000000">
                <a:alpha val="22000"/>
              </a:srgbClr>
            </a:outerShdw>
          </a:effectLst>
        </p:spPr>
        <p:txBody>
          <a:bodyPr/>
          <a:lstStyle/>
          <a:p>
            <a:endParaRPr lang="it-IT" sz="1300"/>
          </a:p>
        </p:txBody>
      </p:sp>
      <p:sp>
        <p:nvSpPr>
          <p:cNvPr id="10" name="Text 4">
            <a:extLst>
              <a:ext uri="{FF2B5EF4-FFF2-40B4-BE49-F238E27FC236}">
                <a16:creationId xmlns:a16="http://schemas.microsoft.com/office/drawing/2014/main" id="{A50E206E-5969-B7F0-D0AB-7419B8446764}"/>
              </a:ext>
            </a:extLst>
          </p:cNvPr>
          <p:cNvSpPr/>
          <p:nvPr/>
        </p:nvSpPr>
        <p:spPr>
          <a:xfrm>
            <a:off x="777240" y="1709928"/>
            <a:ext cx="5074920" cy="274320"/>
          </a:xfrm>
          <a:prstGeom prst="rect">
            <a:avLst/>
          </a:prstGeom>
          <a:noFill/>
          <a:ln/>
        </p:spPr>
        <p:txBody>
          <a:bodyPr wrap="square" lIns="0" tIns="0" rIns="0" bIns="0" rtlCol="0" anchor="ctr"/>
          <a:lstStyle/>
          <a:p>
            <a:pPr marL="0" indent="0">
              <a:buNone/>
            </a:pPr>
            <a:r>
              <a:rPr lang="en-US" sz="1300" dirty="0">
                <a:solidFill>
                  <a:srgbClr val="6E86A6"/>
                </a:solidFill>
                <a:latin typeface="Consolas" pitchFamily="34" charset="0"/>
                <a:ea typeface="Consolas" pitchFamily="34" charset="-122"/>
                <a:cs typeface="Consolas" pitchFamily="34" charset="-120"/>
              </a:rPr>
              <a:t>UI_SetReg</a:t>
            </a:r>
            <a:endParaRPr lang="en-US" sz="1300" dirty="0"/>
          </a:p>
        </p:txBody>
      </p:sp>
      <p:sp>
        <p:nvSpPr>
          <p:cNvPr id="12" name="Text 5">
            <a:extLst>
              <a:ext uri="{FF2B5EF4-FFF2-40B4-BE49-F238E27FC236}">
                <a16:creationId xmlns:a16="http://schemas.microsoft.com/office/drawing/2014/main" id="{9F6D71C9-4A9D-D999-98C5-FD505DC6EB7A}"/>
              </a:ext>
            </a:extLst>
          </p:cNvPr>
          <p:cNvSpPr/>
          <p:nvPr/>
        </p:nvSpPr>
        <p:spPr>
          <a:xfrm>
            <a:off x="804672" y="2130552"/>
            <a:ext cx="5020056" cy="187452"/>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__weak bool UI_SetReg(UI_Handle_t *pHandle,</a:t>
            </a:r>
            <a:endParaRPr lang="en-US" sz="1300" dirty="0"/>
          </a:p>
        </p:txBody>
      </p:sp>
      <p:sp>
        <p:nvSpPr>
          <p:cNvPr id="14" name="Text 6">
            <a:extLst>
              <a:ext uri="{FF2B5EF4-FFF2-40B4-BE49-F238E27FC236}">
                <a16:creationId xmlns:a16="http://schemas.microsoft.com/office/drawing/2014/main" id="{2CB533CF-C556-84C0-D7D4-E91455C0F3F3}"/>
              </a:ext>
            </a:extLst>
          </p:cNvPr>
          <p:cNvSpPr/>
          <p:nvPr/>
        </p:nvSpPr>
        <p:spPr>
          <a:xfrm>
            <a:off x="804672" y="2318004"/>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MC_Protocol_REG_t bRegID, int32_t wValue) {</a:t>
            </a:r>
            <a:endParaRPr lang="en-US" sz="1300" dirty="0"/>
          </a:p>
        </p:txBody>
      </p:sp>
      <p:sp>
        <p:nvSpPr>
          <p:cNvPr id="16" name="Text 7">
            <a:extLst>
              <a:ext uri="{FF2B5EF4-FFF2-40B4-BE49-F238E27FC236}">
                <a16:creationId xmlns:a16="http://schemas.microsoft.com/office/drawing/2014/main" id="{2A47C40D-978F-5135-BC69-F86A36BE3CF6}"/>
              </a:ext>
            </a:extLst>
          </p:cNvPr>
          <p:cNvSpPr/>
          <p:nvPr/>
        </p:nvSpPr>
        <p:spPr>
          <a:xfrm>
            <a:off x="804672" y="2505456"/>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MCI_Handle_t *pMCI =</a:t>
            </a:r>
            <a:endParaRPr lang="en-US" sz="1300" dirty="0"/>
          </a:p>
        </p:txBody>
      </p:sp>
      <p:sp>
        <p:nvSpPr>
          <p:cNvPr id="18" name="Text 8">
            <a:extLst>
              <a:ext uri="{FF2B5EF4-FFF2-40B4-BE49-F238E27FC236}">
                <a16:creationId xmlns:a16="http://schemas.microsoft.com/office/drawing/2014/main" id="{9B2C9E6F-4932-71B4-1627-3A3A3D900BC7}"/>
              </a:ext>
            </a:extLst>
          </p:cNvPr>
          <p:cNvSpPr/>
          <p:nvPr/>
        </p:nvSpPr>
        <p:spPr>
          <a:xfrm>
            <a:off x="804672" y="2692908"/>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pHandle-&gt;pMCI[pHandle-&gt;bSelectedDrive];</a:t>
            </a:r>
            <a:endParaRPr lang="en-US" sz="1300" dirty="0"/>
          </a:p>
        </p:txBody>
      </p:sp>
      <p:sp>
        <p:nvSpPr>
          <p:cNvPr id="20" name="Text 9">
            <a:extLst>
              <a:ext uri="{FF2B5EF4-FFF2-40B4-BE49-F238E27FC236}">
                <a16:creationId xmlns:a16="http://schemas.microsoft.com/office/drawing/2014/main" id="{19D560F6-AB2F-9164-A6F6-CC635A5A6128}"/>
              </a:ext>
            </a:extLst>
          </p:cNvPr>
          <p:cNvSpPr/>
          <p:nvPr/>
        </p:nvSpPr>
        <p:spPr>
          <a:xfrm>
            <a:off x="804672" y="2880360"/>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MCT_Handle_t *pMCT =</a:t>
            </a:r>
            <a:endParaRPr lang="en-US" sz="1300" dirty="0"/>
          </a:p>
        </p:txBody>
      </p:sp>
      <p:sp>
        <p:nvSpPr>
          <p:cNvPr id="22" name="Text 10">
            <a:extLst>
              <a:ext uri="{FF2B5EF4-FFF2-40B4-BE49-F238E27FC236}">
                <a16:creationId xmlns:a16="http://schemas.microsoft.com/office/drawing/2014/main" id="{C61C173A-0F0F-21D3-50BE-367F3FFDC6DF}"/>
              </a:ext>
            </a:extLst>
          </p:cNvPr>
          <p:cNvSpPr/>
          <p:nvPr/>
        </p:nvSpPr>
        <p:spPr>
          <a:xfrm>
            <a:off x="804672" y="3067812"/>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pHandle-&gt;pMCT[pHandle-&gt;bSelectedDrive];</a:t>
            </a:r>
            <a:endParaRPr lang="en-US" sz="1300" dirty="0"/>
          </a:p>
        </p:txBody>
      </p:sp>
      <p:sp>
        <p:nvSpPr>
          <p:cNvPr id="24" name="Text 11">
            <a:extLst>
              <a:ext uri="{FF2B5EF4-FFF2-40B4-BE49-F238E27FC236}">
                <a16:creationId xmlns:a16="http://schemas.microsoft.com/office/drawing/2014/main" id="{74CD9A57-C5E3-385B-5727-081D740DBB92}"/>
              </a:ext>
            </a:extLst>
          </p:cNvPr>
          <p:cNvSpPr/>
          <p:nvPr/>
        </p:nvSpPr>
        <p:spPr>
          <a:xfrm>
            <a:off x="804672" y="3255264"/>
            <a:ext cx="5020056" cy="187452"/>
          </a:xfrm>
          <a:prstGeom prst="rect">
            <a:avLst/>
          </a:prstGeom>
          <a:noFill/>
          <a:ln/>
        </p:spPr>
        <p:txBody>
          <a:bodyPr wrap="square" lIns="0" tIns="0" rIns="0" bIns="0" rtlCol="0" anchor="ctr"/>
          <a:lstStyle/>
          <a:p>
            <a:pPr marL="0" indent="0">
              <a:buNone/>
            </a:pPr>
            <a:endParaRPr lang="en-US" sz="1300" dirty="0"/>
          </a:p>
        </p:txBody>
      </p:sp>
      <p:sp>
        <p:nvSpPr>
          <p:cNvPr id="26" name="Text 12">
            <a:extLst>
              <a:ext uri="{FF2B5EF4-FFF2-40B4-BE49-F238E27FC236}">
                <a16:creationId xmlns:a16="http://schemas.microsoft.com/office/drawing/2014/main" id="{95490483-C9C2-0F4F-EC51-DCFC60AD68B5}"/>
              </a:ext>
            </a:extLst>
          </p:cNvPr>
          <p:cNvSpPr/>
          <p:nvPr/>
        </p:nvSpPr>
        <p:spPr>
          <a:xfrm>
            <a:off x="804672" y="3442716"/>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bool retVal = true;</a:t>
            </a:r>
            <a:endParaRPr lang="en-US" sz="1300" dirty="0"/>
          </a:p>
        </p:txBody>
      </p:sp>
      <p:sp>
        <p:nvSpPr>
          <p:cNvPr id="28" name="Text 13">
            <a:extLst>
              <a:ext uri="{FF2B5EF4-FFF2-40B4-BE49-F238E27FC236}">
                <a16:creationId xmlns:a16="http://schemas.microsoft.com/office/drawing/2014/main" id="{0307B9D0-7FC5-2A76-E662-223CD1272B15}"/>
              </a:ext>
            </a:extLst>
          </p:cNvPr>
          <p:cNvSpPr/>
          <p:nvPr/>
        </p:nvSpPr>
        <p:spPr>
          <a:xfrm>
            <a:off x="804672" y="3630168"/>
            <a:ext cx="5020056" cy="187452"/>
          </a:xfrm>
          <a:prstGeom prst="rect">
            <a:avLst/>
          </a:prstGeom>
          <a:noFill/>
          <a:ln/>
        </p:spPr>
        <p:txBody>
          <a:bodyPr wrap="square" lIns="0" tIns="0" rIns="0" bIns="0" rtlCol="0" anchor="ctr"/>
          <a:lstStyle/>
          <a:p>
            <a:pPr marL="0" indent="0">
              <a:buNone/>
            </a:pPr>
            <a:endParaRPr lang="en-US" sz="1300" dirty="0"/>
          </a:p>
        </p:txBody>
      </p:sp>
      <p:sp>
        <p:nvSpPr>
          <p:cNvPr id="30" name="Text 14">
            <a:extLst>
              <a:ext uri="{FF2B5EF4-FFF2-40B4-BE49-F238E27FC236}">
                <a16:creationId xmlns:a16="http://schemas.microsoft.com/office/drawing/2014/main" id="{7E275D92-7715-6382-A298-BCD6C2D76F30}"/>
              </a:ext>
            </a:extLst>
          </p:cNvPr>
          <p:cNvSpPr/>
          <p:nvPr/>
        </p:nvSpPr>
        <p:spPr>
          <a:xfrm>
            <a:off x="804672" y="3817620"/>
            <a:ext cx="5020056" cy="187452"/>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  case MC_PROTOCOL_REG_SPEED_KP: {</a:t>
            </a:r>
            <a:endParaRPr lang="en-US" sz="1300" dirty="0"/>
          </a:p>
        </p:txBody>
      </p:sp>
      <p:sp>
        <p:nvSpPr>
          <p:cNvPr id="32" name="Text 15">
            <a:extLst>
              <a:ext uri="{FF2B5EF4-FFF2-40B4-BE49-F238E27FC236}">
                <a16:creationId xmlns:a16="http://schemas.microsoft.com/office/drawing/2014/main" id="{E1171EC1-2C92-3232-243A-76CFFF61168D}"/>
              </a:ext>
            </a:extLst>
          </p:cNvPr>
          <p:cNvSpPr/>
          <p:nvPr/>
        </p:nvSpPr>
        <p:spPr>
          <a:xfrm>
            <a:off x="804672" y="4005072"/>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uint16_t kp_gain =</a:t>
            </a:r>
            <a:endParaRPr lang="en-US" sz="1300" dirty="0"/>
          </a:p>
        </p:txBody>
      </p:sp>
      <p:sp>
        <p:nvSpPr>
          <p:cNvPr id="34" name="Text 16">
            <a:extLst>
              <a:ext uri="{FF2B5EF4-FFF2-40B4-BE49-F238E27FC236}">
                <a16:creationId xmlns:a16="http://schemas.microsoft.com/office/drawing/2014/main" id="{FCF4BE43-62D8-8FC8-D551-4D3FE84CA60C}"/>
              </a:ext>
            </a:extLst>
          </p:cNvPr>
          <p:cNvSpPr/>
          <p:nvPr/>
        </p:nvSpPr>
        <p:spPr>
          <a:xfrm>
            <a:off x="804672" y="4192524"/>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(uint16_t)(wValue &amp; 0xFFFF);</a:t>
            </a:r>
            <a:endParaRPr lang="en-US" sz="1300" dirty="0"/>
          </a:p>
        </p:txBody>
      </p:sp>
      <p:sp>
        <p:nvSpPr>
          <p:cNvPr id="36" name="Text 17">
            <a:extLst>
              <a:ext uri="{FF2B5EF4-FFF2-40B4-BE49-F238E27FC236}">
                <a16:creationId xmlns:a16="http://schemas.microsoft.com/office/drawing/2014/main" id="{D7004D54-19C9-5BB8-22AA-C15E7A59B50E}"/>
              </a:ext>
            </a:extLst>
          </p:cNvPr>
          <p:cNvSpPr/>
          <p:nvPr/>
        </p:nvSpPr>
        <p:spPr>
          <a:xfrm>
            <a:off x="804672" y="4379976"/>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uint16_t kp_div_pow2 = (uint16_t)</a:t>
            </a:r>
            <a:endParaRPr lang="en-US" sz="1300" dirty="0"/>
          </a:p>
        </p:txBody>
      </p:sp>
      <p:sp>
        <p:nvSpPr>
          <p:cNvPr id="38" name="Text 18">
            <a:extLst>
              <a:ext uri="{FF2B5EF4-FFF2-40B4-BE49-F238E27FC236}">
                <a16:creationId xmlns:a16="http://schemas.microsoft.com/office/drawing/2014/main" id="{BB4B7E67-6502-F33C-4E8F-0ADD80F70B81}"/>
              </a:ext>
            </a:extLst>
          </p:cNvPr>
          <p:cNvSpPr/>
          <p:nvPr/>
        </p:nvSpPr>
        <p:spPr>
          <a:xfrm>
            <a:off x="804672" y="4567428"/>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(((uint32_t)wValue &gt;&gt; 16) &amp; 0xFFFF);</a:t>
            </a:r>
            <a:endParaRPr lang="en-US" sz="1300" dirty="0"/>
          </a:p>
        </p:txBody>
      </p:sp>
      <p:sp>
        <p:nvSpPr>
          <p:cNvPr id="40" name="Text 19">
            <a:extLst>
              <a:ext uri="{FF2B5EF4-FFF2-40B4-BE49-F238E27FC236}">
                <a16:creationId xmlns:a16="http://schemas.microsoft.com/office/drawing/2014/main" id="{06C34E5E-3362-775C-44D6-4D71C5508461}"/>
              </a:ext>
            </a:extLst>
          </p:cNvPr>
          <p:cNvSpPr/>
          <p:nvPr/>
        </p:nvSpPr>
        <p:spPr>
          <a:xfrm>
            <a:off x="804672" y="4754880"/>
            <a:ext cx="5020056" cy="187452"/>
          </a:xfrm>
          <a:prstGeom prst="rect">
            <a:avLst/>
          </a:prstGeom>
          <a:noFill/>
          <a:ln/>
        </p:spPr>
        <p:txBody>
          <a:bodyPr wrap="square" lIns="0" tIns="0" rIns="0" bIns="0" rtlCol="0" anchor="ctr"/>
          <a:lstStyle/>
          <a:p>
            <a:pPr marL="0" indent="0">
              <a:buNone/>
            </a:pPr>
            <a:endParaRPr lang="en-US" sz="1300" dirty="0"/>
          </a:p>
        </p:txBody>
      </p:sp>
      <p:sp>
        <p:nvSpPr>
          <p:cNvPr id="42" name="Text 20">
            <a:extLst>
              <a:ext uri="{FF2B5EF4-FFF2-40B4-BE49-F238E27FC236}">
                <a16:creationId xmlns:a16="http://schemas.microsoft.com/office/drawing/2014/main" id="{9F1DD7A4-951F-1D86-797E-FB2FF57CEF6D}"/>
              </a:ext>
            </a:extLst>
          </p:cNvPr>
          <p:cNvSpPr/>
          <p:nvPr/>
        </p:nvSpPr>
        <p:spPr>
          <a:xfrm>
            <a:off x="804672" y="4942332"/>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PID_SetKP(pMCT-&gt;pPIDSpeed,</a:t>
            </a:r>
            <a:endParaRPr lang="en-US" sz="1300" dirty="0"/>
          </a:p>
        </p:txBody>
      </p:sp>
      <p:sp>
        <p:nvSpPr>
          <p:cNvPr id="44" name="Text 21">
            <a:extLst>
              <a:ext uri="{FF2B5EF4-FFF2-40B4-BE49-F238E27FC236}">
                <a16:creationId xmlns:a16="http://schemas.microsoft.com/office/drawing/2014/main" id="{F89C4DE7-257D-A732-1611-01CBB673FCA0}"/>
              </a:ext>
            </a:extLst>
          </p:cNvPr>
          <p:cNvSpPr/>
          <p:nvPr/>
        </p:nvSpPr>
        <p:spPr>
          <a:xfrm>
            <a:off x="804672" y="5129784"/>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(int16_t)kp_gain);</a:t>
            </a:r>
            <a:endParaRPr lang="en-US" sz="1300" dirty="0"/>
          </a:p>
        </p:txBody>
      </p:sp>
      <p:sp>
        <p:nvSpPr>
          <p:cNvPr id="46" name="Text 22">
            <a:extLst>
              <a:ext uri="{FF2B5EF4-FFF2-40B4-BE49-F238E27FC236}">
                <a16:creationId xmlns:a16="http://schemas.microsoft.com/office/drawing/2014/main" id="{54B2D6A4-AC03-E2BA-5BEE-FFD28B4A9CA7}"/>
              </a:ext>
            </a:extLst>
          </p:cNvPr>
          <p:cNvSpPr/>
          <p:nvPr/>
        </p:nvSpPr>
        <p:spPr>
          <a:xfrm>
            <a:off x="804672" y="5317236"/>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PID_SetKPDivisorPOW2(pMCT-&gt;pPIDSpeed,</a:t>
            </a:r>
            <a:endParaRPr lang="en-US" sz="1300" dirty="0"/>
          </a:p>
        </p:txBody>
      </p:sp>
      <p:sp>
        <p:nvSpPr>
          <p:cNvPr id="48" name="Text 23">
            <a:extLst>
              <a:ext uri="{FF2B5EF4-FFF2-40B4-BE49-F238E27FC236}">
                <a16:creationId xmlns:a16="http://schemas.microsoft.com/office/drawing/2014/main" id="{9503922F-477D-B248-B79F-F0E848D4A7CF}"/>
              </a:ext>
            </a:extLst>
          </p:cNvPr>
          <p:cNvSpPr/>
          <p:nvPr/>
        </p:nvSpPr>
        <p:spPr>
          <a:xfrm>
            <a:off x="804672" y="5504688"/>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kp_div_pow2);</a:t>
            </a:r>
            <a:endParaRPr lang="en-US" sz="1300" dirty="0"/>
          </a:p>
        </p:txBody>
      </p:sp>
      <p:sp>
        <p:nvSpPr>
          <p:cNvPr id="50" name="Text 24">
            <a:extLst>
              <a:ext uri="{FF2B5EF4-FFF2-40B4-BE49-F238E27FC236}">
                <a16:creationId xmlns:a16="http://schemas.microsoft.com/office/drawing/2014/main" id="{3FB6A60D-5BDA-DCFA-FBC4-8FD6344D7882}"/>
              </a:ext>
            </a:extLst>
          </p:cNvPr>
          <p:cNvSpPr/>
          <p:nvPr/>
        </p:nvSpPr>
        <p:spPr>
          <a:xfrm>
            <a:off x="804672" y="5692140"/>
            <a:ext cx="5020056"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 break;</a:t>
            </a:r>
            <a:endParaRPr lang="en-US" sz="1300" dirty="0"/>
          </a:p>
        </p:txBody>
      </p:sp>
      <p:sp>
        <p:nvSpPr>
          <p:cNvPr id="52" name="Shape 25">
            <a:extLst>
              <a:ext uri="{FF2B5EF4-FFF2-40B4-BE49-F238E27FC236}">
                <a16:creationId xmlns:a16="http://schemas.microsoft.com/office/drawing/2014/main" id="{19642F6D-B198-D017-D67A-4E4D044CAB48}"/>
              </a:ext>
            </a:extLst>
          </p:cNvPr>
          <p:cNvSpPr/>
          <p:nvPr/>
        </p:nvSpPr>
        <p:spPr>
          <a:xfrm>
            <a:off x="6309360" y="1600200"/>
            <a:ext cx="5330952" cy="4592053"/>
          </a:xfrm>
          <a:prstGeom prst="roundRect">
            <a:avLst>
              <a:gd name="adj" fmla="val 1942"/>
            </a:avLst>
          </a:prstGeom>
          <a:solidFill>
            <a:srgbClr val="071A33"/>
          </a:solidFill>
          <a:ln/>
          <a:effectLst>
            <a:outerShdw blurRad="101600" dist="25400" dir="5400000" algn="bl" rotWithShape="0">
              <a:srgbClr val="000000">
                <a:alpha val="22000"/>
              </a:srgbClr>
            </a:outerShdw>
          </a:effectLst>
        </p:spPr>
        <p:txBody>
          <a:bodyPr/>
          <a:lstStyle/>
          <a:p>
            <a:endParaRPr lang="it-IT" sz="1300"/>
          </a:p>
        </p:txBody>
      </p:sp>
      <p:sp>
        <p:nvSpPr>
          <p:cNvPr id="54" name="Text 26">
            <a:extLst>
              <a:ext uri="{FF2B5EF4-FFF2-40B4-BE49-F238E27FC236}">
                <a16:creationId xmlns:a16="http://schemas.microsoft.com/office/drawing/2014/main" id="{0B023C9A-E67D-ABE9-A7FC-42540BDBAA61}"/>
              </a:ext>
            </a:extLst>
          </p:cNvPr>
          <p:cNvSpPr/>
          <p:nvPr/>
        </p:nvSpPr>
        <p:spPr>
          <a:xfrm>
            <a:off x="6537960" y="1709928"/>
            <a:ext cx="4873752" cy="274320"/>
          </a:xfrm>
          <a:prstGeom prst="rect">
            <a:avLst/>
          </a:prstGeom>
          <a:noFill/>
          <a:ln/>
        </p:spPr>
        <p:txBody>
          <a:bodyPr wrap="square" lIns="0" tIns="0" rIns="0" bIns="0" rtlCol="0" anchor="ctr"/>
          <a:lstStyle/>
          <a:p>
            <a:pPr marL="0" indent="0">
              <a:buNone/>
            </a:pPr>
            <a:r>
              <a:rPr lang="en-US" sz="1300" dirty="0">
                <a:solidFill>
                  <a:srgbClr val="6E86A6"/>
                </a:solidFill>
                <a:latin typeface="Consolas" pitchFamily="34" charset="0"/>
                <a:ea typeface="Consolas" pitchFamily="34" charset="-122"/>
                <a:cs typeface="Consolas" pitchFamily="34" charset="-120"/>
              </a:rPr>
              <a:t>UI_GetReg</a:t>
            </a:r>
            <a:endParaRPr lang="en-US" sz="1300" dirty="0"/>
          </a:p>
        </p:txBody>
      </p:sp>
      <p:sp>
        <p:nvSpPr>
          <p:cNvPr id="56" name="Text 27">
            <a:extLst>
              <a:ext uri="{FF2B5EF4-FFF2-40B4-BE49-F238E27FC236}">
                <a16:creationId xmlns:a16="http://schemas.microsoft.com/office/drawing/2014/main" id="{3E011F8B-110F-C999-E523-E4201B0BE321}"/>
              </a:ext>
            </a:extLst>
          </p:cNvPr>
          <p:cNvSpPr/>
          <p:nvPr/>
        </p:nvSpPr>
        <p:spPr>
          <a:xfrm>
            <a:off x="6565392" y="2130552"/>
            <a:ext cx="4818888" cy="187452"/>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__weak int32_t UI_GetReg(UI_Handle_t *pHandle,</a:t>
            </a:r>
            <a:endParaRPr lang="en-US" sz="1300" dirty="0"/>
          </a:p>
        </p:txBody>
      </p:sp>
      <p:sp>
        <p:nvSpPr>
          <p:cNvPr id="58" name="Text 28">
            <a:extLst>
              <a:ext uri="{FF2B5EF4-FFF2-40B4-BE49-F238E27FC236}">
                <a16:creationId xmlns:a16="http://schemas.microsoft.com/office/drawing/2014/main" id="{688CD515-99B3-661E-24DA-D0A6555785F9}"/>
              </a:ext>
            </a:extLst>
          </p:cNvPr>
          <p:cNvSpPr/>
          <p:nvPr/>
        </p:nvSpPr>
        <p:spPr>
          <a:xfrm>
            <a:off x="6565392" y="2318004"/>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MC_Protocol_REG_t bRegID, bool *success) {</a:t>
            </a:r>
            <a:endParaRPr lang="en-US" sz="1300" dirty="0"/>
          </a:p>
        </p:txBody>
      </p:sp>
      <p:sp>
        <p:nvSpPr>
          <p:cNvPr id="60" name="Text 29">
            <a:extLst>
              <a:ext uri="{FF2B5EF4-FFF2-40B4-BE49-F238E27FC236}">
                <a16:creationId xmlns:a16="http://schemas.microsoft.com/office/drawing/2014/main" id="{68EA9709-7796-ECED-72E7-F54C98DF5B13}"/>
              </a:ext>
            </a:extLst>
          </p:cNvPr>
          <p:cNvSpPr/>
          <p:nvPr/>
        </p:nvSpPr>
        <p:spPr>
          <a:xfrm>
            <a:off x="6565392" y="2505456"/>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MCT_Handle_t *pMCT =</a:t>
            </a:r>
            <a:endParaRPr lang="en-US" sz="1300" dirty="0"/>
          </a:p>
        </p:txBody>
      </p:sp>
      <p:sp>
        <p:nvSpPr>
          <p:cNvPr id="62" name="Text 30">
            <a:extLst>
              <a:ext uri="{FF2B5EF4-FFF2-40B4-BE49-F238E27FC236}">
                <a16:creationId xmlns:a16="http://schemas.microsoft.com/office/drawing/2014/main" id="{3203BA7B-FB20-C412-C4F7-9A515C27D6B8}"/>
              </a:ext>
            </a:extLst>
          </p:cNvPr>
          <p:cNvSpPr/>
          <p:nvPr/>
        </p:nvSpPr>
        <p:spPr>
          <a:xfrm>
            <a:off x="6565392" y="2692908"/>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pHandle-&gt;pMCT[pHandle-&gt;bSelectedDrive];</a:t>
            </a:r>
            <a:endParaRPr lang="en-US" sz="1300" dirty="0"/>
          </a:p>
        </p:txBody>
      </p:sp>
      <p:sp>
        <p:nvSpPr>
          <p:cNvPr id="64" name="Text 31">
            <a:extLst>
              <a:ext uri="{FF2B5EF4-FFF2-40B4-BE49-F238E27FC236}">
                <a16:creationId xmlns:a16="http://schemas.microsoft.com/office/drawing/2014/main" id="{3336BF33-FD85-533E-5720-DE1024C9989E}"/>
              </a:ext>
            </a:extLst>
          </p:cNvPr>
          <p:cNvSpPr/>
          <p:nvPr/>
        </p:nvSpPr>
        <p:spPr>
          <a:xfrm>
            <a:off x="6565392" y="2880360"/>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MCI_Handle_t *pMCI =</a:t>
            </a:r>
            <a:endParaRPr lang="en-US" sz="1300" dirty="0"/>
          </a:p>
        </p:txBody>
      </p:sp>
      <p:sp>
        <p:nvSpPr>
          <p:cNvPr id="66" name="Text 32">
            <a:extLst>
              <a:ext uri="{FF2B5EF4-FFF2-40B4-BE49-F238E27FC236}">
                <a16:creationId xmlns:a16="http://schemas.microsoft.com/office/drawing/2014/main" id="{3293D38A-E727-599C-EB16-00F9E23442BE}"/>
              </a:ext>
            </a:extLst>
          </p:cNvPr>
          <p:cNvSpPr/>
          <p:nvPr/>
        </p:nvSpPr>
        <p:spPr>
          <a:xfrm>
            <a:off x="6565392" y="3067812"/>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pHandle-&gt;pMCI[pHandle-&gt;bSelectedDrive];</a:t>
            </a:r>
            <a:endParaRPr lang="en-US" sz="1300" dirty="0"/>
          </a:p>
        </p:txBody>
      </p:sp>
      <p:sp>
        <p:nvSpPr>
          <p:cNvPr id="68" name="Text 33">
            <a:extLst>
              <a:ext uri="{FF2B5EF4-FFF2-40B4-BE49-F238E27FC236}">
                <a16:creationId xmlns:a16="http://schemas.microsoft.com/office/drawing/2014/main" id="{896ACBB5-ED0F-E257-2604-77CDCB4D0F9A}"/>
              </a:ext>
            </a:extLst>
          </p:cNvPr>
          <p:cNvSpPr/>
          <p:nvPr/>
        </p:nvSpPr>
        <p:spPr>
          <a:xfrm>
            <a:off x="6565392" y="3255264"/>
            <a:ext cx="4818888" cy="187452"/>
          </a:xfrm>
          <a:prstGeom prst="rect">
            <a:avLst/>
          </a:prstGeom>
          <a:noFill/>
          <a:ln/>
        </p:spPr>
        <p:txBody>
          <a:bodyPr wrap="square" lIns="0" tIns="0" rIns="0" bIns="0" rtlCol="0" anchor="ctr"/>
          <a:lstStyle/>
          <a:p>
            <a:pPr marL="0" indent="0">
              <a:buNone/>
            </a:pPr>
            <a:endParaRPr lang="en-US" sz="1300" dirty="0"/>
          </a:p>
        </p:txBody>
      </p:sp>
      <p:sp>
        <p:nvSpPr>
          <p:cNvPr id="70" name="Text 34">
            <a:extLst>
              <a:ext uri="{FF2B5EF4-FFF2-40B4-BE49-F238E27FC236}">
                <a16:creationId xmlns:a16="http://schemas.microsoft.com/office/drawing/2014/main" id="{07D64542-7BEA-3869-1554-3D110E60DF8E}"/>
              </a:ext>
            </a:extLst>
          </p:cNvPr>
          <p:cNvSpPr/>
          <p:nvPr/>
        </p:nvSpPr>
        <p:spPr>
          <a:xfrm>
            <a:off x="6565392" y="3442716"/>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int32_t bRetVal = 0;</a:t>
            </a:r>
            <a:endParaRPr lang="en-US" sz="1300" dirty="0"/>
          </a:p>
        </p:txBody>
      </p:sp>
      <p:sp>
        <p:nvSpPr>
          <p:cNvPr id="72" name="Text 35">
            <a:extLst>
              <a:ext uri="{FF2B5EF4-FFF2-40B4-BE49-F238E27FC236}">
                <a16:creationId xmlns:a16="http://schemas.microsoft.com/office/drawing/2014/main" id="{E51ACEF9-5829-8119-9907-ED58B95DB621}"/>
              </a:ext>
            </a:extLst>
          </p:cNvPr>
          <p:cNvSpPr/>
          <p:nvPr/>
        </p:nvSpPr>
        <p:spPr>
          <a:xfrm>
            <a:off x="6565392" y="3630168"/>
            <a:ext cx="4818888" cy="187452"/>
          </a:xfrm>
          <a:prstGeom prst="rect">
            <a:avLst/>
          </a:prstGeom>
          <a:noFill/>
          <a:ln/>
        </p:spPr>
        <p:txBody>
          <a:bodyPr wrap="square" lIns="0" tIns="0" rIns="0" bIns="0" rtlCol="0" anchor="ctr"/>
          <a:lstStyle/>
          <a:p>
            <a:pPr marL="0" indent="0">
              <a:buNone/>
            </a:pPr>
            <a:endParaRPr lang="en-US" sz="1300" dirty="0"/>
          </a:p>
        </p:txBody>
      </p:sp>
      <p:sp>
        <p:nvSpPr>
          <p:cNvPr id="74" name="Text 36">
            <a:extLst>
              <a:ext uri="{FF2B5EF4-FFF2-40B4-BE49-F238E27FC236}">
                <a16:creationId xmlns:a16="http://schemas.microsoft.com/office/drawing/2014/main" id="{B7EC0E24-A2B2-22CF-1295-9835FAFD6067}"/>
              </a:ext>
            </a:extLst>
          </p:cNvPr>
          <p:cNvSpPr/>
          <p:nvPr/>
        </p:nvSpPr>
        <p:spPr>
          <a:xfrm>
            <a:off x="6565392" y="3817620"/>
            <a:ext cx="4818888" cy="187452"/>
          </a:xfrm>
          <a:prstGeom prst="rect">
            <a:avLst/>
          </a:prstGeom>
          <a:noFill/>
          <a:ln/>
        </p:spPr>
        <p:txBody>
          <a:bodyPr wrap="square" lIns="0" tIns="0" rIns="0" bIns="0" rtlCol="0" anchor="ctr"/>
          <a:lstStyle/>
          <a:p>
            <a:pPr marL="0" indent="0">
              <a:buNone/>
            </a:pPr>
            <a:r>
              <a:rPr lang="en-US" sz="1300" dirty="0">
                <a:solidFill>
                  <a:srgbClr val="8FD6EA"/>
                </a:solidFill>
                <a:latin typeface="Consolas" pitchFamily="34" charset="0"/>
                <a:ea typeface="Consolas" pitchFamily="34" charset="-122"/>
                <a:cs typeface="Consolas" pitchFamily="34" charset="-120"/>
              </a:rPr>
              <a:t>  case MC_PROTOCOL_REG_SPEED_KP: {</a:t>
            </a:r>
            <a:endParaRPr lang="en-US" sz="1300" dirty="0"/>
          </a:p>
        </p:txBody>
      </p:sp>
      <p:sp>
        <p:nvSpPr>
          <p:cNvPr id="76" name="Text 37">
            <a:extLst>
              <a:ext uri="{FF2B5EF4-FFF2-40B4-BE49-F238E27FC236}">
                <a16:creationId xmlns:a16="http://schemas.microsoft.com/office/drawing/2014/main" id="{B9BE18C9-7668-E1FB-F3A9-D44E92EDBD26}"/>
              </a:ext>
            </a:extLst>
          </p:cNvPr>
          <p:cNvSpPr/>
          <p:nvPr/>
        </p:nvSpPr>
        <p:spPr>
          <a:xfrm>
            <a:off x="6565392" y="4005072"/>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bRetVal =</a:t>
            </a:r>
            <a:endParaRPr lang="en-US" sz="1300" dirty="0"/>
          </a:p>
        </p:txBody>
      </p:sp>
      <p:sp>
        <p:nvSpPr>
          <p:cNvPr id="78" name="Text 38">
            <a:extLst>
              <a:ext uri="{FF2B5EF4-FFF2-40B4-BE49-F238E27FC236}">
                <a16:creationId xmlns:a16="http://schemas.microsoft.com/office/drawing/2014/main" id="{CC8099E1-64EE-0E0C-D761-BAD8271ADA5E}"/>
              </a:ext>
            </a:extLst>
          </p:cNvPr>
          <p:cNvSpPr/>
          <p:nvPr/>
        </p:nvSpPr>
        <p:spPr>
          <a:xfrm>
            <a:off x="6565392" y="4192524"/>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((int32_t)(PID_GetKPDivisor(pMCT-&gt;pPIDSpeed)</a:t>
            </a:r>
            <a:endParaRPr lang="en-US" sz="1300" dirty="0"/>
          </a:p>
        </p:txBody>
      </p:sp>
      <p:sp>
        <p:nvSpPr>
          <p:cNvPr id="80" name="Text 39">
            <a:extLst>
              <a:ext uri="{FF2B5EF4-FFF2-40B4-BE49-F238E27FC236}">
                <a16:creationId xmlns:a16="http://schemas.microsoft.com/office/drawing/2014/main" id="{E5A70B42-1227-7984-AB02-703FE545CCAF}"/>
              </a:ext>
            </a:extLst>
          </p:cNvPr>
          <p:cNvSpPr/>
          <p:nvPr/>
        </p:nvSpPr>
        <p:spPr>
          <a:xfrm>
            <a:off x="6565392" y="4379976"/>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&amp; 0xFFFFu) &lt;&lt; 16) |</a:t>
            </a:r>
            <a:endParaRPr lang="en-US" sz="1300" dirty="0"/>
          </a:p>
        </p:txBody>
      </p:sp>
      <p:sp>
        <p:nvSpPr>
          <p:cNvPr id="82" name="Text 40">
            <a:extLst>
              <a:ext uri="{FF2B5EF4-FFF2-40B4-BE49-F238E27FC236}">
                <a16:creationId xmlns:a16="http://schemas.microsoft.com/office/drawing/2014/main" id="{491A6672-9DFC-EE8E-0E11-46F364A56B6B}"/>
              </a:ext>
            </a:extLst>
          </p:cNvPr>
          <p:cNvSpPr/>
          <p:nvPr/>
        </p:nvSpPr>
        <p:spPr>
          <a:xfrm>
            <a:off x="6565392" y="4567428"/>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((uint16_t)(PID_GetKP(pMCT-&gt;pPIDSpeed)</a:t>
            </a:r>
            <a:endParaRPr lang="en-US" sz="1300" dirty="0"/>
          </a:p>
        </p:txBody>
      </p:sp>
      <p:sp>
        <p:nvSpPr>
          <p:cNvPr id="84" name="Text 41">
            <a:extLst>
              <a:ext uri="{FF2B5EF4-FFF2-40B4-BE49-F238E27FC236}">
                <a16:creationId xmlns:a16="http://schemas.microsoft.com/office/drawing/2014/main" id="{3E933D9F-750F-409F-5C11-41DACD194020}"/>
              </a:ext>
            </a:extLst>
          </p:cNvPr>
          <p:cNvSpPr/>
          <p:nvPr/>
        </p:nvSpPr>
        <p:spPr>
          <a:xfrm>
            <a:off x="6565392" y="4754880"/>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&amp; 0xFFFFu));</a:t>
            </a:r>
            <a:endParaRPr lang="en-US" sz="1300" dirty="0"/>
          </a:p>
        </p:txBody>
      </p:sp>
      <p:sp>
        <p:nvSpPr>
          <p:cNvPr id="86" name="Text 42">
            <a:extLst>
              <a:ext uri="{FF2B5EF4-FFF2-40B4-BE49-F238E27FC236}">
                <a16:creationId xmlns:a16="http://schemas.microsoft.com/office/drawing/2014/main" id="{54230887-4B13-1ADB-2BE0-17A57F06ED22}"/>
              </a:ext>
            </a:extLst>
          </p:cNvPr>
          <p:cNvSpPr/>
          <p:nvPr/>
        </p:nvSpPr>
        <p:spPr>
          <a:xfrm>
            <a:off x="6565392" y="4942332"/>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 break;</a:t>
            </a:r>
            <a:endParaRPr lang="en-US" sz="1300" dirty="0"/>
          </a:p>
        </p:txBody>
      </p:sp>
      <p:sp>
        <p:nvSpPr>
          <p:cNvPr id="88" name="Text 43">
            <a:extLst>
              <a:ext uri="{FF2B5EF4-FFF2-40B4-BE49-F238E27FC236}">
                <a16:creationId xmlns:a16="http://schemas.microsoft.com/office/drawing/2014/main" id="{BB4E6577-9BFD-67E7-A547-9C004F3E1381}"/>
              </a:ext>
            </a:extLst>
          </p:cNvPr>
          <p:cNvSpPr/>
          <p:nvPr/>
        </p:nvSpPr>
        <p:spPr>
          <a:xfrm>
            <a:off x="6565392" y="5129784"/>
            <a:ext cx="4818888" cy="187452"/>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3" name="Text 0">
            <a:extLst>
              <a:ext uri="{FF2B5EF4-FFF2-40B4-BE49-F238E27FC236}">
                <a16:creationId xmlns:a16="http://schemas.microsoft.com/office/drawing/2014/main" id="{B0F8EFC4-48FC-B6DF-7CF4-50102BE232B2}"/>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dirty="0">
              <a:solidFill>
                <a:srgbClr val="0E7DAD"/>
              </a:solidFill>
            </a:endParaRPr>
          </a:p>
        </p:txBody>
      </p:sp>
    </p:spTree>
    <p:extLst>
      <p:ext uri="{BB962C8B-B14F-4D97-AF65-F5344CB8AC3E}">
        <p14:creationId xmlns:p14="http://schemas.microsoft.com/office/powerpoint/2010/main" val="3721630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C085-B941-A3F3-DA85-C6F59A0E592A}"/>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469FC056-B693-9B66-8628-DBCB135F70E6}"/>
              </a:ext>
            </a:extLst>
          </p:cNvPr>
          <p:cNvSpPr>
            <a:spLocks noGrp="1"/>
          </p:cNvSpPr>
          <p:nvPr>
            <p:ph type="title"/>
          </p:nvPr>
        </p:nvSpPr>
        <p:spPr/>
        <p:txBody>
          <a:bodyPr/>
          <a:lstStyle/>
          <a:p>
            <a:r>
              <a:rPr lang="en-US" b="1" dirty="0">
                <a:solidFill>
                  <a:srgbClr val="0B2545"/>
                </a:solidFill>
                <a:latin typeface="Cambria" pitchFamily="34" charset="0"/>
                <a:ea typeface="Cambria" pitchFamily="34" charset="-122"/>
                <a:cs typeface="Cambria" pitchFamily="34" charset="-120"/>
              </a:rPr>
              <a:t>ACK/NACK and GET REG Response Separation</a:t>
            </a:r>
            <a:endParaRPr lang="it-IT" dirty="0"/>
          </a:p>
        </p:txBody>
      </p:sp>
      <p:sp>
        <p:nvSpPr>
          <p:cNvPr id="6" name="Shape 2">
            <a:extLst>
              <a:ext uri="{FF2B5EF4-FFF2-40B4-BE49-F238E27FC236}">
                <a16:creationId xmlns:a16="http://schemas.microsoft.com/office/drawing/2014/main" id="{5DE3BFF2-FA1D-6FBB-3F20-5E9D25153D0A}"/>
              </a:ext>
            </a:extLst>
          </p:cNvPr>
          <p:cNvSpPr/>
          <p:nvPr/>
        </p:nvSpPr>
        <p:spPr>
          <a:xfrm>
            <a:off x="693019" y="1722120"/>
            <a:ext cx="5120640" cy="3828448"/>
          </a:xfrm>
          <a:prstGeom prst="roundRect">
            <a:avLst>
              <a:gd name="adj" fmla="val 1495"/>
            </a:avLst>
          </a:prstGeom>
          <a:solidFill>
            <a:srgbClr val="FFFFFF"/>
          </a:solidFill>
          <a:ln w="12700">
            <a:solidFill>
              <a:srgbClr val="E3E9F0"/>
            </a:solidFill>
            <a:prstDash val="solid"/>
          </a:ln>
        </p:spPr>
        <p:txBody>
          <a:bodyPr/>
          <a:lstStyle/>
          <a:p>
            <a:endParaRPr lang="it-IT" sz="1500"/>
          </a:p>
        </p:txBody>
      </p:sp>
      <p:sp>
        <p:nvSpPr>
          <p:cNvPr id="8" name="Shape 3">
            <a:extLst>
              <a:ext uri="{FF2B5EF4-FFF2-40B4-BE49-F238E27FC236}">
                <a16:creationId xmlns:a16="http://schemas.microsoft.com/office/drawing/2014/main" id="{3424965B-ECDD-DE6A-D4D6-57BB3F9F57EC}"/>
              </a:ext>
            </a:extLst>
          </p:cNvPr>
          <p:cNvSpPr/>
          <p:nvPr/>
        </p:nvSpPr>
        <p:spPr>
          <a:xfrm>
            <a:off x="693019" y="1722120"/>
            <a:ext cx="5120640" cy="393579"/>
          </a:xfrm>
          <a:prstGeom prst="roundRect">
            <a:avLst>
              <a:gd name="adj" fmla="val 14545"/>
            </a:avLst>
          </a:prstGeom>
          <a:solidFill>
            <a:srgbClr val="0B2545"/>
          </a:solidFill>
          <a:ln/>
        </p:spPr>
        <p:txBody>
          <a:bodyPr/>
          <a:lstStyle/>
          <a:p>
            <a:endParaRPr lang="it-IT" sz="1500"/>
          </a:p>
        </p:txBody>
      </p:sp>
      <p:sp>
        <p:nvSpPr>
          <p:cNvPr id="10" name="Shape 4">
            <a:extLst>
              <a:ext uri="{FF2B5EF4-FFF2-40B4-BE49-F238E27FC236}">
                <a16:creationId xmlns:a16="http://schemas.microsoft.com/office/drawing/2014/main" id="{D9AE7C9A-4673-AF61-26E3-B1036FF56028}"/>
              </a:ext>
            </a:extLst>
          </p:cNvPr>
          <p:cNvSpPr/>
          <p:nvPr/>
        </p:nvSpPr>
        <p:spPr>
          <a:xfrm>
            <a:off x="693019" y="1978152"/>
            <a:ext cx="5120640" cy="193211"/>
          </a:xfrm>
          <a:prstGeom prst="rect">
            <a:avLst/>
          </a:prstGeom>
          <a:solidFill>
            <a:srgbClr val="0B2545"/>
          </a:solidFill>
          <a:ln/>
        </p:spPr>
        <p:txBody>
          <a:bodyPr/>
          <a:lstStyle/>
          <a:p>
            <a:endParaRPr lang="it-IT" sz="1500"/>
          </a:p>
        </p:txBody>
      </p:sp>
      <p:sp>
        <p:nvSpPr>
          <p:cNvPr id="12" name="Text 5">
            <a:extLst>
              <a:ext uri="{FF2B5EF4-FFF2-40B4-BE49-F238E27FC236}">
                <a16:creationId xmlns:a16="http://schemas.microsoft.com/office/drawing/2014/main" id="{96DBCD73-8F52-398E-72DA-D8B20B500E2D}"/>
              </a:ext>
            </a:extLst>
          </p:cNvPr>
          <p:cNvSpPr/>
          <p:nvPr/>
        </p:nvSpPr>
        <p:spPr>
          <a:xfrm>
            <a:off x="949051" y="1722120"/>
            <a:ext cx="4663440" cy="393579"/>
          </a:xfrm>
          <a:prstGeom prst="rect">
            <a:avLst/>
          </a:prstGeom>
          <a:noFill/>
          <a:ln/>
        </p:spPr>
        <p:txBody>
          <a:bodyPr wrap="square" lIns="0" tIns="0" rIns="0" bIns="0" rtlCol="0" anchor="ctr"/>
          <a:lstStyle/>
          <a:p>
            <a:r>
              <a:rPr lang="en-US" sz="1500" b="1" dirty="0">
                <a:solidFill>
                  <a:srgbClr val="FFFFFF"/>
                </a:solidFill>
                <a:latin typeface="Cambria" pitchFamily="34" charset="0"/>
                <a:ea typeface="Cambria" pitchFamily="34" charset="-122"/>
                <a:cs typeface="Cambria" pitchFamily="34" charset="-120"/>
              </a:rPr>
              <a:t>The Issue</a:t>
            </a:r>
            <a:endParaRPr lang="en-US" sz="1500" dirty="0"/>
          </a:p>
        </p:txBody>
      </p:sp>
      <p:sp>
        <p:nvSpPr>
          <p:cNvPr id="14" name="Text 6">
            <a:extLst>
              <a:ext uri="{FF2B5EF4-FFF2-40B4-BE49-F238E27FC236}">
                <a16:creationId xmlns:a16="http://schemas.microsoft.com/office/drawing/2014/main" id="{B25EAE60-9C86-314F-A089-B66048569462}"/>
              </a:ext>
            </a:extLst>
          </p:cNvPr>
          <p:cNvSpPr/>
          <p:nvPr/>
        </p:nvSpPr>
        <p:spPr>
          <a:xfrm>
            <a:off x="967339" y="2590800"/>
            <a:ext cx="4572000" cy="787158"/>
          </a:xfrm>
          <a:prstGeom prst="rect">
            <a:avLst/>
          </a:prstGeom>
          <a:noFill/>
          <a:ln/>
        </p:spPr>
        <p:txBody>
          <a:bodyPr wrap="square" lIns="0" tIns="0" rIns="0" bIns="0" rtlCol="0" anchor="t"/>
          <a:lstStyle/>
          <a:p>
            <a:pPr>
              <a:lnSpc>
                <a:spcPct val="130000"/>
              </a:lnSpc>
            </a:pPr>
            <a:r>
              <a:rPr lang="en-US" sz="1500" dirty="0">
                <a:solidFill>
                  <a:srgbClr val="1B1F27"/>
                </a:solidFill>
                <a:latin typeface="Calibri" pitchFamily="34" charset="0"/>
                <a:ea typeface="Calibri" pitchFamily="34" charset="-122"/>
                <a:cs typeface="Calibri" pitchFamily="34" charset="-120"/>
              </a:rPr>
              <a:t>The ACK/NACK responses shared the same CAN ID as the GET REG response message, making them indistinguishable.</a:t>
            </a:r>
            <a:endParaRPr lang="en-US" sz="1500" dirty="0"/>
          </a:p>
        </p:txBody>
      </p:sp>
      <p:sp>
        <p:nvSpPr>
          <p:cNvPr id="16" name="Shape 7">
            <a:extLst>
              <a:ext uri="{FF2B5EF4-FFF2-40B4-BE49-F238E27FC236}">
                <a16:creationId xmlns:a16="http://schemas.microsoft.com/office/drawing/2014/main" id="{E6F62C4F-9DD8-645F-1FB0-27B114F53CEF}"/>
              </a:ext>
            </a:extLst>
          </p:cNvPr>
          <p:cNvSpPr/>
          <p:nvPr/>
        </p:nvSpPr>
        <p:spPr>
          <a:xfrm>
            <a:off x="967339" y="3688080"/>
            <a:ext cx="4572000" cy="0"/>
          </a:xfrm>
          <a:prstGeom prst="line">
            <a:avLst/>
          </a:prstGeom>
          <a:noFill/>
          <a:ln w="12700">
            <a:solidFill>
              <a:srgbClr val="E3E9F0"/>
            </a:solidFill>
            <a:prstDash val="solid"/>
          </a:ln>
        </p:spPr>
        <p:txBody>
          <a:bodyPr/>
          <a:lstStyle/>
          <a:p>
            <a:endParaRPr lang="it-IT" sz="1500"/>
          </a:p>
        </p:txBody>
      </p:sp>
      <p:sp>
        <p:nvSpPr>
          <p:cNvPr id="18" name="Shape 8">
            <a:extLst>
              <a:ext uri="{FF2B5EF4-FFF2-40B4-BE49-F238E27FC236}">
                <a16:creationId xmlns:a16="http://schemas.microsoft.com/office/drawing/2014/main" id="{5B8B4117-37A1-7561-3EDE-745E55AE495A}"/>
              </a:ext>
            </a:extLst>
          </p:cNvPr>
          <p:cNvSpPr/>
          <p:nvPr/>
        </p:nvSpPr>
        <p:spPr>
          <a:xfrm>
            <a:off x="967339" y="3916680"/>
            <a:ext cx="329184" cy="257615"/>
          </a:xfrm>
          <a:prstGeom prst="ellipse">
            <a:avLst/>
          </a:prstGeom>
          <a:solidFill>
            <a:srgbClr val="00B4D8"/>
          </a:solidFill>
          <a:ln/>
        </p:spPr>
        <p:txBody>
          <a:bodyPr/>
          <a:lstStyle/>
          <a:p>
            <a:endParaRPr lang="it-IT" sz="1500"/>
          </a:p>
        </p:txBody>
      </p:sp>
      <p:sp>
        <p:nvSpPr>
          <p:cNvPr id="20" name="Text 9">
            <a:extLst>
              <a:ext uri="{FF2B5EF4-FFF2-40B4-BE49-F238E27FC236}">
                <a16:creationId xmlns:a16="http://schemas.microsoft.com/office/drawing/2014/main" id="{31B09121-928F-923A-EB1F-870B52EB1EAC}"/>
              </a:ext>
            </a:extLst>
          </p:cNvPr>
          <p:cNvSpPr/>
          <p:nvPr/>
        </p:nvSpPr>
        <p:spPr>
          <a:xfrm>
            <a:off x="967339" y="3916680"/>
            <a:ext cx="329184" cy="257615"/>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10">
            <a:extLst>
              <a:ext uri="{FF2B5EF4-FFF2-40B4-BE49-F238E27FC236}">
                <a16:creationId xmlns:a16="http://schemas.microsoft.com/office/drawing/2014/main" id="{D1EE3D27-90C8-E26B-72BF-FE3B87636E64}"/>
              </a:ext>
            </a:extLst>
          </p:cNvPr>
          <p:cNvSpPr/>
          <p:nvPr/>
        </p:nvSpPr>
        <p:spPr>
          <a:xfrm>
            <a:off x="1470259" y="3825240"/>
            <a:ext cx="4069080" cy="1001837"/>
          </a:xfrm>
          <a:prstGeom prst="rect">
            <a:avLst/>
          </a:prstGeom>
          <a:noFill/>
          <a:ln/>
        </p:spPr>
        <p:txBody>
          <a:bodyPr wrap="square" lIns="0" tIns="0" rIns="0" bIns="0" rtlCol="0" anchor="t"/>
          <a:lstStyle/>
          <a:p>
            <a:pPr marL="0" indent="0">
              <a:lnSpc>
                <a:spcPct val="100000"/>
              </a:lnSpc>
              <a:buNone/>
            </a:pPr>
            <a:r>
              <a:rPr lang="en-US" sz="1500" dirty="0">
                <a:solidFill>
                  <a:srgbClr val="1B1F27"/>
                </a:solidFill>
                <a:latin typeface="Calibri" pitchFamily="34" charset="0"/>
                <a:ea typeface="Calibri" pitchFamily="34" charset="-122"/>
                <a:cs typeface="Calibri" pitchFamily="34" charset="-120"/>
              </a:rPr>
              <a:t>The two outgoing CAN messages to the DYNO were therefore differentiated by assigning a dedicated identifier based on frame size.</a:t>
            </a:r>
            <a:endParaRPr lang="en-US" sz="1500" dirty="0"/>
          </a:p>
        </p:txBody>
      </p:sp>
      <p:sp>
        <p:nvSpPr>
          <p:cNvPr id="24" name="Shape 11">
            <a:extLst>
              <a:ext uri="{FF2B5EF4-FFF2-40B4-BE49-F238E27FC236}">
                <a16:creationId xmlns:a16="http://schemas.microsoft.com/office/drawing/2014/main" id="{9B9E0408-00A6-343E-1CD5-57B388E070A2}"/>
              </a:ext>
            </a:extLst>
          </p:cNvPr>
          <p:cNvSpPr/>
          <p:nvPr/>
        </p:nvSpPr>
        <p:spPr>
          <a:xfrm>
            <a:off x="6042259" y="1722120"/>
            <a:ext cx="5742432" cy="3828448"/>
          </a:xfrm>
          <a:prstGeom prst="roundRect">
            <a:avLst>
              <a:gd name="adj" fmla="val 1869"/>
            </a:avLst>
          </a:prstGeom>
          <a:solidFill>
            <a:srgbClr val="071A33"/>
          </a:solidFill>
          <a:ln/>
          <a:effectLst>
            <a:outerShdw blurRad="101600" dist="25400" dir="5400000" algn="bl" rotWithShape="0">
              <a:srgbClr val="000000">
                <a:alpha val="22000"/>
              </a:srgbClr>
            </a:outerShdw>
          </a:effectLst>
        </p:spPr>
        <p:txBody>
          <a:bodyPr/>
          <a:lstStyle/>
          <a:p>
            <a:endParaRPr lang="it-IT" sz="1500"/>
          </a:p>
        </p:txBody>
      </p:sp>
      <p:sp>
        <p:nvSpPr>
          <p:cNvPr id="26" name="Text 12">
            <a:extLst>
              <a:ext uri="{FF2B5EF4-FFF2-40B4-BE49-F238E27FC236}">
                <a16:creationId xmlns:a16="http://schemas.microsoft.com/office/drawing/2014/main" id="{7B517D7D-828A-8A92-A3DD-86435CE4EF34}"/>
              </a:ext>
            </a:extLst>
          </p:cNvPr>
          <p:cNvSpPr/>
          <p:nvPr/>
        </p:nvSpPr>
        <p:spPr>
          <a:xfrm>
            <a:off x="6270859" y="1831848"/>
            <a:ext cx="5285232" cy="214679"/>
          </a:xfrm>
          <a:prstGeom prst="rect">
            <a:avLst/>
          </a:prstGeom>
          <a:noFill/>
          <a:ln/>
        </p:spPr>
        <p:txBody>
          <a:bodyPr wrap="square" lIns="0" tIns="0" rIns="0" bIns="0" rtlCol="0" anchor="ctr"/>
          <a:lstStyle/>
          <a:p>
            <a:pPr marL="0" indent="0">
              <a:buNone/>
            </a:pPr>
            <a:r>
              <a:rPr lang="en-US" sz="1500" dirty="0">
                <a:solidFill>
                  <a:srgbClr val="6E86A6"/>
                </a:solidFill>
                <a:latin typeface="Consolas" pitchFamily="34" charset="0"/>
                <a:ea typeface="Consolas" pitchFamily="34" charset="-122"/>
                <a:cs typeface="Consolas" pitchFamily="34" charset="-120"/>
              </a:rPr>
              <a:t>CFCP_TX_IRQ_Handler</a:t>
            </a:r>
            <a:endParaRPr lang="en-US" sz="1500" dirty="0"/>
          </a:p>
        </p:txBody>
      </p:sp>
      <p:sp>
        <p:nvSpPr>
          <p:cNvPr id="28" name="Text 13">
            <a:extLst>
              <a:ext uri="{FF2B5EF4-FFF2-40B4-BE49-F238E27FC236}">
                <a16:creationId xmlns:a16="http://schemas.microsoft.com/office/drawing/2014/main" id="{48196BC5-8F2A-9FD4-1B59-0C4CE770ACBF}"/>
              </a:ext>
            </a:extLst>
          </p:cNvPr>
          <p:cNvSpPr/>
          <p:nvPr/>
        </p:nvSpPr>
        <p:spPr>
          <a:xfrm>
            <a:off x="6298291" y="2298192"/>
            <a:ext cx="5230368" cy="161009"/>
          </a:xfrm>
          <a:prstGeom prst="rect">
            <a:avLst/>
          </a:prstGeom>
          <a:noFill/>
          <a:ln/>
        </p:spPr>
        <p:txBody>
          <a:bodyPr wrap="square" lIns="0" tIns="0" rIns="0" bIns="0" rtlCol="0" anchor="ctr"/>
          <a:lstStyle/>
          <a:p>
            <a:pPr marL="0" indent="0">
              <a:buNone/>
            </a:pPr>
            <a:r>
              <a:rPr lang="en-US" sz="1500" dirty="0">
                <a:solidFill>
                  <a:srgbClr val="8FD6EA"/>
                </a:solidFill>
                <a:latin typeface="Consolas" pitchFamily="34" charset="0"/>
                <a:ea typeface="Consolas" pitchFamily="34" charset="-122"/>
                <a:cs typeface="Consolas" pitchFamily="34" charset="-120"/>
              </a:rPr>
              <a:t>__weak void CFCP_TX_IRQ_Handler(</a:t>
            </a:r>
            <a:endParaRPr lang="en-US" sz="1500" dirty="0"/>
          </a:p>
        </p:txBody>
      </p:sp>
      <p:sp>
        <p:nvSpPr>
          <p:cNvPr id="30" name="Text 14">
            <a:extLst>
              <a:ext uri="{FF2B5EF4-FFF2-40B4-BE49-F238E27FC236}">
                <a16:creationId xmlns:a16="http://schemas.microsoft.com/office/drawing/2014/main" id="{50A929DD-0D7D-CD8F-D759-9307545C6CF8}"/>
              </a:ext>
            </a:extLst>
          </p:cNvPr>
          <p:cNvSpPr/>
          <p:nvPr/>
        </p:nvSpPr>
        <p:spPr>
          <a:xfrm>
            <a:off x="6298291" y="250393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CFCP_Handle_t *pHandle) {</a:t>
            </a:r>
            <a:endParaRPr lang="en-US" sz="1500" dirty="0"/>
          </a:p>
        </p:txBody>
      </p:sp>
      <p:sp>
        <p:nvSpPr>
          <p:cNvPr id="32" name="Text 15">
            <a:extLst>
              <a:ext uri="{FF2B5EF4-FFF2-40B4-BE49-F238E27FC236}">
                <a16:creationId xmlns:a16="http://schemas.microsoft.com/office/drawing/2014/main" id="{043A42AD-E729-3AC7-C661-F937D90EBAA9}"/>
              </a:ext>
            </a:extLst>
          </p:cNvPr>
          <p:cNvSpPr/>
          <p:nvPr/>
        </p:nvSpPr>
        <p:spPr>
          <a:xfrm>
            <a:off x="6298291" y="2709672"/>
            <a:ext cx="5230368" cy="161009"/>
          </a:xfrm>
          <a:prstGeom prst="rect">
            <a:avLst/>
          </a:prstGeom>
          <a:noFill/>
          <a:ln/>
        </p:spPr>
        <p:txBody>
          <a:bodyPr wrap="square" lIns="0" tIns="0" rIns="0" bIns="0" rtlCol="0" anchor="ctr"/>
          <a:lstStyle/>
          <a:p>
            <a:pPr marL="0" indent="0">
              <a:buNone/>
            </a:pPr>
            <a:r>
              <a:rPr lang="en-US" sz="1500" dirty="0">
                <a:solidFill>
                  <a:srgbClr val="F2C879"/>
                </a:solidFill>
                <a:latin typeface="Consolas" pitchFamily="34" charset="0"/>
                <a:ea typeface="Consolas" pitchFamily="34" charset="-122"/>
                <a:cs typeface="Consolas" pitchFamily="34" charset="-120"/>
              </a:rPr>
              <a:t>  if (FCP_TRANSFER_IDLE != pBaseHandle</a:t>
            </a:r>
            <a:endParaRPr lang="en-US" sz="1500" dirty="0"/>
          </a:p>
        </p:txBody>
      </p:sp>
      <p:sp>
        <p:nvSpPr>
          <p:cNvPr id="34" name="Text 16">
            <a:extLst>
              <a:ext uri="{FF2B5EF4-FFF2-40B4-BE49-F238E27FC236}">
                <a16:creationId xmlns:a16="http://schemas.microsoft.com/office/drawing/2014/main" id="{E14FA27A-836E-D26B-7C5A-563E2424D11F}"/>
              </a:ext>
            </a:extLst>
          </p:cNvPr>
          <p:cNvSpPr/>
          <p:nvPr/>
        </p:nvSpPr>
        <p:spPr>
          <a:xfrm>
            <a:off x="6298291" y="291541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-&gt;TxFrameState) {</a:t>
            </a:r>
            <a:endParaRPr lang="en-US" sz="1500" dirty="0"/>
          </a:p>
        </p:txBody>
      </p:sp>
      <p:sp>
        <p:nvSpPr>
          <p:cNvPr id="36" name="Text 17">
            <a:extLst>
              <a:ext uri="{FF2B5EF4-FFF2-40B4-BE49-F238E27FC236}">
                <a16:creationId xmlns:a16="http://schemas.microsoft.com/office/drawing/2014/main" id="{5EE14CB3-76D9-B09F-C672-C441411FE60E}"/>
              </a:ext>
            </a:extLst>
          </p:cNvPr>
          <p:cNvSpPr/>
          <p:nvPr/>
        </p:nvSpPr>
        <p:spPr>
          <a:xfrm>
            <a:off x="6298291" y="312115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uint8_t tx_data[16];</a:t>
            </a:r>
            <a:endParaRPr lang="en-US" sz="1500" dirty="0"/>
          </a:p>
        </p:txBody>
      </p:sp>
      <p:sp>
        <p:nvSpPr>
          <p:cNvPr id="38" name="Text 18">
            <a:extLst>
              <a:ext uri="{FF2B5EF4-FFF2-40B4-BE49-F238E27FC236}">
                <a16:creationId xmlns:a16="http://schemas.microsoft.com/office/drawing/2014/main" id="{FD78E8D5-B93B-6DE2-F7BA-42D4C7846675}"/>
              </a:ext>
            </a:extLst>
          </p:cNvPr>
          <p:cNvSpPr/>
          <p:nvPr/>
        </p:nvSpPr>
        <p:spPr>
          <a:xfrm>
            <a:off x="6298291" y="332689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 Build the can message to be sent */</a:t>
            </a:r>
            <a:endParaRPr lang="en-US" sz="1500" dirty="0"/>
          </a:p>
        </p:txBody>
      </p:sp>
      <p:sp>
        <p:nvSpPr>
          <p:cNvPr id="40" name="Text 19">
            <a:extLst>
              <a:ext uri="{FF2B5EF4-FFF2-40B4-BE49-F238E27FC236}">
                <a16:creationId xmlns:a16="http://schemas.microsoft.com/office/drawing/2014/main" id="{50105463-1AB2-630A-B0EC-CF6C4C0AC5C4}"/>
              </a:ext>
            </a:extLst>
          </p:cNvPr>
          <p:cNvSpPr/>
          <p:nvPr/>
        </p:nvSpPr>
        <p:spPr>
          <a:xfrm>
            <a:off x="6298291" y="353263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TxHeader.Identifier = CAN_TX_MSG_ID_START;</a:t>
            </a:r>
            <a:endParaRPr lang="en-US" sz="1500" dirty="0"/>
          </a:p>
        </p:txBody>
      </p:sp>
      <p:sp>
        <p:nvSpPr>
          <p:cNvPr id="42" name="Text 20">
            <a:extLst>
              <a:ext uri="{FF2B5EF4-FFF2-40B4-BE49-F238E27FC236}">
                <a16:creationId xmlns:a16="http://schemas.microsoft.com/office/drawing/2014/main" id="{D2D4F730-A1A4-DD6E-7E19-229254E36A67}"/>
              </a:ext>
            </a:extLst>
          </p:cNvPr>
          <p:cNvSpPr/>
          <p:nvPr/>
        </p:nvSpPr>
        <p:spPr>
          <a:xfrm>
            <a:off x="6298291" y="3738372"/>
            <a:ext cx="5230368" cy="161009"/>
          </a:xfrm>
          <a:prstGeom prst="rect">
            <a:avLst/>
          </a:prstGeom>
          <a:noFill/>
          <a:ln/>
        </p:spPr>
        <p:txBody>
          <a:bodyPr wrap="square" lIns="0" tIns="0" rIns="0" bIns="0" rtlCol="0" anchor="ctr"/>
          <a:lstStyle/>
          <a:p>
            <a:pPr marL="0" indent="0">
              <a:buNone/>
            </a:pPr>
            <a:endParaRPr lang="en-US" sz="1500" dirty="0"/>
          </a:p>
        </p:txBody>
      </p:sp>
      <p:sp>
        <p:nvSpPr>
          <p:cNvPr id="44" name="Text 21">
            <a:extLst>
              <a:ext uri="{FF2B5EF4-FFF2-40B4-BE49-F238E27FC236}">
                <a16:creationId xmlns:a16="http://schemas.microsoft.com/office/drawing/2014/main" id="{B163B19F-7EF8-E32F-A2C1-40F2BB0B849B}"/>
              </a:ext>
            </a:extLst>
          </p:cNvPr>
          <p:cNvSpPr/>
          <p:nvPr/>
        </p:nvSpPr>
        <p:spPr>
          <a:xfrm>
            <a:off x="6298291" y="3944112"/>
            <a:ext cx="5230368" cy="161009"/>
          </a:xfrm>
          <a:prstGeom prst="rect">
            <a:avLst/>
          </a:prstGeom>
          <a:noFill/>
          <a:ln/>
        </p:spPr>
        <p:txBody>
          <a:bodyPr wrap="square" lIns="0" tIns="0" rIns="0" bIns="0" rtlCol="0" anchor="ctr"/>
          <a:lstStyle/>
          <a:p>
            <a:pPr marL="0" indent="0">
              <a:buNone/>
            </a:pPr>
            <a:r>
              <a:rPr lang="en-US" sz="1500" dirty="0">
                <a:solidFill>
                  <a:srgbClr val="F2C879"/>
                </a:solidFill>
                <a:latin typeface="Consolas" pitchFamily="34" charset="0"/>
                <a:ea typeface="Consolas" pitchFamily="34" charset="-122"/>
                <a:cs typeface="Consolas" pitchFamily="34" charset="-120"/>
              </a:rPr>
              <a:t>    if (pBaseHandle-&gt;TxFrame.Size == 4) {</a:t>
            </a:r>
            <a:endParaRPr lang="en-US" sz="1500" dirty="0"/>
          </a:p>
        </p:txBody>
      </p:sp>
      <p:sp>
        <p:nvSpPr>
          <p:cNvPr id="46" name="Text 22">
            <a:extLst>
              <a:ext uri="{FF2B5EF4-FFF2-40B4-BE49-F238E27FC236}">
                <a16:creationId xmlns:a16="http://schemas.microsoft.com/office/drawing/2014/main" id="{01C0EA9A-EDD3-C319-BE72-CE0678392101}"/>
              </a:ext>
            </a:extLst>
          </p:cNvPr>
          <p:cNvSpPr/>
          <p:nvPr/>
        </p:nvSpPr>
        <p:spPr>
          <a:xfrm>
            <a:off x="6298291" y="414985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TxHeader.Identifier = 17U;</a:t>
            </a:r>
            <a:endParaRPr lang="en-US" sz="1500" dirty="0"/>
          </a:p>
        </p:txBody>
      </p:sp>
      <p:sp>
        <p:nvSpPr>
          <p:cNvPr id="48" name="Text 23">
            <a:extLst>
              <a:ext uri="{FF2B5EF4-FFF2-40B4-BE49-F238E27FC236}">
                <a16:creationId xmlns:a16="http://schemas.microsoft.com/office/drawing/2014/main" id="{D138DFC8-98E1-C469-4B1E-434F6CD22E11}"/>
              </a:ext>
            </a:extLst>
          </p:cNvPr>
          <p:cNvSpPr/>
          <p:nvPr/>
        </p:nvSpPr>
        <p:spPr>
          <a:xfrm>
            <a:off x="6298291" y="435559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a:t>
            </a:r>
            <a:endParaRPr lang="en-US" sz="1500" dirty="0"/>
          </a:p>
        </p:txBody>
      </p:sp>
      <p:sp>
        <p:nvSpPr>
          <p:cNvPr id="50" name="Text 24">
            <a:extLst>
              <a:ext uri="{FF2B5EF4-FFF2-40B4-BE49-F238E27FC236}">
                <a16:creationId xmlns:a16="http://schemas.microsoft.com/office/drawing/2014/main" id="{39B984C6-419F-2C70-3519-4A0DAD11DFA4}"/>
              </a:ext>
            </a:extLst>
          </p:cNvPr>
          <p:cNvSpPr/>
          <p:nvPr/>
        </p:nvSpPr>
        <p:spPr>
          <a:xfrm>
            <a:off x="6298291" y="456133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  }</a:t>
            </a:r>
            <a:endParaRPr lang="en-US" sz="1500" dirty="0"/>
          </a:p>
        </p:txBody>
      </p:sp>
      <p:sp>
        <p:nvSpPr>
          <p:cNvPr id="52" name="Text 25">
            <a:extLst>
              <a:ext uri="{FF2B5EF4-FFF2-40B4-BE49-F238E27FC236}">
                <a16:creationId xmlns:a16="http://schemas.microsoft.com/office/drawing/2014/main" id="{0B4FE013-973A-C725-179B-304451E1053A}"/>
              </a:ext>
            </a:extLst>
          </p:cNvPr>
          <p:cNvSpPr/>
          <p:nvPr/>
        </p:nvSpPr>
        <p:spPr>
          <a:xfrm>
            <a:off x="6298291" y="4767072"/>
            <a:ext cx="5230368" cy="161009"/>
          </a:xfrm>
          <a:prstGeom prst="rect">
            <a:avLst/>
          </a:prstGeom>
          <a:noFill/>
          <a:ln/>
        </p:spPr>
        <p:txBody>
          <a:bodyPr wrap="square" lIns="0" tIns="0" rIns="0" bIns="0"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a:t>
            </a:r>
            <a:endParaRPr lang="en-US" sz="1500" dirty="0"/>
          </a:p>
        </p:txBody>
      </p:sp>
      <p:sp>
        <p:nvSpPr>
          <p:cNvPr id="13" name="Text 0">
            <a:extLst>
              <a:ext uri="{FF2B5EF4-FFF2-40B4-BE49-F238E27FC236}">
                <a16:creationId xmlns:a16="http://schemas.microsoft.com/office/drawing/2014/main" id="{A3EACE39-C594-D967-4C4A-7249373C2E4B}"/>
              </a:ext>
            </a:extLst>
          </p:cNvPr>
          <p:cNvSpPr/>
          <p:nvPr/>
        </p:nvSpPr>
        <p:spPr>
          <a:xfrm>
            <a:off x="10424160" y="180848"/>
            <a:ext cx="7315200" cy="320040"/>
          </a:xfrm>
          <a:prstGeom prst="rect">
            <a:avLst/>
          </a:prstGeom>
          <a:noFill/>
          <a:ln/>
        </p:spPr>
        <p:txBody>
          <a:bodyPr wrap="square" lIns="0" tIns="0" rIns="0" bIns="0" rtlCol="0" anchor="ctr"/>
          <a:lstStyle/>
          <a:p>
            <a:r>
              <a:rPr lang="en-US" sz="1100" b="1" kern="0" spc="200" dirty="0">
                <a:solidFill>
                  <a:srgbClr val="0E7DAD"/>
                </a:solidFill>
                <a:latin typeface="Calibri" pitchFamily="34" charset="0"/>
                <a:ea typeface="Calibri" pitchFamily="34" charset="-122"/>
                <a:cs typeface="Calibri" pitchFamily="34" charset="-120"/>
              </a:rPr>
              <a:t>DEVELOPMENTS</a:t>
            </a:r>
            <a:endParaRPr lang="en-US" sz="1100" b="1" dirty="0">
              <a:solidFill>
                <a:srgbClr val="0E7DAD"/>
              </a:solidFill>
            </a:endParaRPr>
          </a:p>
        </p:txBody>
      </p:sp>
    </p:spTree>
    <p:extLst>
      <p:ext uri="{BB962C8B-B14F-4D97-AF65-F5344CB8AC3E}">
        <p14:creationId xmlns:p14="http://schemas.microsoft.com/office/powerpoint/2010/main" val="3194175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28D64-597A-C54C-9F2E-70F0D28095A0}"/>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504F20D1-68BB-2751-73F2-CA5AA4756BA9}"/>
              </a:ext>
            </a:extLst>
          </p:cNvPr>
          <p:cNvSpPr>
            <a:spLocks noGrp="1"/>
          </p:cNvSpPr>
          <p:nvPr>
            <p:ph type="title"/>
          </p:nvPr>
        </p:nvSpPr>
        <p:spPr/>
        <p:txBody>
          <a:bodyPr/>
          <a:lstStyle/>
          <a:p>
            <a:r>
              <a:rPr lang="it-IT" dirty="0" err="1"/>
              <a:t>Validation</a:t>
            </a:r>
            <a:r>
              <a:rPr lang="it-IT" dirty="0"/>
              <a:t> and Advanced Debugging</a:t>
            </a:r>
          </a:p>
        </p:txBody>
      </p:sp>
    </p:spTree>
    <p:extLst>
      <p:ext uri="{BB962C8B-B14F-4D97-AF65-F5344CB8AC3E}">
        <p14:creationId xmlns:p14="http://schemas.microsoft.com/office/powerpoint/2010/main" val="2361619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F65DA-1BD2-758B-DD1E-A7D930280AC8}"/>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3AE8C3D7-4189-F75F-6FC0-BB38BF7BBC41}"/>
              </a:ext>
            </a:extLst>
          </p:cNvPr>
          <p:cNvSpPr>
            <a:spLocks noGrp="1"/>
          </p:cNvSpPr>
          <p:nvPr>
            <p:ph type="title"/>
          </p:nvPr>
        </p:nvSpPr>
        <p:spPr>
          <a:xfrm>
            <a:off x="-173619" y="-1"/>
            <a:ext cx="12082816" cy="1304925"/>
          </a:xfrm>
        </p:spPr>
        <p:txBody>
          <a:bodyPr/>
          <a:lstStyle/>
          <a:p>
            <a:r>
              <a:rPr lang="en-US" b="1" dirty="0">
                <a:solidFill>
                  <a:srgbClr val="0B2545"/>
                </a:solidFill>
                <a:latin typeface="Cambria" pitchFamily="34" charset="0"/>
                <a:ea typeface="Cambria" pitchFamily="34" charset="-122"/>
                <a:cs typeface="Cambria" pitchFamily="34" charset="-120"/>
              </a:rPr>
              <a:t>PCAN-View &amp; TRACE32 Debugging</a:t>
            </a:r>
            <a:endParaRPr lang="it-IT" dirty="0"/>
          </a:p>
        </p:txBody>
      </p:sp>
      <p:sp>
        <p:nvSpPr>
          <p:cNvPr id="4" name="Text 0">
            <a:extLst>
              <a:ext uri="{FF2B5EF4-FFF2-40B4-BE49-F238E27FC236}">
                <a16:creationId xmlns:a16="http://schemas.microsoft.com/office/drawing/2014/main" id="{24D05F02-B8DA-2216-DF8F-05642CB83ABA}"/>
              </a:ext>
            </a:extLst>
          </p:cNvPr>
          <p:cNvSpPr/>
          <p:nvPr/>
        </p:nvSpPr>
        <p:spPr>
          <a:xfrm>
            <a:off x="10783503" y="189297"/>
            <a:ext cx="7315200" cy="310896"/>
          </a:xfrm>
          <a:prstGeom prst="rect">
            <a:avLst/>
          </a:prstGeom>
          <a:noFill/>
          <a:ln/>
        </p:spPr>
        <p:txBody>
          <a:bodyPr wrap="square" lIns="0" tIns="0" rIns="0" bIns="0"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DEBUGGING</a:t>
            </a:r>
            <a:endParaRPr lang="en-US" sz="1100" dirty="0">
              <a:solidFill>
                <a:srgbClr val="0E7DAD"/>
              </a:solidFill>
            </a:endParaRPr>
          </a:p>
        </p:txBody>
      </p:sp>
      <p:sp>
        <p:nvSpPr>
          <p:cNvPr id="6" name="Text 2">
            <a:extLst>
              <a:ext uri="{FF2B5EF4-FFF2-40B4-BE49-F238E27FC236}">
                <a16:creationId xmlns:a16="http://schemas.microsoft.com/office/drawing/2014/main" id="{1A25F451-D6FE-68CC-3333-B3610C1465AF}"/>
              </a:ext>
            </a:extLst>
          </p:cNvPr>
          <p:cNvSpPr/>
          <p:nvPr/>
        </p:nvSpPr>
        <p:spPr>
          <a:xfrm>
            <a:off x="548640" y="1115568"/>
            <a:ext cx="11064240" cy="457200"/>
          </a:xfrm>
          <a:prstGeom prst="rect">
            <a:avLst/>
          </a:prstGeom>
          <a:noFill/>
          <a:ln/>
        </p:spPr>
        <p:txBody>
          <a:bodyPr wrap="square" lIns="0" tIns="0" rIns="0" bIns="0" rtlCol="0" anchor="ctr"/>
          <a:lstStyle/>
          <a:p>
            <a:pPr>
              <a:lnSpc>
                <a:spcPct val="120000"/>
              </a:lnSpc>
            </a:pPr>
            <a:r>
              <a:rPr lang="en-US" dirty="0">
                <a:solidFill>
                  <a:srgbClr val="5B6B7F"/>
                </a:solidFill>
                <a:latin typeface="Calibri" pitchFamily="34" charset="0"/>
                <a:ea typeface="Calibri" pitchFamily="34" charset="-122"/>
                <a:cs typeface="Calibri" pitchFamily="34" charset="-120"/>
              </a:rPr>
              <a:t>The combined use of PCAN-View and TRACE32 allowed dynamic debugging to be performed in real time, from the Dyno to the microcontroller.</a:t>
            </a:r>
            <a:endParaRPr lang="en-US" dirty="0"/>
          </a:p>
        </p:txBody>
      </p:sp>
      <p:sp>
        <p:nvSpPr>
          <p:cNvPr id="8" name="Shape 3">
            <a:extLst>
              <a:ext uri="{FF2B5EF4-FFF2-40B4-BE49-F238E27FC236}">
                <a16:creationId xmlns:a16="http://schemas.microsoft.com/office/drawing/2014/main" id="{D88B396A-2734-323A-012A-0845A07DB9FB}"/>
              </a:ext>
            </a:extLst>
          </p:cNvPr>
          <p:cNvSpPr/>
          <p:nvPr/>
        </p:nvSpPr>
        <p:spPr>
          <a:xfrm>
            <a:off x="548640" y="1783080"/>
            <a:ext cx="2574036" cy="1737360"/>
          </a:xfrm>
          <a:prstGeom prst="roundRect">
            <a:avLst>
              <a:gd name="adj" fmla="val 4211"/>
            </a:avLst>
          </a:prstGeom>
          <a:solidFill>
            <a:srgbClr val="F2F7FB"/>
          </a:solidFill>
          <a:ln w="12700">
            <a:solidFill>
              <a:srgbClr val="E3E9F0"/>
            </a:solidFill>
            <a:prstDash val="solid"/>
          </a:ln>
        </p:spPr>
        <p:txBody>
          <a:bodyPr/>
          <a:lstStyle/>
          <a:p>
            <a:endParaRPr lang="it-IT" sz="1100"/>
          </a:p>
        </p:txBody>
      </p:sp>
      <p:sp>
        <p:nvSpPr>
          <p:cNvPr id="10" name="Shape 4">
            <a:extLst>
              <a:ext uri="{FF2B5EF4-FFF2-40B4-BE49-F238E27FC236}">
                <a16:creationId xmlns:a16="http://schemas.microsoft.com/office/drawing/2014/main" id="{1E7415BC-8C31-CF83-9182-A4A3DB3AFE7E}"/>
              </a:ext>
            </a:extLst>
          </p:cNvPr>
          <p:cNvSpPr/>
          <p:nvPr/>
        </p:nvSpPr>
        <p:spPr>
          <a:xfrm>
            <a:off x="749808" y="1984248"/>
            <a:ext cx="365760" cy="365760"/>
          </a:xfrm>
          <a:prstGeom prst="ellipse">
            <a:avLst/>
          </a:prstGeom>
          <a:solidFill>
            <a:srgbClr val="0B2545"/>
          </a:solidFill>
          <a:ln/>
        </p:spPr>
        <p:txBody>
          <a:bodyPr/>
          <a:lstStyle/>
          <a:p>
            <a:endParaRPr lang="it-IT" sz="1100"/>
          </a:p>
        </p:txBody>
      </p:sp>
      <p:sp>
        <p:nvSpPr>
          <p:cNvPr id="12" name="Text 5">
            <a:extLst>
              <a:ext uri="{FF2B5EF4-FFF2-40B4-BE49-F238E27FC236}">
                <a16:creationId xmlns:a16="http://schemas.microsoft.com/office/drawing/2014/main" id="{57840800-5A17-013C-5F66-344BD20D961B}"/>
              </a:ext>
            </a:extLst>
          </p:cNvPr>
          <p:cNvSpPr/>
          <p:nvPr/>
        </p:nvSpPr>
        <p:spPr>
          <a:xfrm>
            <a:off x="749808" y="198424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6">
            <a:extLst>
              <a:ext uri="{FF2B5EF4-FFF2-40B4-BE49-F238E27FC236}">
                <a16:creationId xmlns:a16="http://schemas.microsoft.com/office/drawing/2014/main" id="{A8B81FA0-2C84-7B51-6D77-663F19B55557}"/>
              </a:ext>
            </a:extLst>
          </p:cNvPr>
          <p:cNvSpPr/>
          <p:nvPr/>
        </p:nvSpPr>
        <p:spPr>
          <a:xfrm>
            <a:off x="749808" y="2441448"/>
            <a:ext cx="2171700" cy="274320"/>
          </a:xfrm>
          <a:prstGeom prst="rect">
            <a:avLst/>
          </a:prstGeom>
          <a:noFill/>
          <a:ln/>
        </p:spPr>
        <p:txBody>
          <a:bodyPr wrap="square" lIns="0" tIns="0" rIns="0" bIns="0" rtlCol="0" anchor="ctr"/>
          <a:lstStyle/>
          <a:p>
            <a:r>
              <a:rPr lang="en-US" sz="1500" b="1" dirty="0">
                <a:solidFill>
                  <a:srgbClr val="0B2545"/>
                </a:solidFill>
                <a:latin typeface="Calibri" pitchFamily="34" charset="0"/>
                <a:ea typeface="Calibri" pitchFamily="34" charset="-122"/>
                <a:cs typeface="Calibri" pitchFamily="34" charset="-120"/>
              </a:rPr>
              <a:t>Frame Injection </a:t>
            </a:r>
            <a:endParaRPr lang="en-US" sz="1500" dirty="0"/>
          </a:p>
        </p:txBody>
      </p:sp>
      <p:sp>
        <p:nvSpPr>
          <p:cNvPr id="16" name="Text 7">
            <a:extLst>
              <a:ext uri="{FF2B5EF4-FFF2-40B4-BE49-F238E27FC236}">
                <a16:creationId xmlns:a16="http://schemas.microsoft.com/office/drawing/2014/main" id="{9FC97B50-7FF9-65B5-0534-04C4359BCCB9}"/>
              </a:ext>
            </a:extLst>
          </p:cNvPr>
          <p:cNvSpPr/>
          <p:nvPr/>
        </p:nvSpPr>
        <p:spPr>
          <a:xfrm>
            <a:off x="749808" y="2688336"/>
            <a:ext cx="2171700" cy="228600"/>
          </a:xfrm>
          <a:prstGeom prst="rect">
            <a:avLst/>
          </a:prstGeom>
          <a:noFill/>
          <a:ln/>
        </p:spPr>
        <p:txBody>
          <a:bodyPr wrap="square" lIns="0" tIns="0" rIns="0" bIns="0" rtlCol="0" anchor="ctr"/>
          <a:lstStyle/>
          <a:p>
            <a:pPr marL="0" indent="0">
              <a:buNone/>
            </a:pPr>
            <a:r>
              <a:rPr lang="en-US" sz="1500" dirty="0">
                <a:solidFill>
                  <a:srgbClr val="00B4D8"/>
                </a:solidFill>
                <a:latin typeface="Calibri" pitchFamily="34" charset="0"/>
                <a:ea typeface="Calibri" pitchFamily="34" charset="-122"/>
                <a:cs typeface="Calibri" pitchFamily="34" charset="-120"/>
              </a:rPr>
              <a:t>(PCAN-USB FD)</a:t>
            </a:r>
            <a:endParaRPr lang="en-US" sz="1500" dirty="0"/>
          </a:p>
        </p:txBody>
      </p:sp>
      <p:sp>
        <p:nvSpPr>
          <p:cNvPr id="18" name="Text 8">
            <a:extLst>
              <a:ext uri="{FF2B5EF4-FFF2-40B4-BE49-F238E27FC236}">
                <a16:creationId xmlns:a16="http://schemas.microsoft.com/office/drawing/2014/main" id="{F3316B06-A5EC-D43D-260B-916EEE7F97F8}"/>
              </a:ext>
            </a:extLst>
          </p:cNvPr>
          <p:cNvSpPr/>
          <p:nvPr/>
        </p:nvSpPr>
        <p:spPr>
          <a:xfrm>
            <a:off x="749808" y="2953512"/>
            <a:ext cx="2171700" cy="502920"/>
          </a:xfrm>
          <a:prstGeom prst="rect">
            <a:avLst/>
          </a:prstGeom>
          <a:noFill/>
          <a:ln/>
        </p:spPr>
        <p:txBody>
          <a:bodyPr wrap="square" lIns="0" tIns="0" rIns="0" bIns="0" rtlCol="0" anchor="t"/>
          <a:lstStyle/>
          <a:p>
            <a:pPr>
              <a:lnSpc>
                <a:spcPct val="115000"/>
              </a:lnSpc>
            </a:pPr>
            <a:r>
              <a:rPr lang="en-US" sz="1100">
                <a:solidFill>
                  <a:srgbClr val="1B1F27"/>
                </a:solidFill>
                <a:latin typeface="Calibri" pitchFamily="34" charset="0"/>
                <a:ea typeface="Calibri" pitchFamily="34" charset="-122"/>
                <a:cs typeface="Calibri" pitchFamily="34" charset="-120"/>
              </a:rPr>
              <a:t>Transmission of custom CAN frames with test parameters.</a:t>
            </a:r>
            <a:endParaRPr lang="en-US" sz="1100" dirty="0"/>
          </a:p>
        </p:txBody>
      </p:sp>
      <p:sp>
        <p:nvSpPr>
          <p:cNvPr id="20" name="Shape 9">
            <a:extLst>
              <a:ext uri="{FF2B5EF4-FFF2-40B4-BE49-F238E27FC236}">
                <a16:creationId xmlns:a16="http://schemas.microsoft.com/office/drawing/2014/main" id="{BC61ECFF-CA58-B61A-C531-F955BE678E2B}"/>
              </a:ext>
            </a:extLst>
          </p:cNvPr>
          <p:cNvSpPr/>
          <p:nvPr/>
        </p:nvSpPr>
        <p:spPr>
          <a:xfrm>
            <a:off x="3150108" y="2651760"/>
            <a:ext cx="201168" cy="0"/>
          </a:xfrm>
          <a:prstGeom prst="line">
            <a:avLst/>
          </a:prstGeom>
          <a:noFill/>
          <a:ln w="19050">
            <a:solidFill>
              <a:srgbClr val="8DA9C4"/>
            </a:solidFill>
            <a:prstDash val="solid"/>
            <a:tailEnd type="triangle"/>
          </a:ln>
        </p:spPr>
        <p:txBody>
          <a:bodyPr/>
          <a:lstStyle/>
          <a:p>
            <a:endParaRPr lang="it-IT" sz="1100"/>
          </a:p>
        </p:txBody>
      </p:sp>
      <p:sp>
        <p:nvSpPr>
          <p:cNvPr id="22" name="Shape 10">
            <a:extLst>
              <a:ext uri="{FF2B5EF4-FFF2-40B4-BE49-F238E27FC236}">
                <a16:creationId xmlns:a16="http://schemas.microsoft.com/office/drawing/2014/main" id="{2DD42B4D-EAAD-D35F-60DE-A7FE7BB37D48}"/>
              </a:ext>
            </a:extLst>
          </p:cNvPr>
          <p:cNvSpPr/>
          <p:nvPr/>
        </p:nvSpPr>
        <p:spPr>
          <a:xfrm>
            <a:off x="3378708" y="1783080"/>
            <a:ext cx="2574036" cy="1737360"/>
          </a:xfrm>
          <a:prstGeom prst="roundRect">
            <a:avLst>
              <a:gd name="adj" fmla="val 4211"/>
            </a:avLst>
          </a:prstGeom>
          <a:solidFill>
            <a:srgbClr val="F2F7FB"/>
          </a:solidFill>
          <a:ln w="12700">
            <a:solidFill>
              <a:srgbClr val="E3E9F0"/>
            </a:solidFill>
            <a:prstDash val="solid"/>
          </a:ln>
        </p:spPr>
        <p:txBody>
          <a:bodyPr/>
          <a:lstStyle/>
          <a:p>
            <a:endParaRPr lang="it-IT" sz="1100"/>
          </a:p>
        </p:txBody>
      </p:sp>
      <p:sp>
        <p:nvSpPr>
          <p:cNvPr id="24" name="Shape 11">
            <a:extLst>
              <a:ext uri="{FF2B5EF4-FFF2-40B4-BE49-F238E27FC236}">
                <a16:creationId xmlns:a16="http://schemas.microsoft.com/office/drawing/2014/main" id="{CB78461D-5E58-0A2E-E558-368A4F1FEFFF}"/>
              </a:ext>
            </a:extLst>
          </p:cNvPr>
          <p:cNvSpPr/>
          <p:nvPr/>
        </p:nvSpPr>
        <p:spPr>
          <a:xfrm>
            <a:off x="3579876" y="1984248"/>
            <a:ext cx="365760" cy="365760"/>
          </a:xfrm>
          <a:prstGeom prst="ellipse">
            <a:avLst/>
          </a:prstGeom>
          <a:solidFill>
            <a:srgbClr val="0B2545"/>
          </a:solidFill>
          <a:ln/>
        </p:spPr>
        <p:txBody>
          <a:bodyPr/>
          <a:lstStyle/>
          <a:p>
            <a:endParaRPr lang="it-IT" sz="1100"/>
          </a:p>
        </p:txBody>
      </p:sp>
      <p:sp>
        <p:nvSpPr>
          <p:cNvPr id="26" name="Text 12">
            <a:extLst>
              <a:ext uri="{FF2B5EF4-FFF2-40B4-BE49-F238E27FC236}">
                <a16:creationId xmlns:a16="http://schemas.microsoft.com/office/drawing/2014/main" id="{E0809040-19DE-3A83-3976-F00D9E6386DC}"/>
              </a:ext>
            </a:extLst>
          </p:cNvPr>
          <p:cNvSpPr/>
          <p:nvPr/>
        </p:nvSpPr>
        <p:spPr>
          <a:xfrm>
            <a:off x="3579876" y="198424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8" name="Text 13">
            <a:extLst>
              <a:ext uri="{FF2B5EF4-FFF2-40B4-BE49-F238E27FC236}">
                <a16:creationId xmlns:a16="http://schemas.microsoft.com/office/drawing/2014/main" id="{B826E89E-A0FE-4183-30D5-5CF214E71A7D}"/>
              </a:ext>
            </a:extLst>
          </p:cNvPr>
          <p:cNvSpPr/>
          <p:nvPr/>
        </p:nvSpPr>
        <p:spPr>
          <a:xfrm>
            <a:off x="3579876" y="2441448"/>
            <a:ext cx="2171700" cy="27432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FDCAN Interrupt</a:t>
            </a:r>
            <a:endParaRPr lang="en-US" sz="1500" dirty="0"/>
          </a:p>
        </p:txBody>
      </p:sp>
      <p:sp>
        <p:nvSpPr>
          <p:cNvPr id="30" name="Text 14">
            <a:extLst>
              <a:ext uri="{FF2B5EF4-FFF2-40B4-BE49-F238E27FC236}">
                <a16:creationId xmlns:a16="http://schemas.microsoft.com/office/drawing/2014/main" id="{CF453B0F-59D8-C3F4-D5A2-93A1F0D9EC82}"/>
              </a:ext>
            </a:extLst>
          </p:cNvPr>
          <p:cNvSpPr/>
          <p:nvPr/>
        </p:nvSpPr>
        <p:spPr>
          <a:xfrm>
            <a:off x="3579876" y="2688336"/>
            <a:ext cx="2171700" cy="228600"/>
          </a:xfrm>
          <a:prstGeom prst="rect">
            <a:avLst/>
          </a:prstGeom>
          <a:noFill/>
          <a:ln/>
        </p:spPr>
        <p:txBody>
          <a:bodyPr wrap="square" lIns="0" tIns="0" rIns="0" bIns="0" rtlCol="0" anchor="ctr"/>
          <a:lstStyle/>
          <a:p>
            <a:pPr marL="0" indent="0">
              <a:buNone/>
            </a:pPr>
            <a:r>
              <a:rPr lang="en-US" sz="1500" dirty="0">
                <a:solidFill>
                  <a:srgbClr val="00B4D8"/>
                </a:solidFill>
                <a:latin typeface="Calibri" pitchFamily="34" charset="0"/>
                <a:ea typeface="Calibri" pitchFamily="34" charset="-122"/>
                <a:cs typeface="Calibri" pitchFamily="34" charset="-120"/>
              </a:rPr>
              <a:t>(Stellar-E)</a:t>
            </a:r>
            <a:endParaRPr lang="en-US" sz="1500" dirty="0"/>
          </a:p>
        </p:txBody>
      </p:sp>
      <p:sp>
        <p:nvSpPr>
          <p:cNvPr id="32" name="Text 15">
            <a:extLst>
              <a:ext uri="{FF2B5EF4-FFF2-40B4-BE49-F238E27FC236}">
                <a16:creationId xmlns:a16="http://schemas.microsoft.com/office/drawing/2014/main" id="{97BC7BEE-4DDF-486E-2088-102B559B984F}"/>
              </a:ext>
            </a:extLst>
          </p:cNvPr>
          <p:cNvSpPr/>
          <p:nvPr/>
        </p:nvSpPr>
        <p:spPr>
          <a:xfrm>
            <a:off x="3579876" y="2953512"/>
            <a:ext cx="2171700" cy="502920"/>
          </a:xfrm>
          <a:prstGeom prst="rect">
            <a:avLst/>
          </a:prstGeom>
          <a:noFill/>
          <a:ln/>
        </p:spPr>
        <p:txBody>
          <a:bodyPr wrap="square" lIns="0" tIns="0" rIns="0" bIns="0" rtlCol="0" anchor="t"/>
          <a:lstStyle/>
          <a:p>
            <a:pPr>
              <a:lnSpc>
                <a:spcPct val="115000"/>
              </a:lnSpc>
            </a:pPr>
            <a:r>
              <a:rPr lang="en-US" sz="1100" dirty="0">
                <a:solidFill>
                  <a:srgbClr val="1B1F27"/>
                </a:solidFill>
                <a:latin typeface="Calibri" pitchFamily="34" charset="0"/>
                <a:ea typeface="Calibri" pitchFamily="34" charset="-122"/>
                <a:cs typeface="Calibri" pitchFamily="34" charset="-120"/>
              </a:rPr>
              <a:t>Instant trigger of IRQ_CAN1_LINE0_HANDLER upon frame arrival.</a:t>
            </a:r>
            <a:endParaRPr lang="en-US" sz="1100" dirty="0"/>
          </a:p>
        </p:txBody>
      </p:sp>
      <p:sp>
        <p:nvSpPr>
          <p:cNvPr id="34" name="Shape 16">
            <a:extLst>
              <a:ext uri="{FF2B5EF4-FFF2-40B4-BE49-F238E27FC236}">
                <a16:creationId xmlns:a16="http://schemas.microsoft.com/office/drawing/2014/main" id="{1F286CE9-9365-C05A-FDE2-0C11F94BC45E}"/>
              </a:ext>
            </a:extLst>
          </p:cNvPr>
          <p:cNvSpPr/>
          <p:nvPr/>
        </p:nvSpPr>
        <p:spPr>
          <a:xfrm>
            <a:off x="5980176" y="2651760"/>
            <a:ext cx="201168" cy="0"/>
          </a:xfrm>
          <a:prstGeom prst="line">
            <a:avLst/>
          </a:prstGeom>
          <a:noFill/>
          <a:ln w="19050">
            <a:solidFill>
              <a:srgbClr val="8DA9C4"/>
            </a:solidFill>
            <a:prstDash val="solid"/>
            <a:tailEnd type="triangle"/>
          </a:ln>
        </p:spPr>
        <p:txBody>
          <a:bodyPr/>
          <a:lstStyle/>
          <a:p>
            <a:endParaRPr lang="it-IT" sz="1100"/>
          </a:p>
        </p:txBody>
      </p:sp>
      <p:sp>
        <p:nvSpPr>
          <p:cNvPr id="36" name="Shape 17">
            <a:extLst>
              <a:ext uri="{FF2B5EF4-FFF2-40B4-BE49-F238E27FC236}">
                <a16:creationId xmlns:a16="http://schemas.microsoft.com/office/drawing/2014/main" id="{5C79FE21-E686-0581-49D8-112176846C33}"/>
              </a:ext>
            </a:extLst>
          </p:cNvPr>
          <p:cNvSpPr/>
          <p:nvPr/>
        </p:nvSpPr>
        <p:spPr>
          <a:xfrm>
            <a:off x="6208776" y="1783080"/>
            <a:ext cx="2574036" cy="1737360"/>
          </a:xfrm>
          <a:prstGeom prst="roundRect">
            <a:avLst>
              <a:gd name="adj" fmla="val 4211"/>
            </a:avLst>
          </a:prstGeom>
          <a:solidFill>
            <a:srgbClr val="F2F7FB"/>
          </a:solidFill>
          <a:ln w="12700">
            <a:solidFill>
              <a:srgbClr val="E3E9F0"/>
            </a:solidFill>
            <a:prstDash val="solid"/>
          </a:ln>
        </p:spPr>
        <p:txBody>
          <a:bodyPr/>
          <a:lstStyle/>
          <a:p>
            <a:endParaRPr lang="it-IT" sz="1100"/>
          </a:p>
        </p:txBody>
      </p:sp>
      <p:sp>
        <p:nvSpPr>
          <p:cNvPr id="38" name="Shape 18">
            <a:extLst>
              <a:ext uri="{FF2B5EF4-FFF2-40B4-BE49-F238E27FC236}">
                <a16:creationId xmlns:a16="http://schemas.microsoft.com/office/drawing/2014/main" id="{82DC51B3-11EB-76E6-177C-D35259F93FDD}"/>
              </a:ext>
            </a:extLst>
          </p:cNvPr>
          <p:cNvSpPr/>
          <p:nvPr/>
        </p:nvSpPr>
        <p:spPr>
          <a:xfrm>
            <a:off x="6409944" y="1984248"/>
            <a:ext cx="365760" cy="365760"/>
          </a:xfrm>
          <a:prstGeom prst="ellipse">
            <a:avLst/>
          </a:prstGeom>
          <a:solidFill>
            <a:srgbClr val="0B2545"/>
          </a:solidFill>
          <a:ln/>
        </p:spPr>
        <p:txBody>
          <a:bodyPr/>
          <a:lstStyle/>
          <a:p>
            <a:endParaRPr lang="it-IT" sz="1100"/>
          </a:p>
        </p:txBody>
      </p:sp>
      <p:sp>
        <p:nvSpPr>
          <p:cNvPr id="40" name="Text 19">
            <a:extLst>
              <a:ext uri="{FF2B5EF4-FFF2-40B4-BE49-F238E27FC236}">
                <a16:creationId xmlns:a16="http://schemas.microsoft.com/office/drawing/2014/main" id="{B59C43D5-BDD1-6E5F-AFD3-E57F7F8F1E21}"/>
              </a:ext>
            </a:extLst>
          </p:cNvPr>
          <p:cNvSpPr/>
          <p:nvPr/>
        </p:nvSpPr>
        <p:spPr>
          <a:xfrm>
            <a:off x="6409944" y="198424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42" name="Text 20">
            <a:extLst>
              <a:ext uri="{FF2B5EF4-FFF2-40B4-BE49-F238E27FC236}">
                <a16:creationId xmlns:a16="http://schemas.microsoft.com/office/drawing/2014/main" id="{B13B7E9C-9525-0CAF-D046-6AB14EFFF1F5}"/>
              </a:ext>
            </a:extLst>
          </p:cNvPr>
          <p:cNvSpPr/>
          <p:nvPr/>
        </p:nvSpPr>
        <p:spPr>
          <a:xfrm>
            <a:off x="6409944" y="2441448"/>
            <a:ext cx="2171700" cy="27432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Step-by-Step Execution</a:t>
            </a:r>
            <a:endParaRPr lang="en-US" sz="1500" dirty="0"/>
          </a:p>
        </p:txBody>
      </p:sp>
      <p:sp>
        <p:nvSpPr>
          <p:cNvPr id="44" name="Text 21">
            <a:extLst>
              <a:ext uri="{FF2B5EF4-FFF2-40B4-BE49-F238E27FC236}">
                <a16:creationId xmlns:a16="http://schemas.microsoft.com/office/drawing/2014/main" id="{FB780B68-5C1C-F77A-5779-E347F13F1DC0}"/>
              </a:ext>
            </a:extLst>
          </p:cNvPr>
          <p:cNvSpPr/>
          <p:nvPr/>
        </p:nvSpPr>
        <p:spPr>
          <a:xfrm>
            <a:off x="6409944" y="2688336"/>
            <a:ext cx="2171700" cy="228600"/>
          </a:xfrm>
          <a:prstGeom prst="rect">
            <a:avLst/>
          </a:prstGeom>
          <a:noFill/>
          <a:ln/>
        </p:spPr>
        <p:txBody>
          <a:bodyPr wrap="square" lIns="0" tIns="0" rIns="0" bIns="0" rtlCol="0" anchor="ctr"/>
          <a:lstStyle/>
          <a:p>
            <a:pPr marL="0" indent="0">
              <a:buNone/>
            </a:pPr>
            <a:r>
              <a:rPr lang="en-US" sz="1500" dirty="0">
                <a:solidFill>
                  <a:srgbClr val="00B4D8"/>
                </a:solidFill>
                <a:latin typeface="Calibri" pitchFamily="34" charset="0"/>
                <a:ea typeface="Calibri" pitchFamily="34" charset="-122"/>
                <a:cs typeface="Calibri" pitchFamily="34" charset="-120"/>
              </a:rPr>
              <a:t>(TRACE32)</a:t>
            </a:r>
            <a:endParaRPr lang="en-US" sz="1500" dirty="0"/>
          </a:p>
        </p:txBody>
      </p:sp>
      <p:sp>
        <p:nvSpPr>
          <p:cNvPr id="46" name="Text 22">
            <a:extLst>
              <a:ext uri="{FF2B5EF4-FFF2-40B4-BE49-F238E27FC236}">
                <a16:creationId xmlns:a16="http://schemas.microsoft.com/office/drawing/2014/main" id="{028E37D5-19F8-5FE0-3C04-903F263E2315}"/>
              </a:ext>
            </a:extLst>
          </p:cNvPr>
          <p:cNvSpPr/>
          <p:nvPr/>
        </p:nvSpPr>
        <p:spPr>
          <a:xfrm>
            <a:off x="6409944" y="2953512"/>
            <a:ext cx="2171700" cy="502920"/>
          </a:xfrm>
          <a:prstGeom prst="rect">
            <a:avLst/>
          </a:prstGeom>
          <a:noFill/>
          <a:ln/>
        </p:spPr>
        <p:txBody>
          <a:bodyPr wrap="square" lIns="0" tIns="0" rIns="0" bIns="0" rtlCol="0" anchor="t"/>
          <a:lstStyle/>
          <a:p>
            <a:pPr marL="0" indent="0">
              <a:lnSpc>
                <a:spcPct val="100000"/>
              </a:lnSpc>
              <a:buNone/>
            </a:pPr>
            <a:r>
              <a:rPr lang="en-US" sz="1100" dirty="0">
                <a:solidFill>
                  <a:srgbClr val="1B1F27"/>
                </a:solidFill>
                <a:latin typeface="Calibri" pitchFamily="34" charset="0"/>
                <a:ea typeface="Calibri" pitchFamily="34" charset="-122"/>
                <a:cs typeface="Calibri" pitchFamily="34" charset="-120"/>
              </a:rPr>
              <a:t>Breakpoint in DYNO2DWProtocol():  verification of payload unpacking, UI, and Motor Control functions.</a:t>
            </a:r>
            <a:endParaRPr lang="en-US" sz="1100" dirty="0"/>
          </a:p>
        </p:txBody>
      </p:sp>
      <p:sp>
        <p:nvSpPr>
          <p:cNvPr id="48" name="Shape 23">
            <a:extLst>
              <a:ext uri="{FF2B5EF4-FFF2-40B4-BE49-F238E27FC236}">
                <a16:creationId xmlns:a16="http://schemas.microsoft.com/office/drawing/2014/main" id="{255BC0D6-4666-6809-3CDD-2B17F3A66E67}"/>
              </a:ext>
            </a:extLst>
          </p:cNvPr>
          <p:cNvSpPr/>
          <p:nvPr/>
        </p:nvSpPr>
        <p:spPr>
          <a:xfrm>
            <a:off x="8810244" y="2651760"/>
            <a:ext cx="201168" cy="0"/>
          </a:xfrm>
          <a:prstGeom prst="line">
            <a:avLst/>
          </a:prstGeom>
          <a:noFill/>
          <a:ln w="19050">
            <a:solidFill>
              <a:srgbClr val="8DA9C4"/>
            </a:solidFill>
            <a:prstDash val="solid"/>
            <a:tailEnd type="triangle"/>
          </a:ln>
        </p:spPr>
        <p:txBody>
          <a:bodyPr/>
          <a:lstStyle/>
          <a:p>
            <a:endParaRPr lang="it-IT" sz="1100"/>
          </a:p>
        </p:txBody>
      </p:sp>
      <p:sp>
        <p:nvSpPr>
          <p:cNvPr id="50" name="Shape 24">
            <a:extLst>
              <a:ext uri="{FF2B5EF4-FFF2-40B4-BE49-F238E27FC236}">
                <a16:creationId xmlns:a16="http://schemas.microsoft.com/office/drawing/2014/main" id="{49D79DF1-09B9-9CAF-9FBB-0D973BDEF98A}"/>
              </a:ext>
            </a:extLst>
          </p:cNvPr>
          <p:cNvSpPr/>
          <p:nvPr/>
        </p:nvSpPr>
        <p:spPr>
          <a:xfrm>
            <a:off x="9038844" y="1783080"/>
            <a:ext cx="2574036" cy="1737360"/>
          </a:xfrm>
          <a:prstGeom prst="roundRect">
            <a:avLst>
              <a:gd name="adj" fmla="val 4211"/>
            </a:avLst>
          </a:prstGeom>
          <a:solidFill>
            <a:srgbClr val="F2F7FB"/>
          </a:solidFill>
          <a:ln w="12700">
            <a:solidFill>
              <a:srgbClr val="E3E9F0"/>
            </a:solidFill>
            <a:prstDash val="solid"/>
          </a:ln>
        </p:spPr>
        <p:txBody>
          <a:bodyPr/>
          <a:lstStyle/>
          <a:p>
            <a:endParaRPr lang="it-IT" sz="1100"/>
          </a:p>
        </p:txBody>
      </p:sp>
      <p:sp>
        <p:nvSpPr>
          <p:cNvPr id="52" name="Shape 25">
            <a:extLst>
              <a:ext uri="{FF2B5EF4-FFF2-40B4-BE49-F238E27FC236}">
                <a16:creationId xmlns:a16="http://schemas.microsoft.com/office/drawing/2014/main" id="{0D835A36-0861-D692-273A-6AF73C0A9854}"/>
              </a:ext>
            </a:extLst>
          </p:cNvPr>
          <p:cNvSpPr/>
          <p:nvPr/>
        </p:nvSpPr>
        <p:spPr>
          <a:xfrm>
            <a:off x="9240012" y="1984248"/>
            <a:ext cx="365760" cy="365760"/>
          </a:xfrm>
          <a:prstGeom prst="ellipse">
            <a:avLst/>
          </a:prstGeom>
          <a:solidFill>
            <a:srgbClr val="0B2545"/>
          </a:solidFill>
          <a:ln/>
        </p:spPr>
        <p:txBody>
          <a:bodyPr/>
          <a:lstStyle/>
          <a:p>
            <a:endParaRPr lang="it-IT" sz="1100"/>
          </a:p>
        </p:txBody>
      </p:sp>
      <p:sp>
        <p:nvSpPr>
          <p:cNvPr id="54" name="Text 26">
            <a:extLst>
              <a:ext uri="{FF2B5EF4-FFF2-40B4-BE49-F238E27FC236}">
                <a16:creationId xmlns:a16="http://schemas.microsoft.com/office/drawing/2014/main" id="{7F89AB32-0346-FEC6-CD96-5DFEBB9E1B7A}"/>
              </a:ext>
            </a:extLst>
          </p:cNvPr>
          <p:cNvSpPr/>
          <p:nvPr/>
        </p:nvSpPr>
        <p:spPr>
          <a:xfrm>
            <a:off x="9240012" y="198424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56" name="Text 27">
            <a:extLst>
              <a:ext uri="{FF2B5EF4-FFF2-40B4-BE49-F238E27FC236}">
                <a16:creationId xmlns:a16="http://schemas.microsoft.com/office/drawing/2014/main" id="{1F7BD9C8-46A0-3419-1067-99A193530266}"/>
              </a:ext>
            </a:extLst>
          </p:cNvPr>
          <p:cNvSpPr/>
          <p:nvPr/>
        </p:nvSpPr>
        <p:spPr>
          <a:xfrm>
            <a:off x="9240012" y="2441448"/>
            <a:ext cx="2171700" cy="274320"/>
          </a:xfrm>
          <a:prstGeom prst="rect">
            <a:avLst/>
          </a:prstGeom>
          <a:noFill/>
          <a:ln/>
        </p:spPr>
        <p:txBody>
          <a:bodyPr wrap="square" lIns="0" tIns="0" rIns="0" bIns="0" rtlCol="0" anchor="ctr"/>
          <a:lstStyle/>
          <a:p>
            <a:r>
              <a:rPr lang="en-US" sz="1500" b="1">
                <a:solidFill>
                  <a:srgbClr val="0B2545"/>
                </a:solidFill>
                <a:latin typeface="Calibri" pitchFamily="34" charset="0"/>
                <a:ea typeface="Calibri" pitchFamily="34" charset="-122"/>
                <a:cs typeface="Calibri" pitchFamily="34" charset="-120"/>
              </a:rPr>
              <a:t>Bus Response</a:t>
            </a:r>
            <a:endParaRPr lang="en-US" sz="1500" dirty="0"/>
          </a:p>
        </p:txBody>
      </p:sp>
      <p:sp>
        <p:nvSpPr>
          <p:cNvPr id="58" name="Text 28">
            <a:extLst>
              <a:ext uri="{FF2B5EF4-FFF2-40B4-BE49-F238E27FC236}">
                <a16:creationId xmlns:a16="http://schemas.microsoft.com/office/drawing/2014/main" id="{EFBE20CA-AAE5-5204-89F0-EFCC5CB28934}"/>
              </a:ext>
            </a:extLst>
          </p:cNvPr>
          <p:cNvSpPr/>
          <p:nvPr/>
        </p:nvSpPr>
        <p:spPr>
          <a:xfrm>
            <a:off x="9240012" y="2688336"/>
            <a:ext cx="2171700" cy="228600"/>
          </a:xfrm>
          <a:prstGeom prst="rect">
            <a:avLst/>
          </a:prstGeom>
          <a:noFill/>
          <a:ln/>
        </p:spPr>
        <p:txBody>
          <a:bodyPr wrap="square" lIns="0" tIns="0" rIns="0" bIns="0" rtlCol="0" anchor="ctr"/>
          <a:lstStyle/>
          <a:p>
            <a:pPr marL="0" indent="0">
              <a:buNone/>
            </a:pPr>
            <a:r>
              <a:rPr lang="en-US" sz="1500" dirty="0">
                <a:solidFill>
                  <a:srgbClr val="00B4D8"/>
                </a:solidFill>
                <a:latin typeface="Calibri" pitchFamily="34" charset="0"/>
                <a:ea typeface="Calibri" pitchFamily="34" charset="-122"/>
                <a:cs typeface="Calibri" pitchFamily="34" charset="-120"/>
              </a:rPr>
              <a:t>(0x10 / 0x11)</a:t>
            </a:r>
            <a:endParaRPr lang="en-US" sz="1500" dirty="0"/>
          </a:p>
        </p:txBody>
      </p:sp>
      <p:sp>
        <p:nvSpPr>
          <p:cNvPr id="60" name="Text 29">
            <a:extLst>
              <a:ext uri="{FF2B5EF4-FFF2-40B4-BE49-F238E27FC236}">
                <a16:creationId xmlns:a16="http://schemas.microsoft.com/office/drawing/2014/main" id="{495E9DDA-501D-EF2C-24DB-48CD66E7455A}"/>
              </a:ext>
            </a:extLst>
          </p:cNvPr>
          <p:cNvSpPr/>
          <p:nvPr/>
        </p:nvSpPr>
        <p:spPr>
          <a:xfrm>
            <a:off x="9240012" y="2953512"/>
            <a:ext cx="2171700" cy="502920"/>
          </a:xfrm>
          <a:prstGeom prst="rect">
            <a:avLst/>
          </a:prstGeom>
          <a:noFill/>
          <a:ln/>
        </p:spPr>
        <p:txBody>
          <a:bodyPr wrap="square" lIns="0" tIns="0" rIns="0" bIns="0" rtlCol="0" anchor="t"/>
          <a:lstStyle/>
          <a:p>
            <a:pPr>
              <a:lnSpc>
                <a:spcPct val="115000"/>
              </a:lnSpc>
            </a:pPr>
            <a:r>
              <a:rPr lang="en-US" sz="1100" dirty="0">
                <a:solidFill>
                  <a:srgbClr val="1B1F27"/>
                </a:solidFill>
                <a:latin typeface="Calibri" pitchFamily="34" charset="0"/>
                <a:ea typeface="Calibri" pitchFamily="34" charset="-122"/>
                <a:cs typeface="Calibri" pitchFamily="34" charset="-120"/>
              </a:rPr>
              <a:t>Real-time validation of the ACK (0xF0) or NACK (0xFF) code, or the response to GET_REG.</a:t>
            </a:r>
            <a:endParaRPr lang="en-US" sz="1100" dirty="0"/>
          </a:p>
        </p:txBody>
      </p:sp>
      <p:sp>
        <p:nvSpPr>
          <p:cNvPr id="62" name="Shape 30">
            <a:extLst>
              <a:ext uri="{FF2B5EF4-FFF2-40B4-BE49-F238E27FC236}">
                <a16:creationId xmlns:a16="http://schemas.microsoft.com/office/drawing/2014/main" id="{01938746-59D1-1A49-27D4-51747A0D2A0B}"/>
              </a:ext>
            </a:extLst>
          </p:cNvPr>
          <p:cNvSpPr/>
          <p:nvPr/>
        </p:nvSpPr>
        <p:spPr>
          <a:xfrm>
            <a:off x="548640" y="3794760"/>
            <a:ext cx="5349240" cy="2148840"/>
          </a:xfrm>
          <a:prstGeom prst="roundRect">
            <a:avLst>
              <a:gd name="adj" fmla="val 3404"/>
            </a:avLst>
          </a:prstGeom>
          <a:solidFill>
            <a:srgbClr val="FFFFFF"/>
          </a:solidFill>
          <a:ln w="12700">
            <a:solidFill>
              <a:srgbClr val="E3E9F0"/>
            </a:solidFill>
            <a:prstDash val="solid"/>
          </a:ln>
        </p:spPr>
        <p:txBody>
          <a:bodyPr/>
          <a:lstStyle/>
          <a:p>
            <a:endParaRPr lang="it-IT" sz="1100"/>
          </a:p>
        </p:txBody>
      </p:sp>
      <p:sp>
        <p:nvSpPr>
          <p:cNvPr id="64" name="Shape 31">
            <a:extLst>
              <a:ext uri="{FF2B5EF4-FFF2-40B4-BE49-F238E27FC236}">
                <a16:creationId xmlns:a16="http://schemas.microsoft.com/office/drawing/2014/main" id="{9DDA933C-C3C6-F189-FA2F-2632996BFF3E}"/>
              </a:ext>
            </a:extLst>
          </p:cNvPr>
          <p:cNvSpPr/>
          <p:nvPr/>
        </p:nvSpPr>
        <p:spPr>
          <a:xfrm>
            <a:off x="548640" y="3794760"/>
            <a:ext cx="54864" cy="0"/>
          </a:xfrm>
          <a:prstGeom prst="rect">
            <a:avLst/>
          </a:prstGeom>
          <a:noFill/>
          <a:ln/>
        </p:spPr>
        <p:txBody>
          <a:bodyPr/>
          <a:lstStyle/>
          <a:p>
            <a:endParaRPr lang="it-IT" sz="1100"/>
          </a:p>
        </p:txBody>
      </p:sp>
      <p:sp>
        <p:nvSpPr>
          <p:cNvPr id="66" name="Text 32">
            <a:extLst>
              <a:ext uri="{FF2B5EF4-FFF2-40B4-BE49-F238E27FC236}">
                <a16:creationId xmlns:a16="http://schemas.microsoft.com/office/drawing/2014/main" id="{E0F8160C-9C94-EF0C-7CD1-41C132890745}"/>
              </a:ext>
            </a:extLst>
          </p:cNvPr>
          <p:cNvSpPr/>
          <p:nvPr/>
        </p:nvSpPr>
        <p:spPr>
          <a:xfrm>
            <a:off x="777240" y="3995928"/>
            <a:ext cx="4892040" cy="365760"/>
          </a:xfrm>
          <a:prstGeom prst="rect">
            <a:avLst/>
          </a:prstGeom>
          <a:noFill/>
          <a:ln/>
        </p:spPr>
        <p:txBody>
          <a:bodyPr wrap="square" lIns="0" tIns="0" rIns="0" bIns="0" rtlCol="0" anchor="ctr"/>
          <a:lstStyle/>
          <a:p>
            <a:r>
              <a:rPr lang="en-US" b="1" dirty="0">
                <a:solidFill>
                  <a:srgbClr val="0B2545"/>
                </a:solidFill>
                <a:latin typeface="Cambria" pitchFamily="34" charset="0"/>
                <a:ea typeface="Cambria" pitchFamily="34" charset="-122"/>
                <a:cs typeface="Cambria" pitchFamily="34" charset="-120"/>
              </a:rPr>
              <a:t>DYNO2DW Message Tracking</a:t>
            </a:r>
            <a:endParaRPr lang="en-US" dirty="0"/>
          </a:p>
        </p:txBody>
      </p:sp>
      <p:sp>
        <p:nvSpPr>
          <p:cNvPr id="68" name="Text 33">
            <a:extLst>
              <a:ext uri="{FF2B5EF4-FFF2-40B4-BE49-F238E27FC236}">
                <a16:creationId xmlns:a16="http://schemas.microsoft.com/office/drawing/2014/main" id="{2E95211A-C9D4-36EC-F98F-DF71EF782AAE}"/>
              </a:ext>
            </a:extLst>
          </p:cNvPr>
          <p:cNvSpPr/>
          <p:nvPr/>
        </p:nvSpPr>
        <p:spPr>
          <a:xfrm>
            <a:off x="777240" y="4389120"/>
            <a:ext cx="4892040" cy="1325880"/>
          </a:xfrm>
          <a:prstGeom prst="rect">
            <a:avLst/>
          </a:prstGeom>
          <a:noFill/>
          <a:ln/>
        </p:spPr>
        <p:txBody>
          <a:bodyPr wrap="square" lIns="0" tIns="0" rIns="0" bIns="0" rtlCol="0" anchor="t"/>
          <a:lstStyle/>
          <a:p>
            <a:pPr marL="0" indent="0">
              <a:lnSpc>
                <a:spcPct val="128000"/>
              </a:lnSpc>
              <a:buNone/>
            </a:pPr>
            <a:r>
              <a:rPr lang="en-US" sz="1500" dirty="0">
                <a:solidFill>
                  <a:srgbClr val="1B1F27"/>
                </a:solidFill>
                <a:latin typeface="Calibri" pitchFamily="34" charset="0"/>
                <a:ea typeface="Calibri" pitchFamily="34" charset="-122"/>
                <a:cs typeface="Calibri" pitchFamily="34" charset="-120"/>
              </a:rPr>
              <a:t>By sending a packet from PCAN-View (e.g., EXECUTE_COMMAND 0x33 or SET_REG 0x31) and setting breakpoints in TRACE32, it was possible to step through the code line by line in DYNO2DWProtocol to verify that each CAN message correctly mapped to its corresponding DW function.</a:t>
            </a:r>
            <a:endParaRPr lang="en-US" sz="1500" dirty="0"/>
          </a:p>
        </p:txBody>
      </p:sp>
      <p:sp>
        <p:nvSpPr>
          <p:cNvPr id="70" name="Shape 34">
            <a:extLst>
              <a:ext uri="{FF2B5EF4-FFF2-40B4-BE49-F238E27FC236}">
                <a16:creationId xmlns:a16="http://schemas.microsoft.com/office/drawing/2014/main" id="{4FFB2AFC-0B86-CBBA-F488-12369650AD71}"/>
              </a:ext>
            </a:extLst>
          </p:cNvPr>
          <p:cNvSpPr/>
          <p:nvPr/>
        </p:nvSpPr>
        <p:spPr>
          <a:xfrm>
            <a:off x="6263640" y="3794760"/>
            <a:ext cx="5349240" cy="2148840"/>
          </a:xfrm>
          <a:prstGeom prst="roundRect">
            <a:avLst>
              <a:gd name="adj" fmla="val 3404"/>
            </a:avLst>
          </a:prstGeom>
          <a:solidFill>
            <a:srgbClr val="0B2545"/>
          </a:solidFill>
          <a:ln/>
        </p:spPr>
        <p:txBody>
          <a:bodyPr/>
          <a:lstStyle/>
          <a:p>
            <a:endParaRPr lang="it-IT" sz="1100"/>
          </a:p>
        </p:txBody>
      </p:sp>
      <p:sp>
        <p:nvSpPr>
          <p:cNvPr id="72" name="Text 35">
            <a:extLst>
              <a:ext uri="{FF2B5EF4-FFF2-40B4-BE49-F238E27FC236}">
                <a16:creationId xmlns:a16="http://schemas.microsoft.com/office/drawing/2014/main" id="{CA4A1294-6D21-659E-2781-16E3FD898AF7}"/>
              </a:ext>
            </a:extLst>
          </p:cNvPr>
          <p:cNvSpPr/>
          <p:nvPr/>
        </p:nvSpPr>
        <p:spPr>
          <a:xfrm>
            <a:off x="6492240" y="3995928"/>
            <a:ext cx="4892040" cy="365760"/>
          </a:xfrm>
          <a:prstGeom prst="rect">
            <a:avLst/>
          </a:prstGeom>
          <a:noFill/>
          <a:ln/>
        </p:spPr>
        <p:txBody>
          <a:bodyPr wrap="square" lIns="0" tIns="0" rIns="0" bIns="0" rtlCol="0" anchor="ctr"/>
          <a:lstStyle/>
          <a:p>
            <a:r>
              <a:rPr lang="en-US" b="1" dirty="0">
                <a:solidFill>
                  <a:srgbClr val="FFFFFF"/>
                </a:solidFill>
                <a:latin typeface="Cambria" pitchFamily="34" charset="0"/>
                <a:ea typeface="Cambria" pitchFamily="34" charset="-122"/>
                <a:cs typeface="Cambria" pitchFamily="34" charset="-120"/>
              </a:rPr>
              <a:t>Flow &amp; Error Analysis</a:t>
            </a:r>
            <a:endParaRPr lang="en-US" dirty="0"/>
          </a:p>
        </p:txBody>
      </p:sp>
      <p:sp>
        <p:nvSpPr>
          <p:cNvPr id="74" name="Text 36">
            <a:extLst>
              <a:ext uri="{FF2B5EF4-FFF2-40B4-BE49-F238E27FC236}">
                <a16:creationId xmlns:a16="http://schemas.microsoft.com/office/drawing/2014/main" id="{F8CF4D59-9B55-68FF-7538-444F7DFC12B1}"/>
              </a:ext>
            </a:extLst>
          </p:cNvPr>
          <p:cNvSpPr/>
          <p:nvPr/>
        </p:nvSpPr>
        <p:spPr>
          <a:xfrm>
            <a:off x="6492240" y="4416552"/>
            <a:ext cx="4892040" cy="1325880"/>
          </a:xfrm>
          <a:prstGeom prst="rect">
            <a:avLst/>
          </a:prstGeom>
          <a:noFill/>
          <a:ln/>
        </p:spPr>
        <p:txBody>
          <a:bodyPr wrap="square" lIns="0" tIns="0" rIns="0" bIns="0" rtlCol="0" anchor="t"/>
          <a:lstStyle/>
          <a:p>
            <a:pPr marL="0" indent="0">
              <a:lnSpc>
                <a:spcPct val="100000"/>
              </a:lnSpc>
              <a:buNone/>
            </a:pPr>
            <a:r>
              <a:rPr lang="en-US" sz="1600" dirty="0">
                <a:solidFill>
                  <a:srgbClr val="D7E4F2"/>
                </a:solidFill>
                <a:latin typeface="Calibri" pitchFamily="34" charset="0"/>
                <a:ea typeface="Calibri" pitchFamily="34" charset="-122"/>
                <a:cs typeface="Calibri" pitchFamily="34" charset="-120"/>
              </a:rPr>
              <a:t>Identified logical execution paths, highlighted redundancies in transmission loops, and visualized PI register IDs for read and write operations.</a:t>
            </a:r>
            <a:endParaRPr lang="en-US" sz="1600" dirty="0"/>
          </a:p>
        </p:txBody>
      </p:sp>
    </p:spTree>
    <p:extLst>
      <p:ext uri="{BB962C8B-B14F-4D97-AF65-F5344CB8AC3E}">
        <p14:creationId xmlns:p14="http://schemas.microsoft.com/office/powerpoint/2010/main" val="2063849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1F30B-A2F5-EBEB-99DC-2800DBB48E86}"/>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0D437665-C8F5-7ADC-21EC-2FB38ABB93E9}"/>
              </a:ext>
            </a:extLst>
          </p:cNvPr>
          <p:cNvSpPr>
            <a:spLocks noGrp="1"/>
          </p:cNvSpPr>
          <p:nvPr>
            <p:ph type="title"/>
          </p:nvPr>
        </p:nvSpPr>
        <p:spPr/>
        <p:txBody>
          <a:bodyPr/>
          <a:lstStyle/>
          <a:p>
            <a:r>
              <a:rPr lang="en-US" b="1" dirty="0">
                <a:solidFill>
                  <a:srgbClr val="0B2545"/>
                </a:solidFill>
                <a:latin typeface="Cambria" pitchFamily="34" charset="0"/>
                <a:ea typeface="Cambria" pitchFamily="34" charset="-122"/>
                <a:cs typeface="Cambria" pitchFamily="34" charset="-120"/>
              </a:rPr>
              <a:t>PCAN-View Transmit Message List</a:t>
            </a:r>
            <a:endParaRPr lang="it-IT" dirty="0"/>
          </a:p>
        </p:txBody>
      </p:sp>
      <p:sp>
        <p:nvSpPr>
          <p:cNvPr id="6" name="Text 2">
            <a:extLst>
              <a:ext uri="{FF2B5EF4-FFF2-40B4-BE49-F238E27FC236}">
                <a16:creationId xmlns:a16="http://schemas.microsoft.com/office/drawing/2014/main" id="{F30F46D2-5302-B19D-E734-E615E5133994}"/>
              </a:ext>
            </a:extLst>
          </p:cNvPr>
          <p:cNvSpPr/>
          <p:nvPr/>
        </p:nvSpPr>
        <p:spPr>
          <a:xfrm>
            <a:off x="548640" y="1115568"/>
            <a:ext cx="11064240" cy="365760"/>
          </a:xfrm>
          <a:prstGeom prst="rect">
            <a:avLst/>
          </a:prstGeom>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6B7F"/>
                </a:solidFill>
                <a:effectLst/>
                <a:uLnTx/>
                <a:uFillTx/>
                <a:latin typeface="Calibri" pitchFamily="34" charset="0"/>
                <a:ea typeface="Calibri" pitchFamily="34" charset="-122"/>
                <a:cs typeface="Calibri" pitchFamily="34" charset="-120"/>
              </a:rPr>
              <a:t>Test frame configuration used for manual command injection into the microcontroller during debugging.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3">
            <a:extLst>
              <a:ext uri="{FF2B5EF4-FFF2-40B4-BE49-F238E27FC236}">
                <a16:creationId xmlns:a16="http://schemas.microsoft.com/office/drawing/2014/main" id="{3CF597C2-1AAD-A307-2303-1B122AD89526}"/>
              </a:ext>
            </a:extLst>
          </p:cNvPr>
          <p:cNvSpPr/>
          <p:nvPr/>
        </p:nvSpPr>
        <p:spPr>
          <a:xfrm>
            <a:off x="548640" y="1691640"/>
            <a:ext cx="11064240" cy="4484571"/>
          </a:xfrm>
          <a:prstGeom prst="roundRect">
            <a:avLst>
              <a:gd name="adj" fmla="val 2000"/>
            </a:avLst>
          </a:prstGeom>
          <a:solidFill>
            <a:srgbClr val="FFFFFF"/>
          </a:solidFill>
          <a:ln w="12700">
            <a:solidFill>
              <a:srgbClr val="E3E9F0"/>
            </a:solidFill>
            <a:prstDash val="solid"/>
          </a:ln>
          <a:effectLst>
            <a:outerShdw blurRad="101600" dist="25400" dir="5400000" algn="bl" rotWithShape="0">
              <a:srgbClr val="1B1F27">
                <a:alpha val="12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0" descr="/home/claude/redesign2/unpacked/ppt/media/image2.png">
            <a:extLst>
              <a:ext uri="{FF2B5EF4-FFF2-40B4-BE49-F238E27FC236}">
                <a16:creationId xmlns:a16="http://schemas.microsoft.com/office/drawing/2014/main" id="{9DD8CB4A-854E-DFBE-BBE6-5C05406A4DDD}"/>
              </a:ext>
            </a:extLst>
          </p:cNvPr>
          <p:cNvPicPr>
            <a:picLocks noChangeAspect="1"/>
          </p:cNvPicPr>
          <p:nvPr/>
        </p:nvPicPr>
        <p:blipFill>
          <a:blip r:embed="rId2"/>
          <a:stretch>
            <a:fillRect/>
          </a:stretch>
        </p:blipFill>
        <p:spPr>
          <a:xfrm>
            <a:off x="868680" y="2446495"/>
            <a:ext cx="10424160" cy="3062290"/>
          </a:xfrm>
          <a:prstGeom prst="rect">
            <a:avLst/>
          </a:prstGeom>
        </p:spPr>
      </p:pic>
      <p:sp>
        <p:nvSpPr>
          <p:cNvPr id="5" name="Text 0">
            <a:extLst>
              <a:ext uri="{FF2B5EF4-FFF2-40B4-BE49-F238E27FC236}">
                <a16:creationId xmlns:a16="http://schemas.microsoft.com/office/drawing/2014/main" id="{A7FB9809-E4D3-C40D-51EE-127EB48663D8}"/>
              </a:ext>
            </a:extLst>
          </p:cNvPr>
          <p:cNvSpPr/>
          <p:nvPr/>
        </p:nvSpPr>
        <p:spPr>
          <a:xfrm>
            <a:off x="10783503" y="189297"/>
            <a:ext cx="7315200" cy="310896"/>
          </a:xfrm>
          <a:prstGeom prst="rect">
            <a:avLst/>
          </a:prstGeom>
          <a:noFill/>
          <a:ln/>
        </p:spPr>
        <p:txBody>
          <a:bodyPr wrap="square" lIns="0" tIns="0" rIns="0" bIns="0"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DEBUGGING</a:t>
            </a:r>
            <a:endParaRPr lang="en-US" sz="1100" dirty="0">
              <a:solidFill>
                <a:srgbClr val="0E7DAD"/>
              </a:solidFill>
            </a:endParaRPr>
          </a:p>
        </p:txBody>
      </p:sp>
    </p:spTree>
    <p:extLst>
      <p:ext uri="{BB962C8B-B14F-4D97-AF65-F5344CB8AC3E}">
        <p14:creationId xmlns:p14="http://schemas.microsoft.com/office/powerpoint/2010/main" val="3608835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6F24F-6484-BFB0-9A72-3FAA1FB39A5A}"/>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54DF0C6A-8F99-2BF9-4296-90E3679F6D74}"/>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Hardware setup and basic diagnostics verification</a:t>
            </a:r>
            <a:endParaRPr lang="it-IT" dirty="0"/>
          </a:p>
        </p:txBody>
      </p:sp>
      <p:sp>
        <p:nvSpPr>
          <p:cNvPr id="8" name="Shape 3">
            <a:extLst>
              <a:ext uri="{FF2B5EF4-FFF2-40B4-BE49-F238E27FC236}">
                <a16:creationId xmlns:a16="http://schemas.microsoft.com/office/drawing/2014/main" id="{F65C6F86-56B1-496A-9E4C-CB3315E4C67B}"/>
              </a:ext>
            </a:extLst>
          </p:cNvPr>
          <p:cNvSpPr/>
          <p:nvPr/>
        </p:nvSpPr>
        <p:spPr>
          <a:xfrm>
            <a:off x="548640" y="2360168"/>
            <a:ext cx="384048" cy="384048"/>
          </a:xfrm>
          <a:prstGeom prst="ellipse">
            <a:avLst/>
          </a:prstGeom>
          <a:solidFill>
            <a:srgbClr val="2E9E5B"/>
          </a:solidFill>
          <a:ln/>
        </p:spPr>
        <p:txBody>
          <a:bodyPr/>
          <a:lstStyle/>
          <a:p>
            <a:endParaRPr lang="it-IT" sz="1400"/>
          </a:p>
        </p:txBody>
      </p:sp>
      <p:sp>
        <p:nvSpPr>
          <p:cNvPr id="10" name="Text 4">
            <a:extLst>
              <a:ext uri="{FF2B5EF4-FFF2-40B4-BE49-F238E27FC236}">
                <a16:creationId xmlns:a16="http://schemas.microsoft.com/office/drawing/2014/main" id="{095DEBFA-E303-0FE1-C547-447E943234F7}"/>
              </a:ext>
            </a:extLst>
          </p:cNvPr>
          <p:cNvSpPr/>
          <p:nvPr/>
        </p:nvSpPr>
        <p:spPr>
          <a:xfrm>
            <a:off x="548640" y="2360168"/>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5">
            <a:extLst>
              <a:ext uri="{FF2B5EF4-FFF2-40B4-BE49-F238E27FC236}">
                <a16:creationId xmlns:a16="http://schemas.microsoft.com/office/drawing/2014/main" id="{A9B4FC30-EE11-F815-B092-B28833870CF1}"/>
              </a:ext>
            </a:extLst>
          </p:cNvPr>
          <p:cNvSpPr/>
          <p:nvPr/>
        </p:nvSpPr>
        <p:spPr>
          <a:xfrm>
            <a:off x="1097280" y="2392172"/>
            <a:ext cx="5760720" cy="320040"/>
          </a:xfrm>
          <a:prstGeom prst="rect">
            <a:avLst/>
          </a:prstGeom>
          <a:noFill/>
          <a:ln/>
        </p:spPr>
        <p:txBody>
          <a:bodyPr wrap="square" rtlCol="0" anchor="ctr"/>
          <a:lstStyle/>
          <a:p>
            <a:r>
              <a:rPr lang="en-US" b="1" dirty="0">
                <a:solidFill>
                  <a:srgbClr val="03234B"/>
                </a:solidFill>
                <a:latin typeface="Calibri" pitchFamily="34" charset="0"/>
                <a:ea typeface="Calibri" pitchFamily="34" charset="-122"/>
                <a:cs typeface="Calibri" pitchFamily="34" charset="-120"/>
              </a:rPr>
              <a:t>Physical layer &amp; diagnostics (+0x40)</a:t>
            </a:r>
            <a:endParaRPr lang="en-US" dirty="0"/>
          </a:p>
        </p:txBody>
      </p:sp>
      <p:sp>
        <p:nvSpPr>
          <p:cNvPr id="14" name="Text 6">
            <a:extLst>
              <a:ext uri="{FF2B5EF4-FFF2-40B4-BE49-F238E27FC236}">
                <a16:creationId xmlns:a16="http://schemas.microsoft.com/office/drawing/2014/main" id="{DFB8B329-DCFF-7301-BC02-1299B6EAF1EB}"/>
              </a:ext>
            </a:extLst>
          </p:cNvPr>
          <p:cNvSpPr/>
          <p:nvPr/>
        </p:nvSpPr>
        <p:spPr>
          <a:xfrm>
            <a:off x="4637237" y="2323592"/>
            <a:ext cx="5760720" cy="777240"/>
          </a:xfrm>
          <a:prstGeom prst="rect">
            <a:avLst/>
          </a:prstGeom>
          <a:noFill/>
          <a:ln/>
        </p:spPr>
        <p:txBody>
          <a:bodyPr wrap="square" rtlCol="0" anchor="ctr"/>
          <a:lstStyle/>
          <a:p>
            <a:pPr>
              <a:lnSpc>
                <a:spcPct val="120000"/>
              </a:lnSpc>
            </a:pPr>
            <a:r>
              <a:rPr lang="en-US" sz="1600" dirty="0">
                <a:solidFill>
                  <a:srgbClr val="51606E"/>
                </a:solidFill>
                <a:latin typeface="Calibri" pitchFamily="34" charset="0"/>
                <a:ea typeface="Calibri" pitchFamily="34" charset="-122"/>
                <a:cs typeface="Calibri" pitchFamily="34" charset="-120"/>
              </a:rPr>
              <a:t>Confirmed via PCAN-View the continuous reception, every 100 </a:t>
            </a:r>
            <a:r>
              <a:rPr lang="en-US" sz="1600" dirty="0" err="1">
                <a:solidFill>
                  <a:srgbClr val="51606E"/>
                </a:solidFill>
                <a:latin typeface="Calibri" pitchFamily="34" charset="0"/>
                <a:ea typeface="Calibri" pitchFamily="34" charset="-122"/>
                <a:cs typeface="Calibri" pitchFamily="34" charset="-120"/>
              </a:rPr>
              <a:t>ms</a:t>
            </a:r>
            <a:r>
              <a:rPr lang="en-US" sz="1600" dirty="0">
                <a:solidFill>
                  <a:srgbClr val="51606E"/>
                </a:solidFill>
                <a:latin typeface="Calibri" pitchFamily="34" charset="0"/>
                <a:ea typeface="Calibri" pitchFamily="34" charset="-122"/>
                <a:cs typeface="Calibri" pitchFamily="34" charset="-120"/>
              </a:rPr>
              <a:t>, of the 10 telemetry packets generated by </a:t>
            </a:r>
            <a:r>
              <a:rPr lang="en-US" sz="1600" dirty="0" err="1">
                <a:solidFill>
                  <a:srgbClr val="51606E"/>
                </a:solidFill>
                <a:latin typeface="Calibri" pitchFamily="34" charset="0"/>
                <a:ea typeface="Calibri" pitchFamily="34" charset="-122"/>
                <a:cs typeface="Calibri" pitchFamily="34" charset="-120"/>
              </a:rPr>
              <a:t>Send_Status</a:t>
            </a:r>
            <a:r>
              <a:rPr lang="en-US" sz="1600" dirty="0">
                <a:solidFill>
                  <a:srgbClr val="51606E"/>
                </a:solidFill>
                <a:latin typeface="Calibri" pitchFamily="34" charset="0"/>
                <a:ea typeface="Calibri" pitchFamily="34" charset="-122"/>
                <a:cs typeface="Calibri" pitchFamily="34" charset="-120"/>
              </a:rPr>
              <a:t>.</a:t>
            </a:r>
            <a:endParaRPr lang="en-US" sz="1600" dirty="0"/>
          </a:p>
        </p:txBody>
      </p:sp>
      <p:sp>
        <p:nvSpPr>
          <p:cNvPr id="16" name="Shape 7">
            <a:extLst>
              <a:ext uri="{FF2B5EF4-FFF2-40B4-BE49-F238E27FC236}">
                <a16:creationId xmlns:a16="http://schemas.microsoft.com/office/drawing/2014/main" id="{0912DC79-41ED-E1D3-1B94-87ACBB608D77}"/>
              </a:ext>
            </a:extLst>
          </p:cNvPr>
          <p:cNvSpPr/>
          <p:nvPr/>
        </p:nvSpPr>
        <p:spPr>
          <a:xfrm>
            <a:off x="548640" y="3198850"/>
            <a:ext cx="384048" cy="384048"/>
          </a:xfrm>
          <a:prstGeom prst="ellipse">
            <a:avLst/>
          </a:prstGeom>
          <a:solidFill>
            <a:srgbClr val="2E9E5B"/>
          </a:solidFill>
          <a:ln/>
        </p:spPr>
        <p:txBody>
          <a:bodyPr/>
          <a:lstStyle/>
          <a:p>
            <a:endParaRPr lang="it-IT" sz="1400"/>
          </a:p>
        </p:txBody>
      </p:sp>
      <p:sp>
        <p:nvSpPr>
          <p:cNvPr id="18" name="Text 8">
            <a:extLst>
              <a:ext uri="{FF2B5EF4-FFF2-40B4-BE49-F238E27FC236}">
                <a16:creationId xmlns:a16="http://schemas.microsoft.com/office/drawing/2014/main" id="{69A3B73B-5905-D2CD-DC1A-681C7EE91BAA}"/>
              </a:ext>
            </a:extLst>
          </p:cNvPr>
          <p:cNvSpPr/>
          <p:nvPr/>
        </p:nvSpPr>
        <p:spPr>
          <a:xfrm>
            <a:off x="548640" y="319885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9">
            <a:extLst>
              <a:ext uri="{FF2B5EF4-FFF2-40B4-BE49-F238E27FC236}">
                <a16:creationId xmlns:a16="http://schemas.microsoft.com/office/drawing/2014/main" id="{F8F087C4-81B4-E81B-61D2-799A3667D08F}"/>
              </a:ext>
            </a:extLst>
          </p:cNvPr>
          <p:cNvSpPr/>
          <p:nvPr/>
        </p:nvSpPr>
        <p:spPr>
          <a:xfrm>
            <a:off x="1097280" y="3230854"/>
            <a:ext cx="5760720" cy="320040"/>
          </a:xfrm>
          <a:prstGeom prst="rect">
            <a:avLst/>
          </a:prstGeom>
          <a:noFill/>
          <a:ln/>
        </p:spPr>
        <p:txBody>
          <a:bodyPr wrap="square" rtlCol="0" anchor="ctr"/>
          <a:lstStyle/>
          <a:p>
            <a:r>
              <a:rPr lang="en-US" b="1">
                <a:solidFill>
                  <a:srgbClr val="03234B"/>
                </a:solidFill>
                <a:latin typeface="Calibri" pitchFamily="34" charset="0"/>
                <a:ea typeface="Calibri" pitchFamily="34" charset="-122"/>
                <a:cs typeface="Calibri" pitchFamily="34" charset="-120"/>
              </a:rPr>
              <a:t>ACK/NACK on 0x10 ID and GET REG response on 0x11</a:t>
            </a:r>
            <a:endParaRPr lang="en-US" dirty="0"/>
          </a:p>
        </p:txBody>
      </p:sp>
      <p:sp>
        <p:nvSpPr>
          <p:cNvPr id="22" name="Text 10">
            <a:extLst>
              <a:ext uri="{FF2B5EF4-FFF2-40B4-BE49-F238E27FC236}">
                <a16:creationId xmlns:a16="http://schemas.microsoft.com/office/drawing/2014/main" id="{5E235F77-5F1C-EA9F-8541-2F8556ED308E}"/>
              </a:ext>
            </a:extLst>
          </p:cNvPr>
          <p:cNvSpPr/>
          <p:nvPr/>
        </p:nvSpPr>
        <p:spPr>
          <a:xfrm>
            <a:off x="6385331" y="3429000"/>
            <a:ext cx="3886393" cy="777240"/>
          </a:xfrm>
          <a:prstGeom prst="rect">
            <a:avLst/>
          </a:prstGeom>
          <a:noFill/>
          <a:ln/>
        </p:spPr>
        <p:txBody>
          <a:bodyPr wrap="square" rtlCol="0" anchor="ctr"/>
          <a:lstStyle/>
          <a:p>
            <a:pPr>
              <a:lnSpc>
                <a:spcPct val="120000"/>
              </a:lnSpc>
            </a:pPr>
            <a:r>
              <a:rPr lang="en-US" sz="1600" dirty="0">
                <a:solidFill>
                  <a:srgbClr val="51606E"/>
                </a:solidFill>
                <a:latin typeface="Calibri" pitchFamily="34" charset="0"/>
                <a:ea typeface="Calibri" pitchFamily="34" charset="-122"/>
                <a:cs typeface="Calibri" pitchFamily="34" charset="-120"/>
              </a:rPr>
              <a:t>Verified that the board responds to each command sent on 0x10 with 0xF0 (ACK) or 0xFF (NACK) or with the desired register value on 0x11.</a:t>
            </a:r>
            <a:endParaRPr lang="en-US" sz="1600" dirty="0"/>
          </a:p>
        </p:txBody>
      </p:sp>
      <p:sp>
        <p:nvSpPr>
          <p:cNvPr id="24" name="CasellaDiTesto 23">
            <a:extLst>
              <a:ext uri="{FF2B5EF4-FFF2-40B4-BE49-F238E27FC236}">
                <a16:creationId xmlns:a16="http://schemas.microsoft.com/office/drawing/2014/main" id="{4400547D-A71E-E8CF-BEDD-CF8DAB01328D}"/>
              </a:ext>
            </a:extLst>
          </p:cNvPr>
          <p:cNvSpPr txBox="1"/>
          <p:nvPr/>
        </p:nvSpPr>
        <p:spPr>
          <a:xfrm>
            <a:off x="548640" y="1540502"/>
            <a:ext cx="2072640" cy="492443"/>
          </a:xfrm>
          <a:prstGeom prst="rect">
            <a:avLst/>
          </a:prstGeom>
          <a:noFill/>
        </p:spPr>
        <p:txBody>
          <a:bodyPr wrap="square" rtlCol="0">
            <a:spAutoFit/>
          </a:bodyPr>
          <a:lstStyle/>
          <a:p>
            <a:r>
              <a:rPr lang="en-US" sz="2600" b="1" dirty="0">
                <a:solidFill>
                  <a:srgbClr val="03234B"/>
                </a:solidFill>
                <a:latin typeface="Calibri" pitchFamily="34" charset="0"/>
                <a:ea typeface="Calibri" pitchFamily="34" charset="-122"/>
                <a:cs typeface="Calibri" pitchFamily="34" charset="-120"/>
              </a:rPr>
              <a:t>MCU to Dyno </a:t>
            </a:r>
            <a:endParaRPr lang="it-IT" sz="2600" dirty="0"/>
          </a:p>
        </p:txBody>
      </p:sp>
      <p:sp>
        <p:nvSpPr>
          <p:cNvPr id="26" name="CasellaDiTesto 25">
            <a:extLst>
              <a:ext uri="{FF2B5EF4-FFF2-40B4-BE49-F238E27FC236}">
                <a16:creationId xmlns:a16="http://schemas.microsoft.com/office/drawing/2014/main" id="{0573E030-48EC-DB49-55A0-79122F33F3D8}"/>
              </a:ext>
            </a:extLst>
          </p:cNvPr>
          <p:cNvSpPr txBox="1"/>
          <p:nvPr/>
        </p:nvSpPr>
        <p:spPr>
          <a:xfrm>
            <a:off x="4175760" y="4774158"/>
            <a:ext cx="1925527" cy="307777"/>
          </a:xfrm>
          <a:prstGeom prst="rect">
            <a:avLst/>
          </a:prstGeom>
          <a:noFill/>
        </p:spPr>
        <p:txBody>
          <a:bodyPr wrap="none" rtlCol="0">
            <a:spAutoFit/>
          </a:bodyPr>
          <a:lstStyle/>
          <a:p>
            <a:r>
              <a:rPr lang="it-IT" sz="1400" dirty="0"/>
              <a:t>Qui immagine rx </a:t>
            </a:r>
            <a:r>
              <a:rPr lang="it-IT" sz="1400" dirty="0" err="1"/>
              <a:t>pcan</a:t>
            </a:r>
            <a:endParaRPr lang="it-IT" sz="1400" dirty="0"/>
          </a:p>
        </p:txBody>
      </p:sp>
      <p:sp>
        <p:nvSpPr>
          <p:cNvPr id="4" name="Text 0">
            <a:extLst>
              <a:ext uri="{FF2B5EF4-FFF2-40B4-BE49-F238E27FC236}">
                <a16:creationId xmlns:a16="http://schemas.microsoft.com/office/drawing/2014/main" id="{4925C7E4-F75E-ADAF-42E7-E5F30D3A6FCE}"/>
              </a:ext>
            </a:extLst>
          </p:cNvPr>
          <p:cNvSpPr/>
          <p:nvPr/>
        </p:nvSpPr>
        <p:spPr>
          <a:xfrm>
            <a:off x="10783503" y="189297"/>
            <a:ext cx="7315200" cy="310896"/>
          </a:xfrm>
          <a:prstGeom prst="rect">
            <a:avLst/>
          </a:prstGeom>
          <a:noFill/>
          <a:ln/>
        </p:spPr>
        <p:txBody>
          <a:bodyPr wrap="square" lIns="0" tIns="0" rIns="0" bIns="0"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DEBUGGING</a:t>
            </a:r>
            <a:endParaRPr lang="en-US" sz="1100" dirty="0">
              <a:solidFill>
                <a:srgbClr val="0E7DAD"/>
              </a:solidFill>
            </a:endParaRPr>
          </a:p>
        </p:txBody>
      </p:sp>
    </p:spTree>
    <p:extLst>
      <p:ext uri="{BB962C8B-B14F-4D97-AF65-F5344CB8AC3E}">
        <p14:creationId xmlns:p14="http://schemas.microsoft.com/office/powerpoint/2010/main" val="3911451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8260-844D-B98F-F54A-4D232F2646C7}"/>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245F0CFA-C532-2376-ED0F-0C697F88506E}"/>
              </a:ext>
            </a:extLst>
          </p:cNvPr>
          <p:cNvSpPr>
            <a:spLocks noGrp="1"/>
          </p:cNvSpPr>
          <p:nvPr>
            <p:ph type="title"/>
          </p:nvPr>
        </p:nvSpPr>
        <p:spPr/>
        <p:txBody>
          <a:bodyPr/>
          <a:lstStyle/>
          <a:p>
            <a:r>
              <a:rPr lang="en-US" b="1" dirty="0">
                <a:solidFill>
                  <a:srgbClr val="0B2545"/>
                </a:solidFill>
                <a:latin typeface="Cambria" pitchFamily="34" charset="0"/>
                <a:ea typeface="Cambria" pitchFamily="34" charset="-122"/>
                <a:cs typeface="Cambria" pitchFamily="34" charset="-120"/>
              </a:rPr>
              <a:t>DW Protocol vs SR5E1 library Discrepancy</a:t>
            </a:r>
            <a:endParaRPr lang="it-IT" dirty="0"/>
          </a:p>
        </p:txBody>
      </p:sp>
      <p:sp>
        <p:nvSpPr>
          <p:cNvPr id="6" name="Text 2">
            <a:extLst>
              <a:ext uri="{FF2B5EF4-FFF2-40B4-BE49-F238E27FC236}">
                <a16:creationId xmlns:a16="http://schemas.microsoft.com/office/drawing/2014/main" id="{BD0AB182-5CEE-1D1E-EC1E-7135396F1800}"/>
              </a:ext>
            </a:extLst>
          </p:cNvPr>
          <p:cNvSpPr/>
          <p:nvPr/>
        </p:nvSpPr>
        <p:spPr>
          <a:xfrm>
            <a:off x="548640" y="1170432"/>
            <a:ext cx="11064240" cy="365760"/>
          </a:xfrm>
          <a:prstGeom prst="rect">
            <a:avLst/>
          </a:prstGeom>
          <a:noFill/>
          <a:ln/>
        </p:spPr>
        <p:txBody>
          <a:bodyPr wrap="square" lIns="0" tIns="0" rIns="0" bIns="0" rtlCol="0" anchor="ctr"/>
          <a:lstStyle/>
          <a:p>
            <a:pPr marL="0" indent="0">
              <a:buNone/>
            </a:pPr>
            <a:r>
              <a:rPr lang="en-US" dirty="0">
                <a:solidFill>
                  <a:srgbClr val="5B6B7F"/>
                </a:solidFill>
                <a:latin typeface="Calibri" pitchFamily="34" charset="0"/>
                <a:ea typeface="Calibri" pitchFamily="34" charset="-122"/>
                <a:cs typeface="Calibri" pitchFamily="34" charset="-120"/>
              </a:rPr>
              <a:t>Debugging case study uncovering a mismatch between the DW Protocol specification and the SR5E1 library implementation.</a:t>
            </a:r>
            <a:endParaRPr lang="en-US" dirty="0"/>
          </a:p>
        </p:txBody>
      </p:sp>
      <p:sp>
        <p:nvSpPr>
          <p:cNvPr id="8" name="Shape 3">
            <a:extLst>
              <a:ext uri="{FF2B5EF4-FFF2-40B4-BE49-F238E27FC236}">
                <a16:creationId xmlns:a16="http://schemas.microsoft.com/office/drawing/2014/main" id="{89516D56-0C36-F1C9-2B52-AAA084CEB41B}"/>
              </a:ext>
            </a:extLst>
          </p:cNvPr>
          <p:cNvSpPr/>
          <p:nvPr/>
        </p:nvSpPr>
        <p:spPr>
          <a:xfrm>
            <a:off x="548640" y="1783080"/>
            <a:ext cx="310896" cy="310896"/>
          </a:xfrm>
          <a:prstGeom prst="ellipse">
            <a:avLst/>
          </a:prstGeom>
          <a:solidFill>
            <a:srgbClr val="0B2545"/>
          </a:solidFill>
          <a:ln/>
        </p:spPr>
        <p:txBody>
          <a:bodyPr/>
          <a:lstStyle/>
          <a:p>
            <a:endParaRPr lang="it-IT"/>
          </a:p>
        </p:txBody>
      </p:sp>
      <p:sp>
        <p:nvSpPr>
          <p:cNvPr id="10" name="Text 4">
            <a:extLst>
              <a:ext uri="{FF2B5EF4-FFF2-40B4-BE49-F238E27FC236}">
                <a16:creationId xmlns:a16="http://schemas.microsoft.com/office/drawing/2014/main" id="{8D0D9BBD-9595-BE83-8B2C-3845A6ACD998}"/>
              </a:ext>
            </a:extLst>
          </p:cNvPr>
          <p:cNvSpPr/>
          <p:nvPr/>
        </p:nvSpPr>
        <p:spPr>
          <a:xfrm>
            <a:off x="548640" y="178308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5">
            <a:extLst>
              <a:ext uri="{FF2B5EF4-FFF2-40B4-BE49-F238E27FC236}">
                <a16:creationId xmlns:a16="http://schemas.microsoft.com/office/drawing/2014/main" id="{FE16B51B-4CA7-BF02-1BA9-951E554674AC}"/>
              </a:ext>
            </a:extLst>
          </p:cNvPr>
          <p:cNvSpPr/>
          <p:nvPr/>
        </p:nvSpPr>
        <p:spPr>
          <a:xfrm>
            <a:off x="987552" y="1801368"/>
            <a:ext cx="7315200" cy="274320"/>
          </a:xfrm>
          <a:prstGeom prst="rect">
            <a:avLst/>
          </a:prstGeom>
          <a:noFill/>
          <a:ln/>
        </p:spPr>
        <p:txBody>
          <a:bodyPr wrap="square" lIns="0" tIns="0" rIns="0" bIns="0" rtlCol="0" anchor="ctr"/>
          <a:lstStyle/>
          <a:p>
            <a:r>
              <a:rPr lang="en-US" sz="1600" b="1" dirty="0">
                <a:solidFill>
                  <a:srgbClr val="1B1F27"/>
                </a:solidFill>
                <a:latin typeface="Calibri" pitchFamily="34" charset="0"/>
                <a:ea typeface="Calibri" pitchFamily="34" charset="-122"/>
                <a:cs typeface="Calibri" pitchFamily="34" charset="-120"/>
              </a:rPr>
              <a:t>SET_REG Transmission via PCAN-View</a:t>
            </a:r>
            <a:endParaRPr lang="en-US" sz="1600" dirty="0"/>
          </a:p>
        </p:txBody>
      </p:sp>
      <p:pic>
        <p:nvPicPr>
          <p:cNvPr id="14" name="Image 0" descr="/home/claude/unpacked/ppt/media/image4.png">
            <a:extLst>
              <a:ext uri="{FF2B5EF4-FFF2-40B4-BE49-F238E27FC236}">
                <a16:creationId xmlns:a16="http://schemas.microsoft.com/office/drawing/2014/main" id="{BC9455F1-CF26-6534-2468-798C054A05E2}"/>
              </a:ext>
            </a:extLst>
          </p:cNvPr>
          <p:cNvPicPr>
            <a:picLocks noChangeAspect="1"/>
          </p:cNvPicPr>
          <p:nvPr/>
        </p:nvPicPr>
        <p:blipFill>
          <a:blip r:embed="rId2"/>
          <a:stretch>
            <a:fillRect/>
          </a:stretch>
        </p:blipFill>
        <p:spPr>
          <a:xfrm>
            <a:off x="685800" y="2240280"/>
            <a:ext cx="10789920" cy="353368"/>
          </a:xfrm>
          <a:prstGeom prst="rect">
            <a:avLst/>
          </a:prstGeom>
        </p:spPr>
      </p:pic>
      <p:sp>
        <p:nvSpPr>
          <p:cNvPr id="16" name="Shape 7">
            <a:extLst>
              <a:ext uri="{FF2B5EF4-FFF2-40B4-BE49-F238E27FC236}">
                <a16:creationId xmlns:a16="http://schemas.microsoft.com/office/drawing/2014/main" id="{9DEAFC50-87B5-E33E-BF42-69646A36A569}"/>
              </a:ext>
            </a:extLst>
          </p:cNvPr>
          <p:cNvSpPr/>
          <p:nvPr/>
        </p:nvSpPr>
        <p:spPr>
          <a:xfrm>
            <a:off x="548640" y="3017520"/>
            <a:ext cx="310896" cy="310896"/>
          </a:xfrm>
          <a:prstGeom prst="ellipse">
            <a:avLst/>
          </a:prstGeom>
          <a:solidFill>
            <a:srgbClr val="0B2545"/>
          </a:solidFill>
          <a:ln/>
        </p:spPr>
        <p:txBody>
          <a:bodyPr/>
          <a:lstStyle/>
          <a:p>
            <a:endParaRPr lang="it-IT"/>
          </a:p>
        </p:txBody>
      </p:sp>
      <p:sp>
        <p:nvSpPr>
          <p:cNvPr id="18" name="Text 8">
            <a:extLst>
              <a:ext uri="{FF2B5EF4-FFF2-40B4-BE49-F238E27FC236}">
                <a16:creationId xmlns:a16="http://schemas.microsoft.com/office/drawing/2014/main" id="{9096987E-D96D-932B-C8DE-3E4157FE782E}"/>
              </a:ext>
            </a:extLst>
          </p:cNvPr>
          <p:cNvSpPr/>
          <p:nvPr/>
        </p:nvSpPr>
        <p:spPr>
          <a:xfrm>
            <a:off x="548640" y="301752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9">
            <a:extLst>
              <a:ext uri="{FF2B5EF4-FFF2-40B4-BE49-F238E27FC236}">
                <a16:creationId xmlns:a16="http://schemas.microsoft.com/office/drawing/2014/main" id="{D840C466-C766-F7C5-CFEC-5952B33CFC1F}"/>
              </a:ext>
            </a:extLst>
          </p:cNvPr>
          <p:cNvSpPr/>
          <p:nvPr/>
        </p:nvSpPr>
        <p:spPr>
          <a:xfrm>
            <a:off x="987552" y="2954901"/>
            <a:ext cx="4892040" cy="457200"/>
          </a:xfrm>
          <a:prstGeom prst="rect">
            <a:avLst/>
          </a:prstGeom>
          <a:noFill/>
          <a:ln/>
        </p:spPr>
        <p:txBody>
          <a:bodyPr wrap="square" lIns="0" tIns="0" rIns="0" bIns="0" rtlCol="0" anchor="ctr"/>
          <a:lstStyle/>
          <a:p>
            <a:pPr marL="0" indent="0">
              <a:buNone/>
            </a:pPr>
            <a:r>
              <a:rPr lang="en-US" sz="1600" b="1" dirty="0">
                <a:solidFill>
                  <a:srgbClr val="1B1F27"/>
                </a:solidFill>
                <a:latin typeface="Calibri" pitchFamily="34" charset="0"/>
                <a:ea typeface="Calibri" pitchFamily="34" charset="-122"/>
                <a:cs typeface="Calibri" pitchFamily="34" charset="-120"/>
              </a:rPr>
              <a:t>DW Specification Message Format</a:t>
            </a:r>
            <a:endParaRPr lang="en-US" sz="1600" dirty="0"/>
          </a:p>
        </p:txBody>
      </p:sp>
      <p:pic>
        <p:nvPicPr>
          <p:cNvPr id="22" name="Image 1" descr="/home/claude/unpacked/ppt/media/image3.png">
            <a:extLst>
              <a:ext uri="{FF2B5EF4-FFF2-40B4-BE49-F238E27FC236}">
                <a16:creationId xmlns:a16="http://schemas.microsoft.com/office/drawing/2014/main" id="{53809342-81EA-8951-DF84-220BFA957953}"/>
              </a:ext>
            </a:extLst>
          </p:cNvPr>
          <p:cNvPicPr>
            <a:picLocks noChangeAspect="1"/>
          </p:cNvPicPr>
          <p:nvPr/>
        </p:nvPicPr>
        <p:blipFill>
          <a:blip r:embed="rId3"/>
          <a:stretch>
            <a:fillRect/>
          </a:stretch>
        </p:blipFill>
        <p:spPr>
          <a:xfrm>
            <a:off x="731520" y="3657600"/>
            <a:ext cx="4983480" cy="892645"/>
          </a:xfrm>
          <a:prstGeom prst="rect">
            <a:avLst/>
          </a:prstGeom>
        </p:spPr>
      </p:pic>
      <p:sp>
        <p:nvSpPr>
          <p:cNvPr id="24" name="Shape 11">
            <a:extLst>
              <a:ext uri="{FF2B5EF4-FFF2-40B4-BE49-F238E27FC236}">
                <a16:creationId xmlns:a16="http://schemas.microsoft.com/office/drawing/2014/main" id="{46F9E305-1D1B-FF5F-E781-29AA5C18FBB8}"/>
              </a:ext>
            </a:extLst>
          </p:cNvPr>
          <p:cNvSpPr/>
          <p:nvPr/>
        </p:nvSpPr>
        <p:spPr>
          <a:xfrm>
            <a:off x="6263640" y="3017520"/>
            <a:ext cx="310896" cy="310896"/>
          </a:xfrm>
          <a:prstGeom prst="ellipse">
            <a:avLst/>
          </a:prstGeom>
          <a:solidFill>
            <a:srgbClr val="0B2545"/>
          </a:solidFill>
          <a:ln/>
        </p:spPr>
        <p:txBody>
          <a:bodyPr/>
          <a:lstStyle/>
          <a:p>
            <a:endParaRPr lang="it-IT"/>
          </a:p>
        </p:txBody>
      </p:sp>
      <p:sp>
        <p:nvSpPr>
          <p:cNvPr id="26" name="Text 12">
            <a:extLst>
              <a:ext uri="{FF2B5EF4-FFF2-40B4-BE49-F238E27FC236}">
                <a16:creationId xmlns:a16="http://schemas.microsoft.com/office/drawing/2014/main" id="{9490995E-5537-AECF-6FA8-25D1E13F95F0}"/>
              </a:ext>
            </a:extLst>
          </p:cNvPr>
          <p:cNvSpPr/>
          <p:nvPr/>
        </p:nvSpPr>
        <p:spPr>
          <a:xfrm>
            <a:off x="6263640" y="301752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13">
            <a:extLst>
              <a:ext uri="{FF2B5EF4-FFF2-40B4-BE49-F238E27FC236}">
                <a16:creationId xmlns:a16="http://schemas.microsoft.com/office/drawing/2014/main" id="{50F6577A-1B62-C8B1-4F21-69084F20EC8A}"/>
              </a:ext>
            </a:extLst>
          </p:cNvPr>
          <p:cNvSpPr/>
          <p:nvPr/>
        </p:nvSpPr>
        <p:spPr>
          <a:xfrm>
            <a:off x="6702552" y="2944368"/>
            <a:ext cx="4892040" cy="457200"/>
          </a:xfrm>
          <a:prstGeom prst="rect">
            <a:avLst/>
          </a:prstGeom>
          <a:noFill/>
          <a:ln/>
        </p:spPr>
        <p:txBody>
          <a:bodyPr wrap="square" lIns="0" tIns="0" rIns="0" bIns="0" rtlCol="0" anchor="ctr"/>
          <a:lstStyle/>
          <a:p>
            <a:pPr marL="0" indent="0">
              <a:buNone/>
            </a:pPr>
            <a:r>
              <a:rPr lang="en-US" sz="1600" b="1" dirty="0">
                <a:solidFill>
                  <a:srgbClr val="1B1F27"/>
                </a:solidFill>
                <a:latin typeface="Calibri" pitchFamily="34" charset="0"/>
                <a:ea typeface="Calibri" pitchFamily="34" charset="-122"/>
                <a:cs typeface="Calibri" pitchFamily="34" charset="-120"/>
              </a:rPr>
              <a:t>Debug Verification of Incorrect SET Handling</a:t>
            </a:r>
            <a:endParaRPr lang="en-US" sz="1600" dirty="0"/>
          </a:p>
        </p:txBody>
      </p:sp>
      <p:sp>
        <p:nvSpPr>
          <p:cNvPr id="30" name="Shape 15">
            <a:extLst>
              <a:ext uri="{FF2B5EF4-FFF2-40B4-BE49-F238E27FC236}">
                <a16:creationId xmlns:a16="http://schemas.microsoft.com/office/drawing/2014/main" id="{E80CDA18-F095-44EA-B990-C608EDDCF2A2}"/>
              </a:ext>
            </a:extLst>
          </p:cNvPr>
          <p:cNvSpPr/>
          <p:nvPr/>
        </p:nvSpPr>
        <p:spPr>
          <a:xfrm>
            <a:off x="548640" y="5349240"/>
            <a:ext cx="11064240" cy="868680"/>
          </a:xfrm>
          <a:prstGeom prst="roundRect">
            <a:avLst>
              <a:gd name="adj" fmla="val 10526"/>
            </a:avLst>
          </a:prstGeom>
          <a:solidFill>
            <a:srgbClr val="0B2545"/>
          </a:solidFill>
          <a:ln/>
        </p:spPr>
        <p:txBody>
          <a:bodyPr/>
          <a:lstStyle/>
          <a:p>
            <a:endParaRPr lang="it-IT"/>
          </a:p>
        </p:txBody>
      </p:sp>
      <p:sp>
        <p:nvSpPr>
          <p:cNvPr id="32" name="Text 17">
            <a:extLst>
              <a:ext uri="{FF2B5EF4-FFF2-40B4-BE49-F238E27FC236}">
                <a16:creationId xmlns:a16="http://schemas.microsoft.com/office/drawing/2014/main" id="{95D2A4EF-B9FA-1E17-0D54-7D70E6FF44B4}"/>
              </a:ext>
            </a:extLst>
          </p:cNvPr>
          <p:cNvSpPr/>
          <p:nvPr/>
        </p:nvSpPr>
        <p:spPr>
          <a:xfrm>
            <a:off x="777240" y="5605272"/>
            <a:ext cx="365760" cy="365760"/>
          </a:xfrm>
          <a:prstGeom prst="rect">
            <a:avLst/>
          </a:prstGeom>
          <a:noFill/>
          <a:ln/>
        </p:spPr>
        <p:txBody>
          <a:bodyPr wrap="square" lIns="0" tIns="0" rIns="0" bIns="0" rtlCol="0" anchor="ctr"/>
          <a:lstStyle/>
          <a:p>
            <a:pPr marL="0" indent="0" algn="ctr">
              <a:buNone/>
            </a:pPr>
            <a:r>
              <a:rPr lang="en-US" sz="1800" b="1" dirty="0">
                <a:solidFill>
                  <a:srgbClr val="0B2545"/>
                </a:solidFill>
                <a:latin typeface="Cambria" pitchFamily="34" charset="0"/>
                <a:ea typeface="Cambria" pitchFamily="34" charset="-122"/>
                <a:cs typeface="Cambria" pitchFamily="34" charset="-120"/>
              </a:rPr>
              <a:t>!</a:t>
            </a:r>
            <a:endParaRPr lang="en-US" sz="1800" dirty="0"/>
          </a:p>
        </p:txBody>
      </p:sp>
      <p:sp>
        <p:nvSpPr>
          <p:cNvPr id="34" name="Text 18">
            <a:extLst>
              <a:ext uri="{FF2B5EF4-FFF2-40B4-BE49-F238E27FC236}">
                <a16:creationId xmlns:a16="http://schemas.microsoft.com/office/drawing/2014/main" id="{6410A177-F611-1BC5-ADF0-56C810FD8F22}"/>
              </a:ext>
            </a:extLst>
          </p:cNvPr>
          <p:cNvSpPr/>
          <p:nvPr/>
        </p:nvSpPr>
        <p:spPr>
          <a:xfrm>
            <a:off x="1325880" y="5349240"/>
            <a:ext cx="10058400" cy="868680"/>
          </a:xfrm>
          <a:prstGeom prst="rect">
            <a:avLst/>
          </a:prstGeom>
          <a:noFill/>
          <a:ln/>
        </p:spPr>
        <p:txBody>
          <a:bodyPr wrap="square" lIns="0" tIns="0" rIns="0" bIns="0" rtlCol="0" anchor="ctr"/>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Conclusion: </a:t>
            </a:r>
            <a:r>
              <a:rPr lang="en-US" sz="1400" b="1" dirty="0">
                <a:solidFill>
                  <a:srgbClr val="D7E4F2"/>
                </a:solidFill>
                <a:latin typeface="Calibri" pitchFamily="34" charset="0"/>
                <a:ea typeface="Calibri" pitchFamily="34" charset="-122"/>
                <a:cs typeface="Calibri" pitchFamily="34" charset="-120"/>
              </a:rPr>
              <a:t>B</a:t>
            </a:r>
            <a:r>
              <a:rPr lang="en-US" sz="1400" dirty="0">
                <a:solidFill>
                  <a:srgbClr val="D7E4F2"/>
                </a:solidFill>
                <a:latin typeface="Calibri" pitchFamily="34" charset="0"/>
                <a:ea typeface="Calibri" pitchFamily="34" charset="-122"/>
                <a:cs typeface="Calibri" pitchFamily="34" charset="-120"/>
              </a:rPr>
              <a:t>yte 0 is not used for payload length, but directly represents the target register ID.</a:t>
            </a:r>
            <a:endParaRPr lang="en-US" sz="1400" dirty="0"/>
          </a:p>
        </p:txBody>
      </p:sp>
      <p:sp>
        <p:nvSpPr>
          <p:cNvPr id="36" name="Shape 16">
            <a:extLst>
              <a:ext uri="{FF2B5EF4-FFF2-40B4-BE49-F238E27FC236}">
                <a16:creationId xmlns:a16="http://schemas.microsoft.com/office/drawing/2014/main" id="{64D7E88F-F77B-75F8-5718-CC694647E282}"/>
              </a:ext>
            </a:extLst>
          </p:cNvPr>
          <p:cNvSpPr/>
          <p:nvPr/>
        </p:nvSpPr>
        <p:spPr>
          <a:xfrm>
            <a:off x="807720" y="5605272"/>
            <a:ext cx="365760" cy="365760"/>
          </a:xfrm>
          <a:prstGeom prst="ellipse">
            <a:avLst/>
          </a:prstGeom>
          <a:solidFill>
            <a:srgbClr val="00B4D8"/>
          </a:solidFill>
          <a:ln/>
        </p:spPr>
        <p:txBody>
          <a:bodyPr/>
          <a:lstStyle/>
          <a:p>
            <a:endParaRPr lang="it-IT"/>
          </a:p>
        </p:txBody>
      </p:sp>
      <p:pic>
        <p:nvPicPr>
          <p:cNvPr id="38" name="Immagine 37">
            <a:extLst>
              <a:ext uri="{FF2B5EF4-FFF2-40B4-BE49-F238E27FC236}">
                <a16:creationId xmlns:a16="http://schemas.microsoft.com/office/drawing/2014/main" id="{0B77593D-D6C5-5001-C98D-359807F442E8}"/>
              </a:ext>
            </a:extLst>
          </p:cNvPr>
          <p:cNvPicPr>
            <a:picLocks noChangeAspect="1"/>
          </p:cNvPicPr>
          <p:nvPr/>
        </p:nvPicPr>
        <p:blipFill>
          <a:blip r:embed="rId4"/>
          <a:stretch>
            <a:fillRect/>
          </a:stretch>
        </p:blipFill>
        <p:spPr>
          <a:xfrm>
            <a:off x="6702552" y="3441392"/>
            <a:ext cx="3378013" cy="1836813"/>
          </a:xfrm>
          <a:prstGeom prst="rect">
            <a:avLst/>
          </a:prstGeom>
        </p:spPr>
      </p:pic>
      <p:sp>
        <p:nvSpPr>
          <p:cNvPr id="40" name="CasellaDiTesto 39">
            <a:extLst>
              <a:ext uri="{FF2B5EF4-FFF2-40B4-BE49-F238E27FC236}">
                <a16:creationId xmlns:a16="http://schemas.microsoft.com/office/drawing/2014/main" id="{020E17E5-45AC-5C90-3F2C-4B361A05189C}"/>
              </a:ext>
            </a:extLst>
          </p:cNvPr>
          <p:cNvSpPr txBox="1"/>
          <p:nvPr/>
        </p:nvSpPr>
        <p:spPr>
          <a:xfrm>
            <a:off x="-2060448" y="5601700"/>
            <a:ext cx="6096000" cy="369332"/>
          </a:xfrm>
          <a:prstGeom prst="rect">
            <a:avLst/>
          </a:prstGeom>
          <a:noFill/>
        </p:spPr>
        <p:txBody>
          <a:bodyPr wrap="square">
            <a:spAutoFit/>
          </a:bodyPr>
          <a:lstStyle/>
          <a:p>
            <a:pPr marL="0" indent="0" algn="ctr">
              <a:buNone/>
            </a:pPr>
            <a:r>
              <a:rPr lang="en-US" sz="1800" b="1" dirty="0">
                <a:solidFill>
                  <a:srgbClr val="0B2545"/>
                </a:solidFill>
                <a:latin typeface="Cambria" pitchFamily="34" charset="0"/>
                <a:ea typeface="Cambria" pitchFamily="34" charset="-122"/>
                <a:cs typeface="Cambria" pitchFamily="34" charset="-120"/>
              </a:rPr>
              <a:t>!</a:t>
            </a:r>
            <a:endParaRPr lang="en-US" sz="1800" dirty="0"/>
          </a:p>
        </p:txBody>
      </p:sp>
      <p:sp>
        <p:nvSpPr>
          <p:cNvPr id="5" name="Text 0">
            <a:extLst>
              <a:ext uri="{FF2B5EF4-FFF2-40B4-BE49-F238E27FC236}">
                <a16:creationId xmlns:a16="http://schemas.microsoft.com/office/drawing/2014/main" id="{FFDA8716-6704-04E6-83C0-1D5C3F1FE262}"/>
              </a:ext>
            </a:extLst>
          </p:cNvPr>
          <p:cNvSpPr/>
          <p:nvPr/>
        </p:nvSpPr>
        <p:spPr>
          <a:xfrm>
            <a:off x="10783503" y="189297"/>
            <a:ext cx="7315200" cy="310896"/>
          </a:xfrm>
          <a:prstGeom prst="rect">
            <a:avLst/>
          </a:prstGeom>
          <a:noFill/>
          <a:ln/>
        </p:spPr>
        <p:txBody>
          <a:bodyPr wrap="square" lIns="0" tIns="0" rIns="0" bIns="0"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DEBUGGING</a:t>
            </a:r>
            <a:endParaRPr lang="en-US" sz="1100" dirty="0">
              <a:solidFill>
                <a:srgbClr val="0E7DAD"/>
              </a:solidFill>
            </a:endParaRPr>
          </a:p>
        </p:txBody>
      </p:sp>
    </p:spTree>
    <p:extLst>
      <p:ext uri="{BB962C8B-B14F-4D97-AF65-F5344CB8AC3E}">
        <p14:creationId xmlns:p14="http://schemas.microsoft.com/office/powerpoint/2010/main" val="2698934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CCB8-ACD0-0E4C-6E7D-0A57A19A0DA9}"/>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07643A5E-D88B-30F6-4A8C-0FDA51E9D9D6}"/>
              </a:ext>
            </a:extLst>
          </p:cNvPr>
          <p:cNvSpPr>
            <a:spLocks noGrp="1"/>
          </p:cNvSpPr>
          <p:nvPr>
            <p:ph type="title"/>
          </p:nvPr>
        </p:nvSpPr>
        <p:spPr/>
        <p:txBody>
          <a:bodyPr/>
          <a:lstStyle/>
          <a:p>
            <a:r>
              <a:rPr lang="it-IT" dirty="0"/>
              <a:t>DBC file</a:t>
            </a:r>
          </a:p>
        </p:txBody>
      </p:sp>
    </p:spTree>
    <p:extLst>
      <p:ext uri="{BB962C8B-B14F-4D97-AF65-F5344CB8AC3E}">
        <p14:creationId xmlns:p14="http://schemas.microsoft.com/office/powerpoint/2010/main" val="3800656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39AE2-28E0-7830-A773-F3EDCF3105C2}"/>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AE698F21-33DB-D5EF-E835-DE26C366333E}"/>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What is the .DBC file used for?</a:t>
            </a:r>
            <a:endParaRPr lang="it-IT" dirty="0"/>
          </a:p>
        </p:txBody>
      </p:sp>
      <p:sp>
        <p:nvSpPr>
          <p:cNvPr id="6" name="Text 0">
            <a:extLst>
              <a:ext uri="{FF2B5EF4-FFF2-40B4-BE49-F238E27FC236}">
                <a16:creationId xmlns:a16="http://schemas.microsoft.com/office/drawing/2014/main" id="{60442500-00FF-F8A1-8494-F70C8E518D10}"/>
              </a:ext>
            </a:extLst>
          </p:cNvPr>
          <p:cNvSpPr/>
          <p:nvPr/>
        </p:nvSpPr>
        <p:spPr>
          <a:xfrm>
            <a:off x="10911840" y="182880"/>
            <a:ext cx="54864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DBC FILE</a:t>
            </a:r>
            <a:endParaRPr lang="en-US" sz="1100" dirty="0"/>
          </a:p>
        </p:txBody>
      </p:sp>
      <p:sp>
        <p:nvSpPr>
          <p:cNvPr id="8" name="Text 2">
            <a:extLst>
              <a:ext uri="{FF2B5EF4-FFF2-40B4-BE49-F238E27FC236}">
                <a16:creationId xmlns:a16="http://schemas.microsoft.com/office/drawing/2014/main" id="{09B5E634-B2ED-79F8-1B67-C3653FC9CA56}"/>
              </a:ext>
            </a:extLst>
          </p:cNvPr>
          <p:cNvSpPr/>
          <p:nvPr/>
        </p:nvSpPr>
        <p:spPr>
          <a:xfrm>
            <a:off x="502920" y="1325880"/>
            <a:ext cx="5989320" cy="1051560"/>
          </a:xfrm>
          <a:prstGeom prst="rect">
            <a:avLst/>
          </a:prstGeom>
          <a:noFill/>
          <a:ln/>
        </p:spPr>
        <p:txBody>
          <a:bodyPr wrap="square" rtlCol="0" anchor="t"/>
          <a:lstStyle/>
          <a:p>
            <a:pPr>
              <a:lnSpc>
                <a:spcPct val="115000"/>
              </a:lnSpc>
            </a:pPr>
            <a:r>
              <a:rPr lang="en-US" sz="1400" dirty="0">
                <a:solidFill>
                  <a:srgbClr val="51606E"/>
                </a:solidFill>
                <a:latin typeface="Calibri" pitchFamily="34" charset="0"/>
                <a:ea typeface="Calibri" pitchFamily="34" charset="-122"/>
                <a:cs typeface="Calibri" pitchFamily="34" charset="-120"/>
              </a:rPr>
              <a:t>The . DBC (CAN Database) file is the standard configuration file used in the automotive industry to describe the structure of the CAN bus. It acts as a dictionary that translates hexadecimal data into physical signals that can be read by software such as Vector CANalyzer.</a:t>
            </a:r>
            <a:endParaRPr lang="en-US" sz="1400" dirty="0"/>
          </a:p>
        </p:txBody>
      </p:sp>
      <p:sp>
        <p:nvSpPr>
          <p:cNvPr id="10" name="Text 3">
            <a:extLst>
              <a:ext uri="{FF2B5EF4-FFF2-40B4-BE49-F238E27FC236}">
                <a16:creationId xmlns:a16="http://schemas.microsoft.com/office/drawing/2014/main" id="{F9D42B2E-5CF6-F3C1-62DC-8B774215E6F6}"/>
              </a:ext>
            </a:extLst>
          </p:cNvPr>
          <p:cNvSpPr/>
          <p:nvPr/>
        </p:nvSpPr>
        <p:spPr>
          <a:xfrm>
            <a:off x="502920" y="2423160"/>
            <a:ext cx="5989320" cy="320040"/>
          </a:xfrm>
          <a:prstGeom prst="rect">
            <a:avLst/>
          </a:prstGeom>
          <a:noFill/>
          <a:ln/>
        </p:spPr>
        <p:txBody>
          <a:bodyPr wrap="square" rtlCol="0" anchor="ctr"/>
          <a:lstStyle/>
          <a:p>
            <a:r>
              <a:rPr lang="en-US" sz="1600" b="1">
                <a:solidFill>
                  <a:srgbClr val="03234B"/>
                </a:solidFill>
                <a:latin typeface="Calibri" pitchFamily="34" charset="0"/>
                <a:ea typeface="Calibri" pitchFamily="34" charset="-122"/>
                <a:cs typeface="Calibri" pitchFamily="34" charset="-120"/>
              </a:rPr>
              <a:t>The . DBC file defines:</a:t>
            </a:r>
            <a:endParaRPr lang="en-US" sz="1600" dirty="0"/>
          </a:p>
        </p:txBody>
      </p:sp>
      <p:sp>
        <p:nvSpPr>
          <p:cNvPr id="12" name="Shape 4">
            <a:extLst>
              <a:ext uri="{FF2B5EF4-FFF2-40B4-BE49-F238E27FC236}">
                <a16:creationId xmlns:a16="http://schemas.microsoft.com/office/drawing/2014/main" id="{FE5D8964-95EC-9722-A6D0-327221FF2026}"/>
              </a:ext>
            </a:extLst>
          </p:cNvPr>
          <p:cNvSpPr/>
          <p:nvPr/>
        </p:nvSpPr>
        <p:spPr>
          <a:xfrm>
            <a:off x="502920" y="2843784"/>
            <a:ext cx="82296" cy="82296"/>
          </a:xfrm>
          <a:prstGeom prst="ellipse">
            <a:avLst/>
          </a:prstGeom>
          <a:solidFill>
            <a:srgbClr val="3CB4E6"/>
          </a:solidFill>
          <a:ln/>
        </p:spPr>
        <p:txBody>
          <a:bodyPr/>
          <a:lstStyle/>
          <a:p>
            <a:endParaRPr lang="it-IT"/>
          </a:p>
        </p:txBody>
      </p:sp>
      <p:sp>
        <p:nvSpPr>
          <p:cNvPr id="14" name="Text 5">
            <a:extLst>
              <a:ext uri="{FF2B5EF4-FFF2-40B4-BE49-F238E27FC236}">
                <a16:creationId xmlns:a16="http://schemas.microsoft.com/office/drawing/2014/main" id="{926D015A-29DC-FEE5-D63C-0EBC4F38D33D}"/>
              </a:ext>
            </a:extLst>
          </p:cNvPr>
          <p:cNvSpPr/>
          <p:nvPr/>
        </p:nvSpPr>
        <p:spPr>
          <a:xfrm>
            <a:off x="758952" y="2706624"/>
            <a:ext cx="5733288" cy="502920"/>
          </a:xfrm>
          <a:prstGeom prst="rect">
            <a:avLst/>
          </a:prstGeom>
          <a:noFill/>
          <a:ln/>
        </p:spPr>
        <p:txBody>
          <a:bodyPr wrap="square" rtlCol="0" anchor="t"/>
          <a:lstStyle/>
          <a:p>
            <a:pPr>
              <a:lnSpc>
                <a:spcPct val="110000"/>
              </a:lnSpc>
            </a:pPr>
            <a:r>
              <a:rPr lang="en-US" sz="1400" b="1" dirty="0">
                <a:solidFill>
                  <a:srgbClr val="03234B"/>
                </a:solidFill>
                <a:latin typeface="Calibri" pitchFamily="34" charset="0"/>
                <a:ea typeface="Calibri" pitchFamily="34" charset="-122"/>
                <a:cs typeface="Calibri" pitchFamily="34" charset="-120"/>
              </a:rPr>
              <a:t>CAN IDs </a:t>
            </a:r>
            <a:r>
              <a:rPr lang="en-US" sz="1400" dirty="0">
                <a:solidFill>
                  <a:srgbClr val="51606E"/>
                </a:solidFill>
                <a:latin typeface="Calibri" pitchFamily="34" charset="0"/>
                <a:ea typeface="Calibri" pitchFamily="34" charset="-122"/>
                <a:cs typeface="Calibri" pitchFamily="34" charset="-120"/>
              </a:rPr>
              <a:t>of transmitted and received the messages</a:t>
            </a:r>
            <a:endParaRPr lang="en-US" sz="1400" dirty="0"/>
          </a:p>
        </p:txBody>
      </p:sp>
      <p:sp>
        <p:nvSpPr>
          <p:cNvPr id="16" name="Shape 6">
            <a:extLst>
              <a:ext uri="{FF2B5EF4-FFF2-40B4-BE49-F238E27FC236}">
                <a16:creationId xmlns:a16="http://schemas.microsoft.com/office/drawing/2014/main" id="{0B7CF4DE-27F3-C77D-09D8-E14D8B1061A2}"/>
              </a:ext>
            </a:extLst>
          </p:cNvPr>
          <p:cNvSpPr/>
          <p:nvPr/>
        </p:nvSpPr>
        <p:spPr>
          <a:xfrm>
            <a:off x="502920" y="3447288"/>
            <a:ext cx="82296" cy="82296"/>
          </a:xfrm>
          <a:prstGeom prst="ellipse">
            <a:avLst/>
          </a:prstGeom>
          <a:solidFill>
            <a:srgbClr val="3CB4E6"/>
          </a:solidFill>
          <a:ln/>
        </p:spPr>
        <p:txBody>
          <a:bodyPr/>
          <a:lstStyle/>
          <a:p>
            <a:endParaRPr lang="it-IT"/>
          </a:p>
        </p:txBody>
      </p:sp>
      <p:sp>
        <p:nvSpPr>
          <p:cNvPr id="18" name="Text 7">
            <a:extLst>
              <a:ext uri="{FF2B5EF4-FFF2-40B4-BE49-F238E27FC236}">
                <a16:creationId xmlns:a16="http://schemas.microsoft.com/office/drawing/2014/main" id="{9543625D-65D6-242B-68E7-ABC4566955B8}"/>
              </a:ext>
            </a:extLst>
          </p:cNvPr>
          <p:cNvSpPr/>
          <p:nvPr/>
        </p:nvSpPr>
        <p:spPr>
          <a:xfrm>
            <a:off x="758952" y="3310128"/>
            <a:ext cx="5733288" cy="502920"/>
          </a:xfrm>
          <a:prstGeom prst="rect">
            <a:avLst/>
          </a:prstGeom>
          <a:noFill/>
          <a:ln/>
        </p:spPr>
        <p:txBody>
          <a:bodyPr wrap="square" rtlCol="0" anchor="t"/>
          <a:lstStyle/>
          <a:p>
            <a:pPr>
              <a:lnSpc>
                <a:spcPct val="110000"/>
              </a:lnSpc>
            </a:pPr>
            <a:r>
              <a:rPr lang="en-US" sz="1400" b="1" dirty="0">
                <a:solidFill>
                  <a:srgbClr val="03234B"/>
                </a:solidFill>
                <a:latin typeface="Calibri" pitchFamily="34" charset="0"/>
                <a:ea typeface="Calibri" pitchFamily="34" charset="-122"/>
                <a:cs typeface="Calibri" pitchFamily="34" charset="-120"/>
              </a:rPr>
              <a:t>Length (DLC)   </a:t>
            </a:r>
            <a:r>
              <a:rPr lang="en-US" sz="1400" dirty="0">
                <a:solidFill>
                  <a:srgbClr val="51606E"/>
                </a:solidFill>
                <a:latin typeface="Calibri" pitchFamily="34" charset="0"/>
                <a:ea typeface="Calibri" pitchFamily="34" charset="-122"/>
                <a:cs typeface="Calibri" pitchFamily="34" charset="-120"/>
              </a:rPr>
              <a:t> of each message, expressed in bytes</a:t>
            </a:r>
            <a:endParaRPr lang="en-US" sz="1400" dirty="0"/>
          </a:p>
        </p:txBody>
      </p:sp>
      <p:sp>
        <p:nvSpPr>
          <p:cNvPr id="20" name="Shape 8">
            <a:extLst>
              <a:ext uri="{FF2B5EF4-FFF2-40B4-BE49-F238E27FC236}">
                <a16:creationId xmlns:a16="http://schemas.microsoft.com/office/drawing/2014/main" id="{089137A0-4CEC-460B-B8FE-C40267578044}"/>
              </a:ext>
            </a:extLst>
          </p:cNvPr>
          <p:cNvSpPr/>
          <p:nvPr/>
        </p:nvSpPr>
        <p:spPr>
          <a:xfrm>
            <a:off x="502920" y="4050792"/>
            <a:ext cx="82296" cy="82296"/>
          </a:xfrm>
          <a:prstGeom prst="ellipse">
            <a:avLst/>
          </a:prstGeom>
          <a:solidFill>
            <a:srgbClr val="3CB4E6"/>
          </a:solidFill>
          <a:ln/>
        </p:spPr>
        <p:txBody>
          <a:bodyPr/>
          <a:lstStyle/>
          <a:p>
            <a:endParaRPr lang="it-IT"/>
          </a:p>
        </p:txBody>
      </p:sp>
      <p:sp>
        <p:nvSpPr>
          <p:cNvPr id="22" name="Text 9">
            <a:extLst>
              <a:ext uri="{FF2B5EF4-FFF2-40B4-BE49-F238E27FC236}">
                <a16:creationId xmlns:a16="http://schemas.microsoft.com/office/drawing/2014/main" id="{77474561-F785-CB68-FF14-9FC2937BDDAB}"/>
              </a:ext>
            </a:extLst>
          </p:cNvPr>
          <p:cNvSpPr/>
          <p:nvPr/>
        </p:nvSpPr>
        <p:spPr>
          <a:xfrm>
            <a:off x="758952" y="3913632"/>
            <a:ext cx="5733288" cy="502920"/>
          </a:xfrm>
          <a:prstGeom prst="rect">
            <a:avLst/>
          </a:prstGeom>
          <a:noFill/>
          <a:ln/>
        </p:spPr>
        <p:txBody>
          <a:bodyPr wrap="square" rtlCol="0" anchor="t"/>
          <a:lstStyle/>
          <a:p>
            <a:pPr>
              <a:lnSpc>
                <a:spcPct val="110000"/>
              </a:lnSpc>
            </a:pPr>
            <a:r>
              <a:rPr lang="en-US" sz="1400" b="1" dirty="0">
                <a:solidFill>
                  <a:srgbClr val="03234B"/>
                </a:solidFill>
                <a:latin typeface="Calibri" pitchFamily="34" charset="0"/>
                <a:ea typeface="Calibri" pitchFamily="34" charset="-122"/>
                <a:cs typeface="Calibri" pitchFamily="34" charset="-120"/>
              </a:rPr>
              <a:t>Payload </a:t>
            </a:r>
            <a:r>
              <a:rPr lang="en-US" sz="1400" b="1" dirty="0">
                <a:solidFill>
                  <a:srgbClr val="51606E"/>
                </a:solidFill>
                <a:latin typeface="Calibri" pitchFamily="34" charset="0"/>
                <a:ea typeface="Calibri" pitchFamily="34" charset="-122"/>
                <a:cs typeface="Calibri" pitchFamily="34" charset="-120"/>
              </a:rPr>
              <a:t> </a:t>
            </a:r>
            <a:r>
              <a:rPr lang="en-US" sz="1400" dirty="0">
                <a:solidFill>
                  <a:srgbClr val="51606E"/>
                </a:solidFill>
                <a:latin typeface="Calibri" pitchFamily="34" charset="0"/>
                <a:ea typeface="Calibri" pitchFamily="34" charset="-122"/>
                <a:cs typeface="Calibri" pitchFamily="34" charset="-120"/>
              </a:rPr>
              <a:t>bit position, length, signed/unsigned type, scale factor and offset</a:t>
            </a:r>
            <a:endParaRPr lang="en-US" sz="1400" dirty="0"/>
          </a:p>
        </p:txBody>
      </p:sp>
      <p:sp>
        <p:nvSpPr>
          <p:cNvPr id="24" name="Shape 10">
            <a:extLst>
              <a:ext uri="{FF2B5EF4-FFF2-40B4-BE49-F238E27FC236}">
                <a16:creationId xmlns:a16="http://schemas.microsoft.com/office/drawing/2014/main" id="{53289285-4AF0-013F-4B7A-465C547766A3}"/>
              </a:ext>
            </a:extLst>
          </p:cNvPr>
          <p:cNvSpPr/>
          <p:nvPr/>
        </p:nvSpPr>
        <p:spPr>
          <a:xfrm>
            <a:off x="502920" y="4517136"/>
            <a:ext cx="5989320" cy="1746504"/>
          </a:xfrm>
          <a:prstGeom prst="roundRect">
            <a:avLst>
              <a:gd name="adj" fmla="val 3390"/>
            </a:avLst>
          </a:prstGeom>
          <a:solidFill>
            <a:srgbClr val="F2F7FB"/>
          </a:solidFill>
          <a:ln/>
        </p:spPr>
        <p:txBody>
          <a:bodyPr/>
          <a:lstStyle/>
          <a:p>
            <a:endParaRPr lang="it-IT" sz="1400"/>
          </a:p>
        </p:txBody>
      </p:sp>
      <p:sp>
        <p:nvSpPr>
          <p:cNvPr id="26" name="Text 11">
            <a:extLst>
              <a:ext uri="{FF2B5EF4-FFF2-40B4-BE49-F238E27FC236}">
                <a16:creationId xmlns:a16="http://schemas.microsoft.com/office/drawing/2014/main" id="{1A3776AC-14ED-026E-E23F-61BEB744CA5B}"/>
              </a:ext>
            </a:extLst>
          </p:cNvPr>
          <p:cNvSpPr/>
          <p:nvPr/>
        </p:nvSpPr>
        <p:spPr>
          <a:xfrm>
            <a:off x="777240" y="4681728"/>
            <a:ext cx="5440680" cy="320040"/>
          </a:xfrm>
          <a:prstGeom prst="rect">
            <a:avLst/>
          </a:prstGeom>
          <a:noFill/>
          <a:ln/>
        </p:spPr>
        <p:txBody>
          <a:bodyPr wrap="square" rtlCol="0" anchor="ctr"/>
          <a:lstStyle/>
          <a:p>
            <a:pPr algn="ctr"/>
            <a:r>
              <a:rPr lang="en-US" sz="1400" b="1">
                <a:solidFill>
                  <a:srgbClr val="03234B"/>
                </a:solidFill>
                <a:latin typeface="Calibri" pitchFamily="34" charset="0"/>
                <a:ea typeface="Calibri" pitchFamily="34" charset="-122"/>
                <a:cs typeface="Calibri" pitchFamily="34" charset="-120"/>
              </a:rPr>
              <a:t>Message Tree. DBC</a:t>
            </a:r>
            <a:endParaRPr lang="en-US" sz="1400" dirty="0"/>
          </a:p>
        </p:txBody>
      </p:sp>
      <p:sp>
        <p:nvSpPr>
          <p:cNvPr id="28" name="Shape 12">
            <a:extLst>
              <a:ext uri="{FF2B5EF4-FFF2-40B4-BE49-F238E27FC236}">
                <a16:creationId xmlns:a16="http://schemas.microsoft.com/office/drawing/2014/main" id="{C80602EB-07D9-ACC8-AB0C-31D0EDD77F47}"/>
              </a:ext>
            </a:extLst>
          </p:cNvPr>
          <p:cNvSpPr/>
          <p:nvPr/>
        </p:nvSpPr>
        <p:spPr>
          <a:xfrm>
            <a:off x="777240" y="5157216"/>
            <a:ext cx="64008" cy="64008"/>
          </a:xfrm>
          <a:prstGeom prst="ellipse">
            <a:avLst/>
          </a:prstGeom>
          <a:solidFill>
            <a:srgbClr val="3CB4E6"/>
          </a:solidFill>
          <a:ln/>
        </p:spPr>
        <p:txBody>
          <a:bodyPr/>
          <a:lstStyle/>
          <a:p>
            <a:endParaRPr lang="it-IT"/>
          </a:p>
        </p:txBody>
      </p:sp>
      <p:sp>
        <p:nvSpPr>
          <p:cNvPr id="30" name="Text 13">
            <a:extLst>
              <a:ext uri="{FF2B5EF4-FFF2-40B4-BE49-F238E27FC236}">
                <a16:creationId xmlns:a16="http://schemas.microsoft.com/office/drawing/2014/main" id="{8636CE58-F329-058B-4A05-A9C9494A47B2}"/>
              </a:ext>
            </a:extLst>
          </p:cNvPr>
          <p:cNvSpPr/>
          <p:nvPr/>
        </p:nvSpPr>
        <p:spPr>
          <a:xfrm>
            <a:off x="960120" y="5029200"/>
            <a:ext cx="5257800" cy="457200"/>
          </a:xfrm>
          <a:prstGeom prst="rect">
            <a:avLst/>
          </a:prstGeom>
          <a:noFill/>
          <a:ln/>
        </p:spPr>
        <p:txBody>
          <a:bodyPr wrap="square" rtlCol="0" anchor="t"/>
          <a:lstStyle/>
          <a:p>
            <a:pPr>
              <a:lnSpc>
                <a:spcPct val="110000"/>
              </a:lnSpc>
            </a:pPr>
            <a:r>
              <a:rPr lang="en-US" sz="1400" b="1" dirty="0">
                <a:solidFill>
                  <a:srgbClr val="03234B"/>
                </a:solidFill>
                <a:latin typeface="Calibri" pitchFamily="34" charset="0"/>
                <a:ea typeface="Calibri" pitchFamily="34" charset="-122"/>
                <a:cs typeface="Calibri" pitchFamily="34" charset="-120"/>
              </a:rPr>
              <a:t>Diagnostics (0x40 – 0x60): </a:t>
            </a:r>
            <a:r>
              <a:rPr lang="en-US" sz="1400" dirty="0">
                <a:solidFill>
                  <a:srgbClr val="51606E"/>
                </a:solidFill>
                <a:latin typeface="Calibri" pitchFamily="34" charset="0"/>
                <a:ea typeface="Calibri" pitchFamily="34" charset="-122"/>
                <a:cs typeface="Calibri" pitchFamily="34" charset="-120"/>
              </a:rPr>
              <a:t>10 periodic telemetry messages.</a:t>
            </a:r>
            <a:endParaRPr lang="en-US" sz="1400" dirty="0"/>
          </a:p>
        </p:txBody>
      </p:sp>
      <p:sp>
        <p:nvSpPr>
          <p:cNvPr id="32" name="Shape 14">
            <a:extLst>
              <a:ext uri="{FF2B5EF4-FFF2-40B4-BE49-F238E27FC236}">
                <a16:creationId xmlns:a16="http://schemas.microsoft.com/office/drawing/2014/main" id="{003B56C5-5859-A0FB-C2D5-B4E94ED6449F}"/>
              </a:ext>
            </a:extLst>
          </p:cNvPr>
          <p:cNvSpPr/>
          <p:nvPr/>
        </p:nvSpPr>
        <p:spPr>
          <a:xfrm>
            <a:off x="777240" y="5614416"/>
            <a:ext cx="64008" cy="64008"/>
          </a:xfrm>
          <a:prstGeom prst="ellipse">
            <a:avLst/>
          </a:prstGeom>
          <a:solidFill>
            <a:srgbClr val="3CB4E6"/>
          </a:solidFill>
          <a:ln/>
        </p:spPr>
        <p:txBody>
          <a:bodyPr/>
          <a:lstStyle/>
          <a:p>
            <a:endParaRPr lang="it-IT"/>
          </a:p>
        </p:txBody>
      </p:sp>
      <p:sp>
        <p:nvSpPr>
          <p:cNvPr id="34" name="Text 15">
            <a:extLst>
              <a:ext uri="{FF2B5EF4-FFF2-40B4-BE49-F238E27FC236}">
                <a16:creationId xmlns:a16="http://schemas.microsoft.com/office/drawing/2014/main" id="{63633F48-E8C6-2BFC-95BF-5BBA36759F42}"/>
              </a:ext>
            </a:extLst>
          </p:cNvPr>
          <p:cNvSpPr/>
          <p:nvPr/>
        </p:nvSpPr>
        <p:spPr>
          <a:xfrm>
            <a:off x="960120" y="5486400"/>
            <a:ext cx="5257800" cy="457200"/>
          </a:xfrm>
          <a:prstGeom prst="rect">
            <a:avLst/>
          </a:prstGeom>
          <a:noFill/>
          <a:ln/>
        </p:spPr>
        <p:txBody>
          <a:bodyPr wrap="square" rtlCol="0" anchor="t"/>
          <a:lstStyle/>
          <a:p>
            <a:pPr>
              <a:lnSpc>
                <a:spcPct val="110000"/>
              </a:lnSpc>
            </a:pPr>
            <a:r>
              <a:rPr lang="en-US" sz="1400" b="1" dirty="0">
                <a:solidFill>
                  <a:srgbClr val="03234B"/>
                </a:solidFill>
                <a:latin typeface="Calibri" pitchFamily="34" charset="0"/>
                <a:ea typeface="Calibri" pitchFamily="34" charset="-122"/>
                <a:cs typeface="Calibri" pitchFamily="34" charset="-120"/>
              </a:rPr>
              <a:t>Motor Controls (0x30+): </a:t>
            </a:r>
            <a:r>
              <a:rPr lang="en-US" sz="1400" dirty="0">
                <a:solidFill>
                  <a:srgbClr val="51606E"/>
                </a:solidFill>
                <a:latin typeface="Calibri" pitchFamily="34" charset="0"/>
                <a:ea typeface="Calibri" pitchFamily="34" charset="-122"/>
                <a:cs typeface="Calibri" pitchFamily="34" charset="-120"/>
              </a:rPr>
              <a:t>Registers, Speed/Flux Ramps, and Bitmasks.</a:t>
            </a:r>
            <a:endParaRPr lang="en-US" sz="1400" dirty="0"/>
          </a:p>
        </p:txBody>
      </p:sp>
      <p:sp>
        <p:nvSpPr>
          <p:cNvPr id="36" name="Shape 16">
            <a:extLst>
              <a:ext uri="{FF2B5EF4-FFF2-40B4-BE49-F238E27FC236}">
                <a16:creationId xmlns:a16="http://schemas.microsoft.com/office/drawing/2014/main" id="{A6622D63-F4AE-A0F9-2E7A-D65CCD3C0354}"/>
              </a:ext>
            </a:extLst>
          </p:cNvPr>
          <p:cNvSpPr/>
          <p:nvPr/>
        </p:nvSpPr>
        <p:spPr>
          <a:xfrm>
            <a:off x="777240" y="6071616"/>
            <a:ext cx="64008" cy="64008"/>
          </a:xfrm>
          <a:prstGeom prst="ellipse">
            <a:avLst/>
          </a:prstGeom>
          <a:solidFill>
            <a:srgbClr val="3CB4E6"/>
          </a:solidFill>
          <a:ln/>
        </p:spPr>
        <p:txBody>
          <a:bodyPr/>
          <a:lstStyle/>
          <a:p>
            <a:endParaRPr lang="it-IT"/>
          </a:p>
        </p:txBody>
      </p:sp>
      <p:sp>
        <p:nvSpPr>
          <p:cNvPr id="38" name="Text 17">
            <a:extLst>
              <a:ext uri="{FF2B5EF4-FFF2-40B4-BE49-F238E27FC236}">
                <a16:creationId xmlns:a16="http://schemas.microsoft.com/office/drawing/2014/main" id="{1FE6AF9F-0476-3ABC-D5D7-6AEC2B965620}"/>
              </a:ext>
            </a:extLst>
          </p:cNvPr>
          <p:cNvSpPr/>
          <p:nvPr/>
        </p:nvSpPr>
        <p:spPr>
          <a:xfrm>
            <a:off x="960120" y="5943600"/>
            <a:ext cx="5257800" cy="457200"/>
          </a:xfrm>
          <a:prstGeom prst="rect">
            <a:avLst/>
          </a:prstGeom>
          <a:noFill/>
          <a:ln/>
        </p:spPr>
        <p:txBody>
          <a:bodyPr wrap="square" rtlCol="0" anchor="t"/>
          <a:lstStyle/>
          <a:p>
            <a:pPr>
              <a:lnSpc>
                <a:spcPct val="110000"/>
              </a:lnSpc>
            </a:pPr>
            <a:r>
              <a:rPr lang="en-US" sz="1400" b="1" dirty="0">
                <a:solidFill>
                  <a:srgbClr val="03234B"/>
                </a:solidFill>
                <a:latin typeface="Calibri" pitchFamily="34" charset="0"/>
                <a:ea typeface="Calibri" pitchFamily="34" charset="-122"/>
                <a:cs typeface="Calibri" pitchFamily="34" charset="-120"/>
              </a:rPr>
              <a:t>MCU Responses: </a:t>
            </a:r>
            <a:r>
              <a:rPr lang="en-US" sz="1400" dirty="0">
                <a:solidFill>
                  <a:srgbClr val="51606E"/>
                </a:solidFill>
                <a:latin typeface="Calibri" pitchFamily="34" charset="0"/>
                <a:ea typeface="Calibri" pitchFamily="34" charset="-122"/>
                <a:cs typeface="Calibri" pitchFamily="34" charset="-120"/>
              </a:rPr>
              <a:t>0x10 (ACK/NACK) and 0x11 (REG_VALUE).</a:t>
            </a:r>
            <a:endParaRPr lang="en-US" sz="1400" dirty="0"/>
          </a:p>
        </p:txBody>
      </p:sp>
      <p:sp>
        <p:nvSpPr>
          <p:cNvPr id="40" name="Shape 18">
            <a:extLst>
              <a:ext uri="{FF2B5EF4-FFF2-40B4-BE49-F238E27FC236}">
                <a16:creationId xmlns:a16="http://schemas.microsoft.com/office/drawing/2014/main" id="{651CBB47-55A4-1A71-5718-4F70B8CA165C}"/>
              </a:ext>
            </a:extLst>
          </p:cNvPr>
          <p:cNvSpPr/>
          <p:nvPr/>
        </p:nvSpPr>
        <p:spPr>
          <a:xfrm>
            <a:off x="7315200" y="1325880"/>
            <a:ext cx="3916680" cy="4937760"/>
          </a:xfrm>
          <a:prstGeom prst="roundRect">
            <a:avLst>
              <a:gd name="adj" fmla="val 1515"/>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a:p>
        </p:txBody>
      </p:sp>
      <p:sp>
        <p:nvSpPr>
          <p:cNvPr id="42" name="Text 19">
            <a:extLst>
              <a:ext uri="{FF2B5EF4-FFF2-40B4-BE49-F238E27FC236}">
                <a16:creationId xmlns:a16="http://schemas.microsoft.com/office/drawing/2014/main" id="{C53E4B13-545D-8822-7CCB-DE98A05CD6D5}"/>
              </a:ext>
            </a:extLst>
          </p:cNvPr>
          <p:cNvSpPr/>
          <p:nvPr/>
        </p:nvSpPr>
        <p:spPr>
          <a:xfrm>
            <a:off x="7419109" y="1477804"/>
            <a:ext cx="4370832" cy="320040"/>
          </a:xfrm>
          <a:prstGeom prst="rect">
            <a:avLst/>
          </a:prstGeom>
          <a:noFill/>
          <a:ln/>
        </p:spPr>
        <p:txBody>
          <a:bodyPr wrap="square" rtlCol="0" anchor="ctr"/>
          <a:lstStyle/>
          <a:p>
            <a:pPr marL="0" indent="0">
              <a:buNone/>
            </a:pPr>
            <a:r>
              <a:rPr lang="en-US" sz="1350" b="1" dirty="0">
                <a:solidFill>
                  <a:srgbClr val="03234B"/>
                </a:solidFill>
                <a:latin typeface="Calibri" pitchFamily="34" charset="0"/>
                <a:ea typeface="Calibri" pitchFamily="34" charset="-122"/>
                <a:cs typeface="Calibri" pitchFamily="34" charset="-120"/>
              </a:rPr>
              <a:t>CAN messages</a:t>
            </a:r>
            <a:endParaRPr lang="en-US" sz="1350" dirty="0"/>
          </a:p>
        </p:txBody>
      </p:sp>
      <p:pic>
        <p:nvPicPr>
          <p:cNvPr id="44" name="Immagine 43">
            <a:extLst>
              <a:ext uri="{FF2B5EF4-FFF2-40B4-BE49-F238E27FC236}">
                <a16:creationId xmlns:a16="http://schemas.microsoft.com/office/drawing/2014/main" id="{33FE4E4C-236B-FBBA-18D6-9C9B712F0437}"/>
              </a:ext>
            </a:extLst>
          </p:cNvPr>
          <p:cNvPicPr>
            <a:picLocks noChangeAspect="1"/>
          </p:cNvPicPr>
          <p:nvPr/>
        </p:nvPicPr>
        <p:blipFill>
          <a:blip r:embed="rId2"/>
          <a:stretch>
            <a:fillRect/>
          </a:stretch>
        </p:blipFill>
        <p:spPr>
          <a:xfrm>
            <a:off x="8032802" y="1904047"/>
            <a:ext cx="2482797" cy="4187606"/>
          </a:xfrm>
          <a:prstGeom prst="rect">
            <a:avLst/>
          </a:prstGeom>
        </p:spPr>
      </p:pic>
    </p:spTree>
    <p:extLst>
      <p:ext uri="{BB962C8B-B14F-4D97-AF65-F5344CB8AC3E}">
        <p14:creationId xmlns:p14="http://schemas.microsoft.com/office/powerpoint/2010/main" val="3049735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D6A3E-A3CB-C6FD-F0CA-2FBA2B5F956C}"/>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F0A125E8-C6E1-637A-532C-57DFD0CE65E9}"/>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Examples of Parameters in CAN Messages</a:t>
            </a:r>
            <a:endParaRPr lang="en-US" dirty="0"/>
          </a:p>
        </p:txBody>
      </p:sp>
      <p:sp>
        <p:nvSpPr>
          <p:cNvPr id="8" name="Shape 3">
            <a:extLst>
              <a:ext uri="{FF2B5EF4-FFF2-40B4-BE49-F238E27FC236}">
                <a16:creationId xmlns:a16="http://schemas.microsoft.com/office/drawing/2014/main" id="{5722F254-B68E-0F0D-03F3-AE65D5DC9217}"/>
              </a:ext>
            </a:extLst>
          </p:cNvPr>
          <p:cNvSpPr/>
          <p:nvPr/>
        </p:nvSpPr>
        <p:spPr>
          <a:xfrm>
            <a:off x="502920" y="1298448"/>
            <a:ext cx="5440680" cy="457200"/>
          </a:xfrm>
          <a:prstGeom prst="roundRect">
            <a:avLst>
              <a:gd name="adj" fmla="val 10000"/>
            </a:avLst>
          </a:prstGeom>
          <a:solidFill>
            <a:srgbClr val="03234B"/>
          </a:solidFill>
          <a:ln/>
        </p:spPr>
        <p:txBody>
          <a:bodyPr/>
          <a:lstStyle/>
          <a:p>
            <a:endParaRPr lang="it-IT" sz="1400"/>
          </a:p>
        </p:txBody>
      </p:sp>
      <p:sp>
        <p:nvSpPr>
          <p:cNvPr id="10" name="Text 4">
            <a:extLst>
              <a:ext uri="{FF2B5EF4-FFF2-40B4-BE49-F238E27FC236}">
                <a16:creationId xmlns:a16="http://schemas.microsoft.com/office/drawing/2014/main" id="{4EA11E8B-1C57-9E11-99D8-E47C1DC55F45}"/>
              </a:ext>
            </a:extLst>
          </p:cNvPr>
          <p:cNvSpPr/>
          <p:nvPr/>
        </p:nvSpPr>
        <p:spPr>
          <a:xfrm>
            <a:off x="685800" y="1298448"/>
            <a:ext cx="50749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EXECUTE_COMMAND   (ID 0x33)</a:t>
            </a:r>
            <a:endParaRPr lang="en-US" sz="1400" dirty="0"/>
          </a:p>
        </p:txBody>
      </p:sp>
      <p:sp>
        <p:nvSpPr>
          <p:cNvPr id="12" name="Shape 5">
            <a:extLst>
              <a:ext uri="{FF2B5EF4-FFF2-40B4-BE49-F238E27FC236}">
                <a16:creationId xmlns:a16="http://schemas.microsoft.com/office/drawing/2014/main" id="{AF05EE4A-9840-3346-A7ED-B490F9ED840E}"/>
              </a:ext>
            </a:extLst>
          </p:cNvPr>
          <p:cNvSpPr/>
          <p:nvPr/>
        </p:nvSpPr>
        <p:spPr>
          <a:xfrm>
            <a:off x="6199632" y="1298448"/>
            <a:ext cx="5440680" cy="457200"/>
          </a:xfrm>
          <a:prstGeom prst="roundRect">
            <a:avLst>
              <a:gd name="adj" fmla="val 10000"/>
            </a:avLst>
          </a:prstGeom>
          <a:solidFill>
            <a:srgbClr val="03234B"/>
          </a:solidFill>
          <a:ln/>
        </p:spPr>
        <p:txBody>
          <a:bodyPr/>
          <a:lstStyle/>
          <a:p>
            <a:endParaRPr lang="it-IT" sz="1400"/>
          </a:p>
        </p:txBody>
      </p:sp>
      <p:sp>
        <p:nvSpPr>
          <p:cNvPr id="14" name="Text 6">
            <a:extLst>
              <a:ext uri="{FF2B5EF4-FFF2-40B4-BE49-F238E27FC236}">
                <a16:creationId xmlns:a16="http://schemas.microsoft.com/office/drawing/2014/main" id="{76458440-6851-14FE-6470-67CC3AC22685}"/>
              </a:ext>
            </a:extLst>
          </p:cNvPr>
          <p:cNvSpPr/>
          <p:nvPr/>
        </p:nvSpPr>
        <p:spPr>
          <a:xfrm>
            <a:off x="6382512" y="1298448"/>
            <a:ext cx="50749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SET_RAMP   (ID 0x37)</a:t>
            </a:r>
            <a:endParaRPr lang="en-US" sz="1400" dirty="0"/>
          </a:p>
        </p:txBody>
      </p:sp>
      <p:sp>
        <p:nvSpPr>
          <p:cNvPr id="16" name="Text 7">
            <a:extLst>
              <a:ext uri="{FF2B5EF4-FFF2-40B4-BE49-F238E27FC236}">
                <a16:creationId xmlns:a16="http://schemas.microsoft.com/office/drawing/2014/main" id="{F848D58F-5FDF-1BF8-79DF-3722ACB62E78}"/>
              </a:ext>
            </a:extLst>
          </p:cNvPr>
          <p:cNvSpPr/>
          <p:nvPr/>
        </p:nvSpPr>
        <p:spPr>
          <a:xfrm>
            <a:off x="502920" y="1883664"/>
            <a:ext cx="5440680" cy="292608"/>
          </a:xfrm>
          <a:prstGeom prst="rect">
            <a:avLst/>
          </a:prstGeom>
          <a:noFill/>
          <a:ln/>
        </p:spPr>
        <p:txBody>
          <a:bodyPr wrap="square" rtlCol="0" anchor="ctr"/>
          <a:lstStyle/>
          <a:p>
            <a:r>
              <a:rPr lang="en-US" sz="1400" i="1">
                <a:solidFill>
                  <a:srgbClr val="51606E"/>
                </a:solidFill>
                <a:latin typeface="Calibri" pitchFamily="34" charset="0"/>
                <a:ea typeface="Calibri" pitchFamily="34" charset="-122"/>
                <a:cs typeface="Calibri" pitchFamily="34" charset="-120"/>
              </a:rPr>
              <a:t>Transmits a bitmask organized on several bytes:</a:t>
            </a:r>
            <a:endParaRPr lang="en-US" sz="1400" dirty="0"/>
          </a:p>
        </p:txBody>
      </p:sp>
      <p:sp>
        <p:nvSpPr>
          <p:cNvPr id="18" name="Text 8">
            <a:extLst>
              <a:ext uri="{FF2B5EF4-FFF2-40B4-BE49-F238E27FC236}">
                <a16:creationId xmlns:a16="http://schemas.microsoft.com/office/drawing/2014/main" id="{B5D83818-4551-3E3E-8E8D-4476383156E4}"/>
              </a:ext>
            </a:extLst>
          </p:cNvPr>
          <p:cNvSpPr/>
          <p:nvPr/>
        </p:nvSpPr>
        <p:spPr>
          <a:xfrm>
            <a:off x="6199632" y="1883664"/>
            <a:ext cx="5440680" cy="292608"/>
          </a:xfrm>
          <a:prstGeom prst="rect">
            <a:avLst/>
          </a:prstGeom>
          <a:noFill/>
          <a:ln/>
        </p:spPr>
        <p:txBody>
          <a:bodyPr wrap="square" rtlCol="0" anchor="ctr"/>
          <a:lstStyle/>
          <a:p>
            <a:r>
              <a:rPr lang="en-US" sz="1400" i="1">
                <a:solidFill>
                  <a:srgbClr val="51606E"/>
                </a:solidFill>
                <a:latin typeface="Calibri" pitchFamily="34" charset="0"/>
                <a:ea typeface="Calibri" pitchFamily="34" charset="-122"/>
                <a:cs typeface="Calibri" pitchFamily="34" charset="-120"/>
              </a:rPr>
              <a:t>It carries two distinct physical parameters for the speed ramp:</a:t>
            </a:r>
            <a:endParaRPr lang="en-US" sz="1400" dirty="0"/>
          </a:p>
        </p:txBody>
      </p:sp>
      <p:graphicFrame>
        <p:nvGraphicFramePr>
          <p:cNvPr id="20" name="Table 0">
            <a:extLst>
              <a:ext uri="{FF2B5EF4-FFF2-40B4-BE49-F238E27FC236}">
                <a16:creationId xmlns:a16="http://schemas.microsoft.com/office/drawing/2014/main" id="{34BCA21A-EA7B-FE07-AB3D-4D018C565609}"/>
              </a:ext>
            </a:extLst>
          </p:cNvPr>
          <p:cNvGraphicFramePr>
            <a:graphicFrameLocks noGrp="1"/>
          </p:cNvGraphicFramePr>
          <p:nvPr>
            <p:extLst>
              <p:ext uri="{D42A27DB-BD31-4B8C-83A1-F6EECF244321}">
                <p14:modId xmlns:p14="http://schemas.microsoft.com/office/powerpoint/2010/main" val="2764615213"/>
              </p:ext>
            </p:extLst>
          </p:nvPr>
        </p:nvGraphicFramePr>
        <p:xfrm>
          <a:off x="502920" y="2231136"/>
          <a:ext cx="5440680" cy="1371600"/>
        </p:xfrm>
        <a:graphic>
          <a:graphicData uri="http://schemas.openxmlformats.org/drawingml/2006/table">
            <a:tbl>
              <a:tblPr/>
              <a:tblGrid>
                <a:gridCol w="685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342900">
                <a:tc>
                  <a:txBody>
                    <a:bodyPr/>
                    <a:lstStyle/>
                    <a:p>
                      <a:pPr marL="0" indent="0" algn="ctr">
                        <a:buNone/>
                      </a:pPr>
                      <a:r>
                        <a:rPr lang="en-US" sz="1050" b="1" dirty="0">
                          <a:solidFill>
                            <a:srgbClr val="03234B"/>
                          </a:solidFill>
                          <a:latin typeface="Calibri" pitchFamily="34" charset="0"/>
                          <a:ea typeface="Calibri" pitchFamily="34" charset="-122"/>
                          <a:cs typeface="Calibri" pitchFamily="34" charset="-120"/>
                        </a:rPr>
                        <a:t>Byte</a:t>
                      </a:r>
                      <a:endParaRPr lang="en-US" sz="105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2F7FB"/>
                    </a:solidFill>
                  </a:tcPr>
                </a:tc>
                <a:tc>
                  <a:txBody>
                    <a:bodyPr/>
                    <a:lstStyle/>
                    <a:p>
                      <a:pPr marL="0" indent="0" algn="ctr">
                        <a:buNone/>
                      </a:pPr>
                      <a:r>
                        <a:rPr lang="en-US" sz="1050" b="1" dirty="0">
                          <a:solidFill>
                            <a:srgbClr val="03234B"/>
                          </a:solidFill>
                          <a:latin typeface="Calibri" pitchFamily="34" charset="0"/>
                          <a:ea typeface="Calibri" pitchFamily="34" charset="-122"/>
                          <a:cs typeface="Calibri" pitchFamily="34" charset="-120"/>
                        </a:rPr>
                        <a:t>Bit</a:t>
                      </a:r>
                      <a:endParaRPr lang="en-US" sz="105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2F7FB"/>
                    </a:solidFill>
                  </a:tcPr>
                </a:tc>
                <a:tc>
                  <a:txBody>
                    <a:bodyPr/>
                    <a:lstStyle/>
                    <a:p>
                      <a:pPr marL="0" indent="0" algn="ctr">
                        <a:buNone/>
                      </a:pPr>
                      <a:r>
                        <a:rPr lang="en-US" sz="1050" b="1" dirty="0">
                          <a:solidFill>
                            <a:srgbClr val="03234B"/>
                          </a:solidFill>
                          <a:latin typeface="Calibri" pitchFamily="34" charset="0"/>
                          <a:ea typeface="Calibri" pitchFamily="34" charset="-122"/>
                          <a:cs typeface="Calibri" pitchFamily="34" charset="-120"/>
                        </a:rPr>
                        <a:t>Flag</a:t>
                      </a:r>
                      <a:endParaRPr lang="en-US" sz="105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2F7FB"/>
                    </a:solidFill>
                  </a:tcPr>
                </a:tc>
                <a:extLst>
                  <a:ext uri="{0D108BD9-81ED-4DB2-BD59-A6C34878D82A}">
                    <a16:rowId xmlns:a16="http://schemas.microsoft.com/office/drawing/2014/main" val="10000"/>
                  </a:ext>
                </a:extLst>
              </a:tr>
              <a:tr h="342900">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1 / 2 / 3</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EXE_START_MOTOR / STOP_RAMP / RESET</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5 / 6 / 7</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EXE_PING / FAULT_ACK / ENCODER_ALIGN</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1606E"/>
                          </a:solidFill>
                          <a:latin typeface="Calibri" pitchFamily="34" charset="0"/>
                          <a:ea typeface="Calibri" pitchFamily="34" charset="-122"/>
                          <a:cs typeface="Calibri" pitchFamily="34" charset="-120"/>
                        </a:rPr>
                        <a:t>EXE_IQDREF_CLEAR / GET_BOARD_INFO</a:t>
                      </a:r>
                      <a:endParaRPr lang="en-US" sz="1000" dirty="0">
                        <a:latin typeface="Calibri" charset="0"/>
                        <a:ea typeface="Calibri" charset="0"/>
                        <a:cs typeface="Calibri" charset="0"/>
                      </a:endParaRPr>
                    </a:p>
                  </a:txBody>
                  <a:tcPr marL="76200" marR="76200" marT="38100" marB="38100" anchor="ctr">
                    <a:lnL w="9525" cap="flat" cmpd="sng" algn="ctr">
                      <a:solidFill>
                        <a:srgbClr val="DCE7F0"/>
                      </a:solidFill>
                      <a:prstDash val="solid"/>
                      <a:round/>
                      <a:headEnd type="none" w="med" len="med"/>
                      <a:tailEnd type="none" w="med" len="med"/>
                    </a:lnL>
                    <a:lnR w="9525" cap="flat" cmpd="sng" algn="ctr">
                      <a:solidFill>
                        <a:srgbClr val="DCE7F0"/>
                      </a:solidFill>
                      <a:prstDash val="solid"/>
                      <a:round/>
                      <a:headEnd type="none" w="med" len="med"/>
                      <a:tailEnd type="none" w="med" len="med"/>
                    </a:lnR>
                    <a:lnT w="9525" cap="flat" cmpd="sng" algn="ctr">
                      <a:solidFill>
                        <a:srgbClr val="DCE7F0"/>
                      </a:solidFill>
                      <a:prstDash val="solid"/>
                      <a:round/>
                      <a:headEnd type="none" w="med" len="med"/>
                      <a:tailEnd type="none" w="med" len="med"/>
                    </a:lnT>
                    <a:lnB w="9525" cap="flat" cmpd="sng" algn="ctr">
                      <a:solidFill>
                        <a:srgbClr val="DC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2" name="Shape 9">
            <a:extLst>
              <a:ext uri="{FF2B5EF4-FFF2-40B4-BE49-F238E27FC236}">
                <a16:creationId xmlns:a16="http://schemas.microsoft.com/office/drawing/2014/main" id="{A1C5AB11-B146-638F-E866-2BA89F9566B7}"/>
              </a:ext>
            </a:extLst>
          </p:cNvPr>
          <p:cNvSpPr/>
          <p:nvPr/>
        </p:nvSpPr>
        <p:spPr>
          <a:xfrm>
            <a:off x="6199632" y="2231136"/>
            <a:ext cx="5440680" cy="640080"/>
          </a:xfrm>
          <a:prstGeom prst="roundRect">
            <a:avLst>
              <a:gd name="adj" fmla="val 9231"/>
            </a:avLst>
          </a:prstGeom>
          <a:solidFill>
            <a:srgbClr val="F2F7FB"/>
          </a:solidFill>
          <a:ln/>
        </p:spPr>
        <p:txBody>
          <a:bodyPr/>
          <a:lstStyle/>
          <a:p>
            <a:endParaRPr lang="it-IT" sz="1400"/>
          </a:p>
        </p:txBody>
      </p:sp>
      <p:sp>
        <p:nvSpPr>
          <p:cNvPr id="24" name="Text 10">
            <a:extLst>
              <a:ext uri="{FF2B5EF4-FFF2-40B4-BE49-F238E27FC236}">
                <a16:creationId xmlns:a16="http://schemas.microsoft.com/office/drawing/2014/main" id="{CAD43312-08E3-1DE2-0626-1016AF736122}"/>
              </a:ext>
            </a:extLst>
          </p:cNvPr>
          <p:cNvSpPr/>
          <p:nvPr/>
        </p:nvSpPr>
        <p:spPr>
          <a:xfrm>
            <a:off x="6400800" y="2249424"/>
            <a:ext cx="5038344" cy="274320"/>
          </a:xfrm>
          <a:prstGeom prst="rect">
            <a:avLst/>
          </a:prstGeom>
          <a:noFill/>
          <a:ln/>
        </p:spPr>
        <p:txBody>
          <a:bodyPr wrap="square" rtlCol="0" anchor="ctr"/>
          <a:lstStyle/>
          <a:p>
            <a:pPr marL="0" indent="0">
              <a:buNone/>
            </a:pPr>
            <a:r>
              <a:rPr lang="en-US" sz="1400" b="1" dirty="0">
                <a:solidFill>
                  <a:srgbClr val="03234B"/>
                </a:solidFill>
                <a:latin typeface="Calibri" pitchFamily="34" charset="0"/>
                <a:ea typeface="Calibri" pitchFamily="34" charset="-122"/>
                <a:cs typeface="Calibri" pitchFamily="34" charset="-120"/>
              </a:rPr>
              <a:t>Target Speed</a:t>
            </a:r>
            <a:endParaRPr lang="en-US" sz="1400" dirty="0"/>
          </a:p>
        </p:txBody>
      </p:sp>
      <p:sp>
        <p:nvSpPr>
          <p:cNvPr id="26" name="Text 11">
            <a:extLst>
              <a:ext uri="{FF2B5EF4-FFF2-40B4-BE49-F238E27FC236}">
                <a16:creationId xmlns:a16="http://schemas.microsoft.com/office/drawing/2014/main" id="{BD89CA0D-F803-6C73-C51C-2A1C66E0DF53}"/>
              </a:ext>
            </a:extLst>
          </p:cNvPr>
          <p:cNvSpPr/>
          <p:nvPr/>
        </p:nvSpPr>
        <p:spPr>
          <a:xfrm>
            <a:off x="6400800" y="2542032"/>
            <a:ext cx="5038344" cy="82296"/>
          </a:xfrm>
          <a:prstGeom prst="rect">
            <a:avLst/>
          </a:prstGeom>
          <a:noFill/>
          <a:ln/>
        </p:spPr>
        <p:txBody>
          <a:bodyPr wrap="square" rtlCol="0" anchor="t"/>
          <a:lstStyle/>
          <a:p>
            <a:pPr>
              <a:lnSpc>
                <a:spcPct val="110000"/>
              </a:lnSpc>
            </a:pPr>
            <a:r>
              <a:rPr lang="en-US" sz="1400">
                <a:solidFill>
                  <a:srgbClr val="51606E"/>
                </a:solidFill>
                <a:latin typeface="Calibri" pitchFamily="34" charset="0"/>
                <a:ea typeface="Calibri" pitchFamily="34" charset="-122"/>
                <a:cs typeface="Calibri" pitchFamily="34" charset="-120"/>
              </a:rPr>
              <a:t>Desired final speed (e.g. expressed in RPM)</a:t>
            </a:r>
            <a:endParaRPr lang="en-US" sz="1400" dirty="0"/>
          </a:p>
        </p:txBody>
      </p:sp>
      <p:sp>
        <p:nvSpPr>
          <p:cNvPr id="28" name="Shape 12">
            <a:extLst>
              <a:ext uri="{FF2B5EF4-FFF2-40B4-BE49-F238E27FC236}">
                <a16:creationId xmlns:a16="http://schemas.microsoft.com/office/drawing/2014/main" id="{4E8EBB07-E970-EFDB-059D-470B0EC19372}"/>
              </a:ext>
            </a:extLst>
          </p:cNvPr>
          <p:cNvSpPr/>
          <p:nvPr/>
        </p:nvSpPr>
        <p:spPr>
          <a:xfrm>
            <a:off x="6199632" y="2926080"/>
            <a:ext cx="5440680" cy="676656"/>
          </a:xfrm>
          <a:prstGeom prst="roundRect">
            <a:avLst>
              <a:gd name="adj" fmla="val 9231"/>
            </a:avLst>
          </a:prstGeom>
          <a:solidFill>
            <a:srgbClr val="F2F7FB"/>
          </a:solidFill>
          <a:ln/>
        </p:spPr>
        <p:txBody>
          <a:bodyPr/>
          <a:lstStyle/>
          <a:p>
            <a:endParaRPr lang="it-IT" sz="1400"/>
          </a:p>
        </p:txBody>
      </p:sp>
      <p:sp>
        <p:nvSpPr>
          <p:cNvPr id="30" name="Text 13">
            <a:extLst>
              <a:ext uri="{FF2B5EF4-FFF2-40B4-BE49-F238E27FC236}">
                <a16:creationId xmlns:a16="http://schemas.microsoft.com/office/drawing/2014/main" id="{7FD94936-4D17-5C86-0858-707924814B63}"/>
              </a:ext>
            </a:extLst>
          </p:cNvPr>
          <p:cNvSpPr/>
          <p:nvPr/>
        </p:nvSpPr>
        <p:spPr>
          <a:xfrm>
            <a:off x="6400800" y="2962242"/>
            <a:ext cx="5038344" cy="274320"/>
          </a:xfrm>
          <a:prstGeom prst="rect">
            <a:avLst/>
          </a:prstGeom>
          <a:noFill/>
          <a:ln/>
        </p:spPr>
        <p:txBody>
          <a:bodyPr wrap="square" rtlCol="0" anchor="ctr"/>
          <a:lstStyle/>
          <a:p>
            <a:pPr marL="0" indent="0">
              <a:buNone/>
            </a:pPr>
            <a:r>
              <a:rPr lang="en-US" sz="1400" b="1" dirty="0">
                <a:solidFill>
                  <a:srgbClr val="03234B"/>
                </a:solidFill>
                <a:latin typeface="Calibri" pitchFamily="34" charset="0"/>
                <a:ea typeface="Calibri" pitchFamily="34" charset="-122"/>
                <a:cs typeface="Calibri" pitchFamily="34" charset="-120"/>
              </a:rPr>
              <a:t>Duration</a:t>
            </a:r>
            <a:endParaRPr lang="en-US" sz="1400" dirty="0"/>
          </a:p>
        </p:txBody>
      </p:sp>
      <p:sp>
        <p:nvSpPr>
          <p:cNvPr id="32" name="Text 14">
            <a:extLst>
              <a:ext uri="{FF2B5EF4-FFF2-40B4-BE49-F238E27FC236}">
                <a16:creationId xmlns:a16="http://schemas.microsoft.com/office/drawing/2014/main" id="{38C24587-8D14-43D8-B754-712F56C40F61}"/>
              </a:ext>
            </a:extLst>
          </p:cNvPr>
          <p:cNvSpPr/>
          <p:nvPr/>
        </p:nvSpPr>
        <p:spPr>
          <a:xfrm>
            <a:off x="6400800" y="3254850"/>
            <a:ext cx="5038344" cy="82296"/>
          </a:xfrm>
          <a:prstGeom prst="rect">
            <a:avLst/>
          </a:prstGeom>
          <a:noFill/>
          <a:ln/>
        </p:spPr>
        <p:txBody>
          <a:bodyPr wrap="square" rtlCol="0" anchor="t"/>
          <a:lstStyle/>
          <a:p>
            <a:pPr>
              <a:lnSpc>
                <a:spcPct val="110000"/>
              </a:lnSpc>
            </a:pPr>
            <a:r>
              <a:rPr lang="en-US" sz="1400">
                <a:solidFill>
                  <a:srgbClr val="51606E"/>
                </a:solidFill>
                <a:latin typeface="Calibri" pitchFamily="34" charset="0"/>
                <a:ea typeface="Calibri" pitchFamily="34" charset="-122"/>
                <a:cs typeface="Calibri" pitchFamily="34" charset="-120"/>
              </a:rPr>
              <a:t>Ramp duration, in milliseconds (ms)</a:t>
            </a:r>
            <a:endParaRPr lang="en-US" sz="1400" dirty="0"/>
          </a:p>
        </p:txBody>
      </p:sp>
      <p:sp>
        <p:nvSpPr>
          <p:cNvPr id="34" name="Text 15">
            <a:extLst>
              <a:ext uri="{FF2B5EF4-FFF2-40B4-BE49-F238E27FC236}">
                <a16:creationId xmlns:a16="http://schemas.microsoft.com/office/drawing/2014/main" id="{F34AD09A-A8A4-F528-721E-732F9245B459}"/>
              </a:ext>
            </a:extLst>
          </p:cNvPr>
          <p:cNvSpPr/>
          <p:nvPr/>
        </p:nvSpPr>
        <p:spPr>
          <a:xfrm>
            <a:off x="502920" y="3831336"/>
            <a:ext cx="5440680" cy="274320"/>
          </a:xfrm>
          <a:prstGeom prst="rect">
            <a:avLst/>
          </a:prstGeom>
          <a:noFill/>
          <a:ln/>
        </p:spPr>
        <p:txBody>
          <a:bodyPr wrap="square" rtlCol="0" anchor="ctr"/>
          <a:lstStyle/>
          <a:p>
            <a:pPr marL="0" indent="0">
              <a:buNone/>
            </a:pPr>
            <a:r>
              <a:rPr lang="en-US" sz="1400" b="1" dirty="0">
                <a:solidFill>
                  <a:srgbClr val="03234B"/>
                </a:solidFill>
                <a:latin typeface="Calibri" pitchFamily="34" charset="0"/>
                <a:ea typeface="Calibri" pitchFamily="34" charset="-122"/>
                <a:cs typeface="Calibri" pitchFamily="34" charset="-120"/>
              </a:rPr>
              <a:t>EXECUTE_COMMAND signals </a:t>
            </a:r>
            <a:endParaRPr lang="en-US" sz="1400" dirty="0"/>
          </a:p>
        </p:txBody>
      </p:sp>
      <p:sp>
        <p:nvSpPr>
          <p:cNvPr id="36" name="Text 16">
            <a:extLst>
              <a:ext uri="{FF2B5EF4-FFF2-40B4-BE49-F238E27FC236}">
                <a16:creationId xmlns:a16="http://schemas.microsoft.com/office/drawing/2014/main" id="{4A526967-80AB-5BBD-1D82-60C67D53991B}"/>
              </a:ext>
            </a:extLst>
          </p:cNvPr>
          <p:cNvSpPr/>
          <p:nvPr/>
        </p:nvSpPr>
        <p:spPr>
          <a:xfrm>
            <a:off x="6199632" y="3831336"/>
            <a:ext cx="5440680" cy="274320"/>
          </a:xfrm>
          <a:prstGeom prst="rect">
            <a:avLst/>
          </a:prstGeom>
          <a:noFill/>
          <a:ln/>
        </p:spPr>
        <p:txBody>
          <a:bodyPr wrap="square" rtlCol="0" anchor="ctr"/>
          <a:lstStyle/>
          <a:p>
            <a:pPr marL="0" indent="0">
              <a:buNone/>
            </a:pPr>
            <a:r>
              <a:rPr lang="en-US" sz="1400" b="1" dirty="0">
                <a:solidFill>
                  <a:srgbClr val="03234B"/>
                </a:solidFill>
                <a:latin typeface="Calibri" pitchFamily="34" charset="0"/>
                <a:ea typeface="Calibri" pitchFamily="34" charset="-122"/>
                <a:cs typeface="Calibri" pitchFamily="34" charset="-120"/>
              </a:rPr>
              <a:t>SET_RAMP signals</a:t>
            </a:r>
            <a:endParaRPr lang="en-US" sz="1400" dirty="0"/>
          </a:p>
        </p:txBody>
      </p:sp>
      <p:sp>
        <p:nvSpPr>
          <p:cNvPr id="38" name="Shape 17">
            <a:extLst>
              <a:ext uri="{FF2B5EF4-FFF2-40B4-BE49-F238E27FC236}">
                <a16:creationId xmlns:a16="http://schemas.microsoft.com/office/drawing/2014/main" id="{309346F2-519C-8794-47D3-BAD65B2EDE88}"/>
              </a:ext>
            </a:extLst>
          </p:cNvPr>
          <p:cNvSpPr/>
          <p:nvPr/>
        </p:nvSpPr>
        <p:spPr>
          <a:xfrm>
            <a:off x="502920" y="4160520"/>
            <a:ext cx="5440680" cy="1965960"/>
          </a:xfrm>
          <a:prstGeom prst="roundRect">
            <a:avLst>
              <a:gd name="adj" fmla="val 3721"/>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sz="1400"/>
          </a:p>
        </p:txBody>
      </p:sp>
      <p:sp>
        <p:nvSpPr>
          <p:cNvPr id="40" name="Shape 18">
            <a:extLst>
              <a:ext uri="{FF2B5EF4-FFF2-40B4-BE49-F238E27FC236}">
                <a16:creationId xmlns:a16="http://schemas.microsoft.com/office/drawing/2014/main" id="{9F2CDF09-5F4D-3BE5-2B78-F6DE76B0C69D}"/>
              </a:ext>
            </a:extLst>
          </p:cNvPr>
          <p:cNvSpPr/>
          <p:nvPr/>
        </p:nvSpPr>
        <p:spPr>
          <a:xfrm>
            <a:off x="6199632" y="4160520"/>
            <a:ext cx="5440680" cy="1965960"/>
          </a:xfrm>
          <a:prstGeom prst="roundRect">
            <a:avLst>
              <a:gd name="adj" fmla="val 3721"/>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sz="1400"/>
          </a:p>
        </p:txBody>
      </p:sp>
      <p:pic>
        <p:nvPicPr>
          <p:cNvPr id="42" name="Image 1" descr="image3.png">
            <a:extLst>
              <a:ext uri="{FF2B5EF4-FFF2-40B4-BE49-F238E27FC236}">
                <a16:creationId xmlns:a16="http://schemas.microsoft.com/office/drawing/2014/main" id="{9E7399EF-4BCA-B315-92D9-D07B8BD9A327}"/>
              </a:ext>
            </a:extLst>
          </p:cNvPr>
          <p:cNvPicPr>
            <a:picLocks noChangeAspect="1"/>
          </p:cNvPicPr>
          <p:nvPr/>
        </p:nvPicPr>
        <p:blipFill>
          <a:blip r:embed="rId2"/>
          <a:stretch>
            <a:fillRect/>
          </a:stretch>
        </p:blipFill>
        <p:spPr>
          <a:xfrm>
            <a:off x="2114657" y="4343400"/>
            <a:ext cx="2217205" cy="1600200"/>
          </a:xfrm>
          <a:prstGeom prst="rect">
            <a:avLst/>
          </a:prstGeom>
        </p:spPr>
      </p:pic>
      <p:pic>
        <p:nvPicPr>
          <p:cNvPr id="44" name="Image 2" descr="image4.png">
            <a:extLst>
              <a:ext uri="{FF2B5EF4-FFF2-40B4-BE49-F238E27FC236}">
                <a16:creationId xmlns:a16="http://schemas.microsoft.com/office/drawing/2014/main" id="{7A8D5EB1-A443-759E-3EA9-913483CC1B94}"/>
              </a:ext>
            </a:extLst>
          </p:cNvPr>
          <p:cNvPicPr>
            <a:picLocks noChangeAspect="1"/>
          </p:cNvPicPr>
          <p:nvPr/>
        </p:nvPicPr>
        <p:blipFill>
          <a:blip r:embed="rId3"/>
          <a:stretch>
            <a:fillRect/>
          </a:stretch>
        </p:blipFill>
        <p:spPr>
          <a:xfrm>
            <a:off x="6428232" y="4626450"/>
            <a:ext cx="4983480" cy="1034100"/>
          </a:xfrm>
          <a:prstGeom prst="rect">
            <a:avLst/>
          </a:prstGeom>
        </p:spPr>
      </p:pic>
      <p:sp>
        <p:nvSpPr>
          <p:cNvPr id="4" name="Text 0">
            <a:extLst>
              <a:ext uri="{FF2B5EF4-FFF2-40B4-BE49-F238E27FC236}">
                <a16:creationId xmlns:a16="http://schemas.microsoft.com/office/drawing/2014/main" id="{3773B5E5-3189-758A-72FE-D439E1BB10B2}"/>
              </a:ext>
            </a:extLst>
          </p:cNvPr>
          <p:cNvSpPr/>
          <p:nvPr/>
        </p:nvSpPr>
        <p:spPr>
          <a:xfrm>
            <a:off x="10911840" y="182880"/>
            <a:ext cx="54864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DBC FILE</a:t>
            </a:r>
            <a:endParaRPr lang="en-US" sz="1100" dirty="0"/>
          </a:p>
        </p:txBody>
      </p:sp>
    </p:spTree>
    <p:extLst>
      <p:ext uri="{BB962C8B-B14F-4D97-AF65-F5344CB8AC3E}">
        <p14:creationId xmlns:p14="http://schemas.microsoft.com/office/powerpoint/2010/main" val="2472797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6CFD9-937E-823D-6B04-59E91215BE02}"/>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D0577E26-D644-697D-620E-A4DDC45F9426}"/>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Library Alignment — +0x30/+0x40 Offset</a:t>
            </a:r>
            <a:endParaRPr lang="it-IT" dirty="0"/>
          </a:p>
        </p:txBody>
      </p:sp>
      <p:sp>
        <p:nvSpPr>
          <p:cNvPr id="10" name="Text 3">
            <a:extLst>
              <a:ext uri="{FF2B5EF4-FFF2-40B4-BE49-F238E27FC236}">
                <a16:creationId xmlns:a16="http://schemas.microsoft.com/office/drawing/2014/main" id="{6C9ADAA0-E5FD-8444-AC45-4CE7F68F717B}"/>
              </a:ext>
            </a:extLst>
          </p:cNvPr>
          <p:cNvSpPr/>
          <p:nvPr/>
        </p:nvSpPr>
        <p:spPr>
          <a:xfrm>
            <a:off x="563880" y="1325880"/>
            <a:ext cx="11155680" cy="365760"/>
          </a:xfrm>
          <a:prstGeom prst="rect">
            <a:avLst/>
          </a:prstGeom>
          <a:noFill/>
          <a:ln/>
        </p:spPr>
        <p:txBody>
          <a:bodyPr wrap="square" rtlCol="0" anchor="ctr"/>
          <a:lstStyle/>
          <a:p>
            <a:r>
              <a:rPr lang="en-US" dirty="0">
                <a:solidFill>
                  <a:srgbClr val="51606E"/>
                </a:solidFill>
                <a:latin typeface="Calibri" pitchFamily="34" charset="0"/>
                <a:ea typeface="Calibri" pitchFamily="34" charset="-122"/>
                <a:cs typeface="Calibri" pitchFamily="34" charset="-120"/>
              </a:rPr>
              <a:t>The message definition in the .DBC has been updated to closely reflect the architecture of the firmware library.</a:t>
            </a:r>
            <a:endParaRPr lang="en-US" dirty="0"/>
          </a:p>
        </p:txBody>
      </p:sp>
      <p:sp>
        <p:nvSpPr>
          <p:cNvPr id="12" name="Shape 4">
            <a:extLst>
              <a:ext uri="{FF2B5EF4-FFF2-40B4-BE49-F238E27FC236}">
                <a16:creationId xmlns:a16="http://schemas.microsoft.com/office/drawing/2014/main" id="{B8712A9D-B700-6DE7-AC5F-5B384327526D}"/>
              </a:ext>
            </a:extLst>
          </p:cNvPr>
          <p:cNvSpPr/>
          <p:nvPr/>
        </p:nvSpPr>
        <p:spPr>
          <a:xfrm>
            <a:off x="563880" y="1874520"/>
            <a:ext cx="5440680" cy="1691640"/>
          </a:xfrm>
          <a:prstGeom prst="roundRect">
            <a:avLst>
              <a:gd name="adj" fmla="val 3243"/>
            </a:avLst>
          </a:prstGeom>
          <a:solidFill>
            <a:srgbClr val="F2F7FB"/>
          </a:solidFill>
          <a:ln/>
        </p:spPr>
        <p:txBody>
          <a:bodyPr/>
          <a:lstStyle/>
          <a:p>
            <a:endParaRPr lang="it-IT" sz="1400"/>
          </a:p>
        </p:txBody>
      </p:sp>
      <p:sp>
        <p:nvSpPr>
          <p:cNvPr id="14" name="Text 5">
            <a:extLst>
              <a:ext uri="{FF2B5EF4-FFF2-40B4-BE49-F238E27FC236}">
                <a16:creationId xmlns:a16="http://schemas.microsoft.com/office/drawing/2014/main" id="{2389EDAD-2A8E-5665-805D-0F170CFCA60F}"/>
              </a:ext>
            </a:extLst>
          </p:cNvPr>
          <p:cNvSpPr/>
          <p:nvPr/>
        </p:nvSpPr>
        <p:spPr>
          <a:xfrm>
            <a:off x="819912" y="2057400"/>
            <a:ext cx="4928616" cy="320040"/>
          </a:xfrm>
          <a:prstGeom prst="rect">
            <a:avLst/>
          </a:prstGeom>
          <a:noFill/>
          <a:ln/>
        </p:spPr>
        <p:txBody>
          <a:bodyPr wrap="square" rtlCol="0" anchor="ctr"/>
          <a:lstStyle/>
          <a:p>
            <a:pPr marL="0" indent="0">
              <a:buNone/>
            </a:pPr>
            <a:r>
              <a:rPr lang="en-US" sz="1600" b="1" dirty="0">
                <a:solidFill>
                  <a:srgbClr val="03234B"/>
                </a:solidFill>
                <a:latin typeface="Calibri" pitchFamily="34" charset="0"/>
                <a:ea typeface="Calibri" pitchFamily="34" charset="-122"/>
                <a:cs typeface="Calibri" pitchFamily="34" charset="-120"/>
              </a:rPr>
              <a:t>+0x30/+0x40 Offsets</a:t>
            </a:r>
            <a:endParaRPr lang="en-US" sz="1600" dirty="0"/>
          </a:p>
        </p:txBody>
      </p:sp>
      <p:sp>
        <p:nvSpPr>
          <p:cNvPr id="16" name="Text 6">
            <a:extLst>
              <a:ext uri="{FF2B5EF4-FFF2-40B4-BE49-F238E27FC236}">
                <a16:creationId xmlns:a16="http://schemas.microsoft.com/office/drawing/2014/main" id="{AEA41A6D-C4EB-3696-92F7-E820E5106165}"/>
              </a:ext>
            </a:extLst>
          </p:cNvPr>
          <p:cNvSpPr/>
          <p:nvPr/>
        </p:nvSpPr>
        <p:spPr>
          <a:xfrm>
            <a:off x="819912" y="2424176"/>
            <a:ext cx="4928616" cy="640080"/>
          </a:xfrm>
          <a:prstGeom prst="rect">
            <a:avLst/>
          </a:prstGeom>
          <a:noFill/>
          <a:ln/>
        </p:spPr>
        <p:txBody>
          <a:bodyPr wrap="square" rtlCol="0" anchor="t"/>
          <a:lstStyle/>
          <a:p>
            <a:pPr>
              <a:lnSpc>
                <a:spcPct val="115000"/>
              </a:lnSpc>
            </a:pPr>
            <a:r>
              <a:rPr lang="en-US" sz="1500" dirty="0">
                <a:solidFill>
                  <a:srgbClr val="51606E"/>
                </a:solidFill>
                <a:latin typeface="Calibri" pitchFamily="34" charset="0"/>
                <a:ea typeface="Calibri" pitchFamily="34" charset="-122"/>
                <a:cs typeface="Calibri" pitchFamily="34" charset="-120"/>
              </a:rPr>
              <a:t>The commands sent from the Dyno to the inverter maintain the offset convention already used by the library:</a:t>
            </a:r>
            <a:endParaRPr lang="en-US" sz="1500" dirty="0"/>
          </a:p>
        </p:txBody>
      </p:sp>
      <p:sp>
        <p:nvSpPr>
          <p:cNvPr id="18" name="Text 7">
            <a:extLst>
              <a:ext uri="{FF2B5EF4-FFF2-40B4-BE49-F238E27FC236}">
                <a16:creationId xmlns:a16="http://schemas.microsoft.com/office/drawing/2014/main" id="{933C9B12-5B20-AE2D-1032-91DA18633900}"/>
              </a:ext>
            </a:extLst>
          </p:cNvPr>
          <p:cNvSpPr/>
          <p:nvPr/>
        </p:nvSpPr>
        <p:spPr>
          <a:xfrm>
            <a:off x="819912" y="3108960"/>
            <a:ext cx="4928616" cy="320040"/>
          </a:xfrm>
          <a:prstGeom prst="rect">
            <a:avLst/>
          </a:prstGeom>
          <a:noFill/>
          <a:ln/>
        </p:spPr>
        <p:txBody>
          <a:bodyPr wrap="square" rtlCol="0" anchor="ctr"/>
          <a:lstStyle/>
          <a:p>
            <a:pPr marL="0" indent="0">
              <a:buNone/>
            </a:pPr>
            <a:r>
              <a:rPr lang="en-US" sz="1500" b="1" dirty="0">
                <a:solidFill>
                  <a:srgbClr val="0E7DAD"/>
                </a:solidFill>
                <a:latin typeface="Courier New" pitchFamily="34" charset="0"/>
                <a:ea typeface="Courier New" pitchFamily="34" charset="-122"/>
                <a:cs typeface="Courier New" pitchFamily="34" charset="-120"/>
              </a:rPr>
              <a:t>0x3B SET_CURRENT_ID      </a:t>
            </a:r>
          </a:p>
          <a:p>
            <a:pPr marL="0" indent="0">
              <a:buNone/>
            </a:pPr>
            <a:r>
              <a:rPr lang="en-US" sz="1500" b="1" dirty="0">
                <a:solidFill>
                  <a:srgbClr val="0E7DAD"/>
                </a:solidFill>
                <a:latin typeface="Courier New" pitchFamily="34" charset="0"/>
                <a:ea typeface="Courier New" pitchFamily="34" charset="-122"/>
                <a:cs typeface="Courier New" pitchFamily="34" charset="-120"/>
              </a:rPr>
              <a:t>0x3C SET_CURRENT_IQ  </a:t>
            </a:r>
            <a:endParaRPr lang="en-US" sz="1500" dirty="0"/>
          </a:p>
        </p:txBody>
      </p:sp>
      <p:sp>
        <p:nvSpPr>
          <p:cNvPr id="20" name="Shape 8">
            <a:extLst>
              <a:ext uri="{FF2B5EF4-FFF2-40B4-BE49-F238E27FC236}">
                <a16:creationId xmlns:a16="http://schemas.microsoft.com/office/drawing/2014/main" id="{E491D90C-D462-F94A-3747-AA0A0CE19AF4}"/>
              </a:ext>
            </a:extLst>
          </p:cNvPr>
          <p:cNvSpPr/>
          <p:nvPr/>
        </p:nvSpPr>
        <p:spPr>
          <a:xfrm>
            <a:off x="6260592" y="1874520"/>
            <a:ext cx="5440680" cy="1691640"/>
          </a:xfrm>
          <a:prstGeom prst="roundRect">
            <a:avLst>
              <a:gd name="adj" fmla="val 3243"/>
            </a:avLst>
          </a:prstGeom>
          <a:solidFill>
            <a:srgbClr val="F2F7FB"/>
          </a:solidFill>
          <a:ln/>
        </p:spPr>
        <p:txBody>
          <a:bodyPr/>
          <a:lstStyle/>
          <a:p>
            <a:endParaRPr lang="it-IT" sz="1400"/>
          </a:p>
        </p:txBody>
      </p:sp>
      <p:sp>
        <p:nvSpPr>
          <p:cNvPr id="22" name="Text 9">
            <a:extLst>
              <a:ext uri="{FF2B5EF4-FFF2-40B4-BE49-F238E27FC236}">
                <a16:creationId xmlns:a16="http://schemas.microsoft.com/office/drawing/2014/main" id="{9E052A0A-3DE0-31DF-1AC8-0E7491C5180A}"/>
              </a:ext>
            </a:extLst>
          </p:cNvPr>
          <p:cNvSpPr/>
          <p:nvPr/>
        </p:nvSpPr>
        <p:spPr>
          <a:xfrm>
            <a:off x="6516624" y="2057400"/>
            <a:ext cx="4928616" cy="320040"/>
          </a:xfrm>
          <a:prstGeom prst="rect">
            <a:avLst/>
          </a:prstGeom>
          <a:noFill/>
          <a:ln/>
        </p:spPr>
        <p:txBody>
          <a:bodyPr wrap="square" rtlCol="0" anchor="ctr"/>
          <a:lstStyle/>
          <a:p>
            <a:pPr marL="0" indent="0">
              <a:buNone/>
            </a:pPr>
            <a:r>
              <a:rPr lang="en-US" sz="1600" b="1" dirty="0">
                <a:solidFill>
                  <a:srgbClr val="03234B"/>
                </a:solidFill>
                <a:latin typeface="Calibri" pitchFamily="34" charset="0"/>
                <a:ea typeface="Calibri" pitchFamily="34" charset="-122"/>
                <a:cs typeface="Calibri" pitchFamily="34" charset="-120"/>
              </a:rPr>
              <a:t>New Command Management</a:t>
            </a:r>
            <a:endParaRPr lang="en-US" sz="1600" dirty="0"/>
          </a:p>
        </p:txBody>
      </p:sp>
      <p:sp>
        <p:nvSpPr>
          <p:cNvPr id="24" name="Text 10">
            <a:extLst>
              <a:ext uri="{FF2B5EF4-FFF2-40B4-BE49-F238E27FC236}">
                <a16:creationId xmlns:a16="http://schemas.microsoft.com/office/drawing/2014/main" id="{D442658D-48EF-35B5-2945-9AF0682E105C}"/>
              </a:ext>
            </a:extLst>
          </p:cNvPr>
          <p:cNvSpPr/>
          <p:nvPr/>
        </p:nvSpPr>
        <p:spPr>
          <a:xfrm>
            <a:off x="6516624" y="2441448"/>
            <a:ext cx="4928616" cy="960120"/>
          </a:xfrm>
          <a:prstGeom prst="rect">
            <a:avLst/>
          </a:prstGeom>
          <a:noFill/>
          <a:ln/>
        </p:spPr>
        <p:txBody>
          <a:bodyPr wrap="square" rtlCol="0" anchor="t"/>
          <a:lstStyle/>
          <a:p>
            <a:pPr marL="0" indent="0">
              <a:lnSpc>
                <a:spcPct val="115000"/>
              </a:lnSpc>
              <a:buNone/>
            </a:pPr>
            <a:r>
              <a:rPr lang="en-US" sz="1500" dirty="0">
                <a:solidFill>
                  <a:srgbClr val="51606E"/>
                </a:solidFill>
                <a:latin typeface="Calibri" pitchFamily="34" charset="0"/>
                <a:ea typeface="Calibri" pitchFamily="34" charset="-122"/>
                <a:cs typeface="Calibri" pitchFamily="34" charset="-120"/>
              </a:rPr>
              <a:t>For commands not present in the initial library—such as the $</a:t>
            </a:r>
            <a:r>
              <a:rPr lang="en-US" sz="1500" dirty="0" err="1">
                <a:solidFill>
                  <a:srgbClr val="51606E"/>
                </a:solidFill>
                <a:latin typeface="Calibri" pitchFamily="34" charset="0"/>
                <a:ea typeface="Calibri" pitchFamily="34" charset="-122"/>
                <a:cs typeface="Calibri" pitchFamily="34" charset="-120"/>
              </a:rPr>
              <a:t>I_d</a:t>
            </a:r>
            <a:r>
              <a:rPr lang="en-US" sz="1500" dirty="0">
                <a:solidFill>
                  <a:srgbClr val="51606E"/>
                </a:solidFill>
                <a:latin typeface="Calibri" pitchFamily="34" charset="0"/>
                <a:ea typeface="Calibri" pitchFamily="34" charset="-122"/>
                <a:cs typeface="Calibri" pitchFamily="34" charset="-120"/>
              </a:rPr>
              <a:t>$ flux ramp (SET_ID_RAMP)—an unused CAN ID was assigned (avoiding conflicts with existing commands or 0x40+ telemetry) and defined in both the .DBC and the C firmware.</a:t>
            </a:r>
            <a:endParaRPr lang="en-US" sz="1500" dirty="0"/>
          </a:p>
        </p:txBody>
      </p:sp>
      <p:sp>
        <p:nvSpPr>
          <p:cNvPr id="26" name="Text 11">
            <a:extLst>
              <a:ext uri="{FF2B5EF4-FFF2-40B4-BE49-F238E27FC236}">
                <a16:creationId xmlns:a16="http://schemas.microsoft.com/office/drawing/2014/main" id="{63256F8C-CCC9-C221-3D54-6D4DB445D33F}"/>
              </a:ext>
            </a:extLst>
          </p:cNvPr>
          <p:cNvSpPr/>
          <p:nvPr/>
        </p:nvSpPr>
        <p:spPr>
          <a:xfrm>
            <a:off x="563880" y="3977640"/>
            <a:ext cx="11155680" cy="320040"/>
          </a:xfrm>
          <a:prstGeom prst="rect">
            <a:avLst/>
          </a:prstGeom>
          <a:noFill/>
          <a:ln/>
        </p:spPr>
        <p:txBody>
          <a:bodyPr wrap="square" rtlCol="0" anchor="ctr"/>
          <a:lstStyle/>
          <a:p>
            <a:pPr marL="0" indent="0">
              <a:buNone/>
            </a:pPr>
            <a:r>
              <a:rPr lang="en-US" sz="1600" b="1" dirty="0">
                <a:solidFill>
                  <a:srgbClr val="03234B"/>
                </a:solidFill>
                <a:latin typeface="Calibri" pitchFamily="34" charset="0"/>
                <a:ea typeface="Calibri" pitchFamily="34" charset="-122"/>
                <a:cs typeface="Calibri" pitchFamily="34" charset="-120"/>
              </a:rPr>
              <a:t>CAN ID Map by Command Range</a:t>
            </a:r>
            <a:endParaRPr lang="en-US" sz="1600" dirty="0"/>
          </a:p>
        </p:txBody>
      </p:sp>
      <p:sp>
        <p:nvSpPr>
          <p:cNvPr id="28" name="Shape 12">
            <a:extLst>
              <a:ext uri="{FF2B5EF4-FFF2-40B4-BE49-F238E27FC236}">
                <a16:creationId xmlns:a16="http://schemas.microsoft.com/office/drawing/2014/main" id="{DB4C339D-CCDF-490F-D520-EC06DDD09EAA}"/>
              </a:ext>
            </a:extLst>
          </p:cNvPr>
          <p:cNvSpPr/>
          <p:nvPr/>
        </p:nvSpPr>
        <p:spPr>
          <a:xfrm>
            <a:off x="563880" y="4434840"/>
            <a:ext cx="2638044" cy="1417320"/>
          </a:xfrm>
          <a:prstGeom prst="roundRect">
            <a:avLst>
              <a:gd name="adj" fmla="val 3871"/>
            </a:avLst>
          </a:prstGeom>
          <a:solidFill>
            <a:srgbClr val="F2F7FB"/>
          </a:solidFill>
          <a:ln w="12700">
            <a:solidFill>
              <a:srgbClr val="DCE7F0"/>
            </a:solidFill>
            <a:prstDash val="solid"/>
          </a:ln>
        </p:spPr>
        <p:txBody>
          <a:bodyPr/>
          <a:lstStyle/>
          <a:p>
            <a:endParaRPr lang="it-IT" sz="1400"/>
          </a:p>
        </p:txBody>
      </p:sp>
      <p:sp>
        <p:nvSpPr>
          <p:cNvPr id="30" name="Text 13">
            <a:extLst>
              <a:ext uri="{FF2B5EF4-FFF2-40B4-BE49-F238E27FC236}">
                <a16:creationId xmlns:a16="http://schemas.microsoft.com/office/drawing/2014/main" id="{5804ED5C-3124-329C-BFCC-3B99F611E1F2}"/>
              </a:ext>
            </a:extLst>
          </p:cNvPr>
          <p:cNvSpPr/>
          <p:nvPr/>
        </p:nvSpPr>
        <p:spPr>
          <a:xfrm>
            <a:off x="701040" y="4581144"/>
            <a:ext cx="2363724" cy="365760"/>
          </a:xfrm>
          <a:prstGeom prst="rect">
            <a:avLst/>
          </a:prstGeom>
          <a:noFill/>
          <a:ln/>
        </p:spPr>
        <p:txBody>
          <a:bodyPr wrap="square" rtlCol="0" anchor="ctr"/>
          <a:lstStyle/>
          <a:p>
            <a:pPr marL="0" indent="0">
              <a:buNone/>
            </a:pPr>
            <a:r>
              <a:rPr lang="en-US" sz="1500" b="1" dirty="0">
                <a:solidFill>
                  <a:srgbClr val="03234B"/>
                </a:solidFill>
                <a:latin typeface="Courier New" pitchFamily="34" charset="0"/>
                <a:ea typeface="Courier New" pitchFamily="34" charset="-122"/>
                <a:cs typeface="Courier New" pitchFamily="34" charset="-120"/>
              </a:rPr>
              <a:t>0x10 – 0x11</a:t>
            </a:r>
            <a:endParaRPr lang="en-US" sz="1500" dirty="0"/>
          </a:p>
        </p:txBody>
      </p:sp>
      <p:sp>
        <p:nvSpPr>
          <p:cNvPr id="32" name="Text 14">
            <a:extLst>
              <a:ext uri="{FF2B5EF4-FFF2-40B4-BE49-F238E27FC236}">
                <a16:creationId xmlns:a16="http://schemas.microsoft.com/office/drawing/2014/main" id="{A74AF544-2390-E9C1-FC04-B8D0B95CE0E7}"/>
              </a:ext>
            </a:extLst>
          </p:cNvPr>
          <p:cNvSpPr/>
          <p:nvPr/>
        </p:nvSpPr>
        <p:spPr>
          <a:xfrm>
            <a:off x="701040" y="5038344"/>
            <a:ext cx="2363724" cy="320040"/>
          </a:xfrm>
          <a:prstGeom prst="rect">
            <a:avLst/>
          </a:prstGeom>
          <a:noFill/>
          <a:ln/>
        </p:spPr>
        <p:txBody>
          <a:bodyPr wrap="square" rtlCol="0" anchor="ctr"/>
          <a:lstStyle/>
          <a:p>
            <a:r>
              <a:rPr lang="en-US" sz="1500" b="1" dirty="0">
                <a:solidFill>
                  <a:srgbClr val="03234B"/>
                </a:solidFill>
                <a:latin typeface="Calibri" pitchFamily="34" charset="0"/>
                <a:ea typeface="Calibri" pitchFamily="34" charset="-122"/>
                <a:cs typeface="Calibri" pitchFamily="34" charset="-120"/>
              </a:rPr>
              <a:t>MCU Responses</a:t>
            </a:r>
            <a:endParaRPr lang="en-US" sz="1500" dirty="0"/>
          </a:p>
        </p:txBody>
      </p:sp>
      <p:sp>
        <p:nvSpPr>
          <p:cNvPr id="34" name="Text 15">
            <a:extLst>
              <a:ext uri="{FF2B5EF4-FFF2-40B4-BE49-F238E27FC236}">
                <a16:creationId xmlns:a16="http://schemas.microsoft.com/office/drawing/2014/main" id="{1BE6F49D-8DF2-16CB-5873-274C8E813AAB}"/>
              </a:ext>
            </a:extLst>
          </p:cNvPr>
          <p:cNvSpPr/>
          <p:nvPr/>
        </p:nvSpPr>
        <p:spPr>
          <a:xfrm>
            <a:off x="701040" y="5349240"/>
            <a:ext cx="2363724" cy="411480"/>
          </a:xfrm>
          <a:prstGeom prst="rect">
            <a:avLst/>
          </a:prstGeom>
          <a:noFill/>
          <a:ln/>
        </p:spPr>
        <p:txBody>
          <a:bodyPr wrap="square" rtlCol="0" anchor="t"/>
          <a:lstStyle/>
          <a:p>
            <a:pPr marL="0" indent="0">
              <a:lnSpc>
                <a:spcPct val="110000"/>
              </a:lnSpc>
              <a:buNone/>
            </a:pPr>
            <a:r>
              <a:rPr lang="en-US" sz="1500" dirty="0">
                <a:solidFill>
                  <a:srgbClr val="51606E"/>
                </a:solidFill>
                <a:latin typeface="Calibri" pitchFamily="34" charset="0"/>
                <a:ea typeface="Calibri" pitchFamily="34" charset="-122"/>
                <a:cs typeface="Calibri" pitchFamily="34" charset="-120"/>
              </a:rPr>
              <a:t>ACK/NACK, REG_VALUE</a:t>
            </a:r>
            <a:endParaRPr lang="en-US" sz="1500" dirty="0"/>
          </a:p>
        </p:txBody>
      </p:sp>
      <p:sp>
        <p:nvSpPr>
          <p:cNvPr id="36" name="Shape 16">
            <a:extLst>
              <a:ext uri="{FF2B5EF4-FFF2-40B4-BE49-F238E27FC236}">
                <a16:creationId xmlns:a16="http://schemas.microsoft.com/office/drawing/2014/main" id="{4C3AB3F8-8018-0C25-346E-E519021FC72E}"/>
              </a:ext>
            </a:extLst>
          </p:cNvPr>
          <p:cNvSpPr/>
          <p:nvPr/>
        </p:nvSpPr>
        <p:spPr>
          <a:xfrm>
            <a:off x="3403092" y="4434840"/>
            <a:ext cx="2638044" cy="1417320"/>
          </a:xfrm>
          <a:prstGeom prst="roundRect">
            <a:avLst>
              <a:gd name="adj" fmla="val 3871"/>
            </a:avLst>
          </a:prstGeom>
          <a:solidFill>
            <a:srgbClr val="F2F7FB"/>
          </a:solidFill>
          <a:ln w="12700">
            <a:solidFill>
              <a:srgbClr val="DCE7F0"/>
            </a:solidFill>
            <a:prstDash val="solid"/>
          </a:ln>
        </p:spPr>
        <p:txBody>
          <a:bodyPr/>
          <a:lstStyle/>
          <a:p>
            <a:endParaRPr lang="it-IT" sz="1400"/>
          </a:p>
        </p:txBody>
      </p:sp>
      <p:sp>
        <p:nvSpPr>
          <p:cNvPr id="38" name="Text 17">
            <a:extLst>
              <a:ext uri="{FF2B5EF4-FFF2-40B4-BE49-F238E27FC236}">
                <a16:creationId xmlns:a16="http://schemas.microsoft.com/office/drawing/2014/main" id="{52D43379-5955-59F3-F7AF-000338B7815D}"/>
              </a:ext>
            </a:extLst>
          </p:cNvPr>
          <p:cNvSpPr/>
          <p:nvPr/>
        </p:nvSpPr>
        <p:spPr>
          <a:xfrm>
            <a:off x="3540252" y="4581144"/>
            <a:ext cx="2363724" cy="365760"/>
          </a:xfrm>
          <a:prstGeom prst="rect">
            <a:avLst/>
          </a:prstGeom>
          <a:noFill/>
          <a:ln/>
        </p:spPr>
        <p:txBody>
          <a:bodyPr wrap="square" rtlCol="0" anchor="ctr"/>
          <a:lstStyle/>
          <a:p>
            <a:pPr marL="0" indent="0">
              <a:buNone/>
            </a:pPr>
            <a:r>
              <a:rPr lang="en-US" sz="1500" b="1" dirty="0">
                <a:solidFill>
                  <a:srgbClr val="03234B"/>
                </a:solidFill>
                <a:latin typeface="Courier New" pitchFamily="34" charset="0"/>
                <a:ea typeface="Courier New" pitchFamily="34" charset="-122"/>
                <a:cs typeface="Courier New" pitchFamily="34" charset="-120"/>
              </a:rPr>
              <a:t>0x30 – 0x3A</a:t>
            </a:r>
            <a:endParaRPr lang="en-US" sz="1500" dirty="0"/>
          </a:p>
        </p:txBody>
      </p:sp>
      <p:sp>
        <p:nvSpPr>
          <p:cNvPr id="40" name="Text 18">
            <a:extLst>
              <a:ext uri="{FF2B5EF4-FFF2-40B4-BE49-F238E27FC236}">
                <a16:creationId xmlns:a16="http://schemas.microsoft.com/office/drawing/2014/main" id="{0D676C86-FE87-2CF9-1E2A-E6C2DB9015BF}"/>
              </a:ext>
            </a:extLst>
          </p:cNvPr>
          <p:cNvSpPr/>
          <p:nvPr/>
        </p:nvSpPr>
        <p:spPr>
          <a:xfrm>
            <a:off x="3540252" y="5038344"/>
            <a:ext cx="2363724" cy="320040"/>
          </a:xfrm>
          <a:prstGeom prst="rect">
            <a:avLst/>
          </a:prstGeom>
          <a:noFill/>
          <a:ln/>
        </p:spPr>
        <p:txBody>
          <a:bodyPr wrap="square" rtlCol="0" anchor="ctr"/>
          <a:lstStyle/>
          <a:p>
            <a:r>
              <a:rPr lang="en-US" sz="1500" b="1">
                <a:solidFill>
                  <a:srgbClr val="03234B"/>
                </a:solidFill>
                <a:latin typeface="Calibri" pitchFamily="34" charset="0"/>
                <a:ea typeface="Calibri" pitchFamily="34" charset="-122"/>
                <a:cs typeface="Calibri" pitchFamily="34" charset="-120"/>
              </a:rPr>
              <a:t>Existing Commands</a:t>
            </a:r>
            <a:endParaRPr lang="en-US" sz="1500" dirty="0"/>
          </a:p>
        </p:txBody>
      </p:sp>
      <p:sp>
        <p:nvSpPr>
          <p:cNvPr id="42" name="Text 19">
            <a:extLst>
              <a:ext uri="{FF2B5EF4-FFF2-40B4-BE49-F238E27FC236}">
                <a16:creationId xmlns:a16="http://schemas.microsoft.com/office/drawing/2014/main" id="{A00E7ADF-5640-6D3B-CDBC-8313FAC96AA4}"/>
              </a:ext>
            </a:extLst>
          </p:cNvPr>
          <p:cNvSpPr/>
          <p:nvPr/>
        </p:nvSpPr>
        <p:spPr>
          <a:xfrm>
            <a:off x="3540252" y="5349240"/>
            <a:ext cx="2363724" cy="411480"/>
          </a:xfrm>
          <a:prstGeom prst="rect">
            <a:avLst/>
          </a:prstGeom>
          <a:noFill/>
          <a:ln/>
        </p:spPr>
        <p:txBody>
          <a:bodyPr wrap="square" rtlCol="0" anchor="t"/>
          <a:lstStyle/>
          <a:p>
            <a:pPr>
              <a:lnSpc>
                <a:spcPct val="110000"/>
              </a:lnSpc>
            </a:pPr>
            <a:r>
              <a:rPr lang="en-US" sz="1500">
                <a:solidFill>
                  <a:srgbClr val="51606E"/>
                </a:solidFill>
                <a:latin typeface="Calibri" pitchFamily="34" charset="0"/>
                <a:ea typeface="Calibri" pitchFamily="34" charset="-122"/>
                <a:cs typeface="Calibri" pitchFamily="34" charset="-120"/>
              </a:rPr>
              <a:t>firmware library</a:t>
            </a:r>
            <a:endParaRPr lang="en-US" sz="1500" dirty="0"/>
          </a:p>
        </p:txBody>
      </p:sp>
      <p:sp>
        <p:nvSpPr>
          <p:cNvPr id="44" name="Shape 20">
            <a:extLst>
              <a:ext uri="{FF2B5EF4-FFF2-40B4-BE49-F238E27FC236}">
                <a16:creationId xmlns:a16="http://schemas.microsoft.com/office/drawing/2014/main" id="{23A74E63-DA1E-F7F2-74E6-9325147C2496}"/>
              </a:ext>
            </a:extLst>
          </p:cNvPr>
          <p:cNvSpPr/>
          <p:nvPr/>
        </p:nvSpPr>
        <p:spPr>
          <a:xfrm>
            <a:off x="6242304" y="4434840"/>
            <a:ext cx="2638044" cy="1417320"/>
          </a:xfrm>
          <a:prstGeom prst="roundRect">
            <a:avLst>
              <a:gd name="adj" fmla="val 3871"/>
            </a:avLst>
          </a:prstGeom>
          <a:solidFill>
            <a:srgbClr val="3CB4E6"/>
          </a:solidFill>
          <a:ln w="22225">
            <a:solidFill>
              <a:srgbClr val="0E7DAD"/>
            </a:solidFill>
            <a:prstDash val="solid"/>
          </a:ln>
        </p:spPr>
        <p:txBody>
          <a:bodyPr/>
          <a:lstStyle/>
          <a:p>
            <a:endParaRPr lang="it-IT" sz="1400"/>
          </a:p>
        </p:txBody>
      </p:sp>
      <p:sp>
        <p:nvSpPr>
          <p:cNvPr id="46" name="Text 21">
            <a:extLst>
              <a:ext uri="{FF2B5EF4-FFF2-40B4-BE49-F238E27FC236}">
                <a16:creationId xmlns:a16="http://schemas.microsoft.com/office/drawing/2014/main" id="{09967614-1157-D53E-A066-6525C324A99E}"/>
              </a:ext>
            </a:extLst>
          </p:cNvPr>
          <p:cNvSpPr/>
          <p:nvPr/>
        </p:nvSpPr>
        <p:spPr>
          <a:xfrm>
            <a:off x="6379464" y="4581144"/>
            <a:ext cx="2363724" cy="36576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0x3B – 0x3C</a:t>
            </a:r>
            <a:endParaRPr lang="en-US" sz="1500" dirty="0"/>
          </a:p>
        </p:txBody>
      </p:sp>
      <p:sp>
        <p:nvSpPr>
          <p:cNvPr id="48" name="Text 22">
            <a:extLst>
              <a:ext uri="{FF2B5EF4-FFF2-40B4-BE49-F238E27FC236}">
                <a16:creationId xmlns:a16="http://schemas.microsoft.com/office/drawing/2014/main" id="{ECC5688F-6199-3A57-5551-1E4B9118060A}"/>
              </a:ext>
            </a:extLst>
          </p:cNvPr>
          <p:cNvSpPr/>
          <p:nvPr/>
        </p:nvSpPr>
        <p:spPr>
          <a:xfrm>
            <a:off x="6379464" y="5038344"/>
            <a:ext cx="2363724" cy="32004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New Commands</a:t>
            </a:r>
            <a:endParaRPr lang="en-US" sz="1500" dirty="0"/>
          </a:p>
        </p:txBody>
      </p:sp>
      <p:sp>
        <p:nvSpPr>
          <p:cNvPr id="50" name="Text 23">
            <a:extLst>
              <a:ext uri="{FF2B5EF4-FFF2-40B4-BE49-F238E27FC236}">
                <a16:creationId xmlns:a16="http://schemas.microsoft.com/office/drawing/2014/main" id="{A5B3FCDE-B038-CB8C-B8A4-B7D77404612F}"/>
              </a:ext>
            </a:extLst>
          </p:cNvPr>
          <p:cNvSpPr/>
          <p:nvPr/>
        </p:nvSpPr>
        <p:spPr>
          <a:xfrm>
            <a:off x="6379464" y="5349240"/>
            <a:ext cx="2363724" cy="411480"/>
          </a:xfrm>
          <a:prstGeom prst="rect">
            <a:avLst/>
          </a:prstGeom>
          <a:noFill/>
          <a:ln/>
        </p:spPr>
        <p:txBody>
          <a:bodyPr wrap="square" rtlCol="0" anchor="t"/>
          <a:lstStyle/>
          <a:p>
            <a:pPr marL="0" indent="0">
              <a:lnSpc>
                <a:spcPct val="110000"/>
              </a:lnSpc>
              <a:buNone/>
            </a:pPr>
            <a:r>
              <a:rPr lang="en-US" sz="1500" dirty="0">
                <a:solidFill>
                  <a:srgbClr val="FFFFFF"/>
                </a:solidFill>
                <a:latin typeface="Calibri" pitchFamily="34" charset="0"/>
                <a:ea typeface="Calibri" pitchFamily="34" charset="-122"/>
                <a:cs typeface="Calibri" pitchFamily="34" charset="-120"/>
              </a:rPr>
              <a:t>SET_CURRENT_ID / IQ</a:t>
            </a:r>
            <a:endParaRPr lang="en-US" sz="1500" dirty="0"/>
          </a:p>
        </p:txBody>
      </p:sp>
      <p:sp>
        <p:nvSpPr>
          <p:cNvPr id="52" name="Text 24">
            <a:extLst>
              <a:ext uri="{FF2B5EF4-FFF2-40B4-BE49-F238E27FC236}">
                <a16:creationId xmlns:a16="http://schemas.microsoft.com/office/drawing/2014/main" id="{3AC2BEB7-2CD0-AE86-D7CC-98DCBC63DA65}"/>
              </a:ext>
            </a:extLst>
          </p:cNvPr>
          <p:cNvSpPr/>
          <p:nvPr/>
        </p:nvSpPr>
        <p:spPr>
          <a:xfrm>
            <a:off x="6379464" y="4142232"/>
            <a:ext cx="2363724" cy="256032"/>
          </a:xfrm>
          <a:prstGeom prst="rect">
            <a:avLst/>
          </a:prstGeom>
          <a:noFill/>
          <a:ln/>
        </p:spPr>
        <p:txBody>
          <a:bodyPr wrap="square" rtlCol="0" anchor="ctr"/>
          <a:lstStyle/>
          <a:p>
            <a:r>
              <a:rPr lang="en-US" sz="1600" b="1" kern="0" spc="100">
                <a:solidFill>
                  <a:srgbClr val="0E7DAD"/>
                </a:solidFill>
                <a:latin typeface="Calibri" pitchFamily="34" charset="0"/>
                <a:ea typeface="Calibri" pitchFamily="34" charset="-122"/>
                <a:cs typeface="Calibri" pitchFamily="34" charset="-120"/>
              </a:rPr>
              <a:t>NEW</a:t>
            </a:r>
            <a:endParaRPr lang="en-US" sz="1600" dirty="0"/>
          </a:p>
        </p:txBody>
      </p:sp>
      <p:sp>
        <p:nvSpPr>
          <p:cNvPr id="54" name="Shape 25">
            <a:extLst>
              <a:ext uri="{FF2B5EF4-FFF2-40B4-BE49-F238E27FC236}">
                <a16:creationId xmlns:a16="http://schemas.microsoft.com/office/drawing/2014/main" id="{B6D0C9EF-E6DA-B8F7-C309-28A50D51B255}"/>
              </a:ext>
            </a:extLst>
          </p:cNvPr>
          <p:cNvSpPr/>
          <p:nvPr/>
        </p:nvSpPr>
        <p:spPr>
          <a:xfrm>
            <a:off x="9081516" y="4434840"/>
            <a:ext cx="2638044" cy="1417320"/>
          </a:xfrm>
          <a:prstGeom prst="roundRect">
            <a:avLst>
              <a:gd name="adj" fmla="val 3871"/>
            </a:avLst>
          </a:prstGeom>
          <a:solidFill>
            <a:srgbClr val="F2F7FB"/>
          </a:solidFill>
          <a:ln w="12700">
            <a:solidFill>
              <a:srgbClr val="DCE7F0"/>
            </a:solidFill>
            <a:prstDash val="solid"/>
          </a:ln>
        </p:spPr>
        <p:txBody>
          <a:bodyPr/>
          <a:lstStyle/>
          <a:p>
            <a:endParaRPr lang="it-IT" sz="1400"/>
          </a:p>
        </p:txBody>
      </p:sp>
      <p:sp>
        <p:nvSpPr>
          <p:cNvPr id="56" name="Text 26">
            <a:extLst>
              <a:ext uri="{FF2B5EF4-FFF2-40B4-BE49-F238E27FC236}">
                <a16:creationId xmlns:a16="http://schemas.microsoft.com/office/drawing/2014/main" id="{510F6ABD-35F7-1728-0809-6F9D9EFE3E45}"/>
              </a:ext>
            </a:extLst>
          </p:cNvPr>
          <p:cNvSpPr/>
          <p:nvPr/>
        </p:nvSpPr>
        <p:spPr>
          <a:xfrm>
            <a:off x="9218676" y="4581144"/>
            <a:ext cx="2363724" cy="365760"/>
          </a:xfrm>
          <a:prstGeom prst="rect">
            <a:avLst/>
          </a:prstGeom>
          <a:noFill/>
          <a:ln/>
        </p:spPr>
        <p:txBody>
          <a:bodyPr wrap="square" rtlCol="0" anchor="ctr"/>
          <a:lstStyle/>
          <a:p>
            <a:pPr marL="0" indent="0">
              <a:buNone/>
            </a:pPr>
            <a:r>
              <a:rPr lang="en-US" sz="1500" b="1" dirty="0">
                <a:solidFill>
                  <a:srgbClr val="03234B"/>
                </a:solidFill>
                <a:latin typeface="Courier New" pitchFamily="34" charset="0"/>
                <a:ea typeface="Courier New" pitchFamily="34" charset="-122"/>
                <a:cs typeface="Courier New" pitchFamily="34" charset="-120"/>
              </a:rPr>
              <a:t>0x40 +</a:t>
            </a:r>
            <a:endParaRPr lang="en-US" sz="1500" dirty="0"/>
          </a:p>
        </p:txBody>
      </p:sp>
      <p:sp>
        <p:nvSpPr>
          <p:cNvPr id="58" name="Text 27">
            <a:extLst>
              <a:ext uri="{FF2B5EF4-FFF2-40B4-BE49-F238E27FC236}">
                <a16:creationId xmlns:a16="http://schemas.microsoft.com/office/drawing/2014/main" id="{90459DF2-875C-1D2E-A047-080975609045}"/>
              </a:ext>
            </a:extLst>
          </p:cNvPr>
          <p:cNvSpPr/>
          <p:nvPr/>
        </p:nvSpPr>
        <p:spPr>
          <a:xfrm>
            <a:off x="9218676" y="5038344"/>
            <a:ext cx="2363724" cy="320040"/>
          </a:xfrm>
          <a:prstGeom prst="rect">
            <a:avLst/>
          </a:prstGeom>
          <a:noFill/>
          <a:ln/>
        </p:spPr>
        <p:txBody>
          <a:bodyPr wrap="square" rtlCol="0" anchor="ctr"/>
          <a:lstStyle/>
          <a:p>
            <a:r>
              <a:rPr lang="en-US" sz="1500" b="1">
                <a:solidFill>
                  <a:srgbClr val="03234B"/>
                </a:solidFill>
                <a:latin typeface="Calibri" pitchFamily="34" charset="0"/>
                <a:ea typeface="Calibri" pitchFamily="34" charset="-122"/>
                <a:cs typeface="Calibri" pitchFamily="34" charset="-120"/>
              </a:rPr>
              <a:t>Diagnostics</a:t>
            </a:r>
            <a:endParaRPr lang="en-US" sz="1500" dirty="0"/>
          </a:p>
        </p:txBody>
      </p:sp>
      <p:sp>
        <p:nvSpPr>
          <p:cNvPr id="60" name="Text 28">
            <a:extLst>
              <a:ext uri="{FF2B5EF4-FFF2-40B4-BE49-F238E27FC236}">
                <a16:creationId xmlns:a16="http://schemas.microsoft.com/office/drawing/2014/main" id="{024EF356-E3B3-C95E-EE22-23A22E0CA5D6}"/>
              </a:ext>
            </a:extLst>
          </p:cNvPr>
          <p:cNvSpPr/>
          <p:nvPr/>
        </p:nvSpPr>
        <p:spPr>
          <a:xfrm>
            <a:off x="9218676" y="5349240"/>
            <a:ext cx="2363724" cy="411480"/>
          </a:xfrm>
          <a:prstGeom prst="rect">
            <a:avLst/>
          </a:prstGeom>
          <a:noFill/>
          <a:ln/>
        </p:spPr>
        <p:txBody>
          <a:bodyPr wrap="square" rtlCol="0" anchor="t"/>
          <a:lstStyle/>
          <a:p>
            <a:pPr>
              <a:lnSpc>
                <a:spcPct val="110000"/>
              </a:lnSpc>
            </a:pPr>
            <a:r>
              <a:rPr lang="en-US" sz="1500">
                <a:solidFill>
                  <a:srgbClr val="51606E"/>
                </a:solidFill>
                <a:latin typeface="Calibri" pitchFamily="34" charset="0"/>
                <a:ea typeface="Calibri" pitchFamily="34" charset="-122"/>
                <a:cs typeface="Calibri" pitchFamily="34" charset="-120"/>
              </a:rPr>
              <a:t>Periodic telemetry</a:t>
            </a:r>
            <a:endParaRPr lang="en-US" sz="1500" dirty="0"/>
          </a:p>
        </p:txBody>
      </p:sp>
      <p:sp>
        <p:nvSpPr>
          <p:cNvPr id="4" name="Text 0">
            <a:extLst>
              <a:ext uri="{FF2B5EF4-FFF2-40B4-BE49-F238E27FC236}">
                <a16:creationId xmlns:a16="http://schemas.microsoft.com/office/drawing/2014/main" id="{946E1CF8-93F6-4A90-FB5A-812F5F95F702}"/>
              </a:ext>
            </a:extLst>
          </p:cNvPr>
          <p:cNvSpPr/>
          <p:nvPr/>
        </p:nvSpPr>
        <p:spPr>
          <a:xfrm>
            <a:off x="10911840" y="182880"/>
            <a:ext cx="54864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DBC FILE</a:t>
            </a:r>
            <a:endParaRPr lang="en-US" sz="1100" dirty="0"/>
          </a:p>
        </p:txBody>
      </p:sp>
    </p:spTree>
    <p:extLst>
      <p:ext uri="{BB962C8B-B14F-4D97-AF65-F5344CB8AC3E}">
        <p14:creationId xmlns:p14="http://schemas.microsoft.com/office/powerpoint/2010/main" val="607822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98525-8C65-F757-763E-35AC1269126B}"/>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86392883-796F-F3C3-02E2-1E6040D9A0D4}"/>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Response messages and structural correction</a:t>
            </a:r>
            <a:endParaRPr lang="it-IT" dirty="0"/>
          </a:p>
        </p:txBody>
      </p:sp>
      <p:sp>
        <p:nvSpPr>
          <p:cNvPr id="6" name="Shape 3">
            <a:extLst>
              <a:ext uri="{FF2B5EF4-FFF2-40B4-BE49-F238E27FC236}">
                <a16:creationId xmlns:a16="http://schemas.microsoft.com/office/drawing/2014/main" id="{D0ADA6C9-7025-D212-36FF-FA2B6D28BB93}"/>
              </a:ext>
            </a:extLst>
          </p:cNvPr>
          <p:cNvSpPr/>
          <p:nvPr/>
        </p:nvSpPr>
        <p:spPr>
          <a:xfrm>
            <a:off x="502920" y="1371600"/>
            <a:ext cx="5074920" cy="2331720"/>
          </a:xfrm>
          <a:prstGeom prst="roundRect">
            <a:avLst>
              <a:gd name="adj" fmla="val 2353"/>
            </a:avLst>
          </a:prstGeom>
          <a:solidFill>
            <a:srgbClr val="F2F7FB"/>
          </a:solidFill>
          <a:ln/>
        </p:spPr>
        <p:txBody>
          <a:bodyPr/>
          <a:lstStyle/>
          <a:p>
            <a:endParaRPr lang="it-IT"/>
          </a:p>
        </p:txBody>
      </p:sp>
      <p:sp>
        <p:nvSpPr>
          <p:cNvPr id="8" name="Text 4">
            <a:extLst>
              <a:ext uri="{FF2B5EF4-FFF2-40B4-BE49-F238E27FC236}">
                <a16:creationId xmlns:a16="http://schemas.microsoft.com/office/drawing/2014/main" id="{16C767D2-65BD-A3A5-5485-DAEB078B1A90}"/>
              </a:ext>
            </a:extLst>
          </p:cNvPr>
          <p:cNvSpPr/>
          <p:nvPr/>
        </p:nvSpPr>
        <p:spPr>
          <a:xfrm>
            <a:off x="731520" y="1572768"/>
            <a:ext cx="4617720" cy="320040"/>
          </a:xfrm>
          <a:prstGeom prst="rect">
            <a:avLst/>
          </a:prstGeom>
          <a:noFill/>
          <a:ln/>
        </p:spPr>
        <p:txBody>
          <a:bodyPr wrap="square" rtlCol="0" anchor="ctr"/>
          <a:lstStyle/>
          <a:p>
            <a:pPr marL="0" indent="0">
              <a:buNone/>
            </a:pPr>
            <a:r>
              <a:rPr lang="en-US" b="1" dirty="0">
                <a:solidFill>
                  <a:srgbClr val="03234B"/>
                </a:solidFill>
                <a:latin typeface="Calibri" pitchFamily="34" charset="0"/>
                <a:ea typeface="Calibri" pitchFamily="34" charset="-122"/>
                <a:cs typeface="Calibri" pitchFamily="34" charset="-120"/>
              </a:rPr>
              <a:t>REG_VALUE — ID 0x11</a:t>
            </a:r>
            <a:endParaRPr lang="en-US" dirty="0"/>
          </a:p>
        </p:txBody>
      </p:sp>
      <p:sp>
        <p:nvSpPr>
          <p:cNvPr id="10" name="Text 5">
            <a:extLst>
              <a:ext uri="{FF2B5EF4-FFF2-40B4-BE49-F238E27FC236}">
                <a16:creationId xmlns:a16="http://schemas.microsoft.com/office/drawing/2014/main" id="{2D21D5C8-D287-CAAA-AB41-43E4B641EACC}"/>
              </a:ext>
            </a:extLst>
          </p:cNvPr>
          <p:cNvSpPr/>
          <p:nvPr/>
        </p:nvSpPr>
        <p:spPr>
          <a:xfrm>
            <a:off x="731520" y="1965960"/>
            <a:ext cx="4617720" cy="1508760"/>
          </a:xfrm>
          <a:prstGeom prst="rect">
            <a:avLst/>
          </a:prstGeom>
          <a:noFill/>
          <a:ln/>
        </p:spPr>
        <p:txBody>
          <a:bodyPr wrap="square" rtlCol="0" anchor="t"/>
          <a:lstStyle/>
          <a:p>
            <a:pPr>
              <a:lnSpc>
                <a:spcPct val="130000"/>
              </a:lnSpc>
            </a:pPr>
            <a:r>
              <a:rPr lang="en-US" dirty="0">
                <a:solidFill>
                  <a:srgbClr val="51606E"/>
                </a:solidFill>
                <a:latin typeface="Calibri" pitchFamily="34" charset="0"/>
                <a:ea typeface="Calibri" pitchFamily="34" charset="-122"/>
                <a:cs typeface="Calibri" pitchFamily="34" charset="-120"/>
              </a:rPr>
              <a:t>Response to GET_REG (0x32): The microcontroller transmits the 0x11 ID with the requested register value.</a:t>
            </a:r>
            <a:endParaRPr lang="en-US" dirty="0"/>
          </a:p>
        </p:txBody>
      </p:sp>
      <p:sp>
        <p:nvSpPr>
          <p:cNvPr id="12" name="Shape 6">
            <a:extLst>
              <a:ext uri="{FF2B5EF4-FFF2-40B4-BE49-F238E27FC236}">
                <a16:creationId xmlns:a16="http://schemas.microsoft.com/office/drawing/2014/main" id="{DA046F4D-CF02-12CC-ADF8-A2989C35F091}"/>
              </a:ext>
            </a:extLst>
          </p:cNvPr>
          <p:cNvSpPr/>
          <p:nvPr/>
        </p:nvSpPr>
        <p:spPr>
          <a:xfrm>
            <a:off x="502920" y="3931920"/>
            <a:ext cx="5074920" cy="2331720"/>
          </a:xfrm>
          <a:prstGeom prst="roundRect">
            <a:avLst>
              <a:gd name="adj" fmla="val 2353"/>
            </a:avLst>
          </a:prstGeom>
          <a:solidFill>
            <a:srgbClr val="F2F7FB"/>
          </a:solidFill>
          <a:ln/>
        </p:spPr>
        <p:txBody>
          <a:bodyPr/>
          <a:lstStyle/>
          <a:p>
            <a:endParaRPr lang="it-IT"/>
          </a:p>
        </p:txBody>
      </p:sp>
      <p:sp>
        <p:nvSpPr>
          <p:cNvPr id="14" name="Text 7">
            <a:extLst>
              <a:ext uri="{FF2B5EF4-FFF2-40B4-BE49-F238E27FC236}">
                <a16:creationId xmlns:a16="http://schemas.microsoft.com/office/drawing/2014/main" id="{362184B2-8B89-A51F-D192-290DE95C90C6}"/>
              </a:ext>
            </a:extLst>
          </p:cNvPr>
          <p:cNvSpPr/>
          <p:nvPr/>
        </p:nvSpPr>
        <p:spPr>
          <a:xfrm>
            <a:off x="731520" y="4133088"/>
            <a:ext cx="4617720" cy="320040"/>
          </a:xfrm>
          <a:prstGeom prst="rect">
            <a:avLst/>
          </a:prstGeom>
          <a:noFill/>
          <a:ln/>
        </p:spPr>
        <p:txBody>
          <a:bodyPr wrap="square" rtlCol="0" anchor="ctr"/>
          <a:lstStyle/>
          <a:p>
            <a:pPr marL="0" indent="0">
              <a:buNone/>
            </a:pPr>
            <a:r>
              <a:rPr lang="en-US" b="1" dirty="0">
                <a:solidFill>
                  <a:srgbClr val="03234B"/>
                </a:solidFill>
                <a:latin typeface="Calibri" pitchFamily="34" charset="0"/>
                <a:ea typeface="Calibri" pitchFamily="34" charset="-122"/>
                <a:cs typeface="Calibri" pitchFamily="34" charset="-120"/>
              </a:rPr>
              <a:t>ACK / NACK — ID 0x10</a:t>
            </a:r>
            <a:endParaRPr lang="en-US" dirty="0"/>
          </a:p>
        </p:txBody>
      </p:sp>
      <p:sp>
        <p:nvSpPr>
          <p:cNvPr id="16" name="Text 8">
            <a:extLst>
              <a:ext uri="{FF2B5EF4-FFF2-40B4-BE49-F238E27FC236}">
                <a16:creationId xmlns:a16="http://schemas.microsoft.com/office/drawing/2014/main" id="{7FBBA6CC-6475-2F33-E80D-95442548133A}"/>
              </a:ext>
            </a:extLst>
          </p:cNvPr>
          <p:cNvSpPr/>
          <p:nvPr/>
        </p:nvSpPr>
        <p:spPr>
          <a:xfrm>
            <a:off x="731520" y="4526280"/>
            <a:ext cx="4617720" cy="1508760"/>
          </a:xfrm>
          <a:prstGeom prst="rect">
            <a:avLst/>
          </a:prstGeom>
          <a:noFill/>
          <a:ln/>
        </p:spPr>
        <p:txBody>
          <a:bodyPr wrap="square" rtlCol="0" anchor="t"/>
          <a:lstStyle/>
          <a:p>
            <a:pPr>
              <a:lnSpc>
                <a:spcPct val="130000"/>
              </a:lnSpc>
            </a:pPr>
            <a:r>
              <a:rPr lang="en-US" dirty="0">
                <a:solidFill>
                  <a:srgbClr val="51606E"/>
                </a:solidFill>
                <a:latin typeface="Calibri" pitchFamily="34" charset="0"/>
                <a:ea typeface="Calibri" pitchFamily="34" charset="-122"/>
                <a:cs typeface="Calibri" pitchFamily="34" charset="-120"/>
              </a:rPr>
              <a:t>Each command received generates an acknowledgment: 0xF0 = ACK (successful), 0xFF = NACK (error).</a:t>
            </a:r>
            <a:endParaRPr lang="en-US" dirty="0"/>
          </a:p>
        </p:txBody>
      </p:sp>
      <p:sp>
        <p:nvSpPr>
          <p:cNvPr id="18" name="Text 9">
            <a:extLst>
              <a:ext uri="{FF2B5EF4-FFF2-40B4-BE49-F238E27FC236}">
                <a16:creationId xmlns:a16="http://schemas.microsoft.com/office/drawing/2014/main" id="{851B1890-91A4-63F6-E43F-135997E92173}"/>
              </a:ext>
            </a:extLst>
          </p:cNvPr>
          <p:cNvSpPr/>
          <p:nvPr/>
        </p:nvSpPr>
        <p:spPr>
          <a:xfrm>
            <a:off x="5897880" y="1371600"/>
            <a:ext cx="5790895" cy="320040"/>
          </a:xfrm>
          <a:prstGeom prst="rect">
            <a:avLst/>
          </a:prstGeom>
          <a:noFill/>
          <a:ln/>
        </p:spPr>
        <p:txBody>
          <a:bodyPr wrap="square" rtlCol="0" anchor="ctr"/>
          <a:lstStyle/>
          <a:p>
            <a:r>
              <a:rPr lang="en-US" b="1" dirty="0">
                <a:solidFill>
                  <a:srgbClr val="03234B"/>
                </a:solidFill>
                <a:latin typeface="Calibri" pitchFamily="34" charset="0"/>
                <a:ea typeface="Calibri" pitchFamily="34" charset="-122"/>
                <a:cs typeface="Calibri" pitchFamily="34" charset="-120"/>
              </a:rPr>
              <a:t>Structural correction of the .DBC</a:t>
            </a:r>
            <a:endParaRPr lang="en-US" dirty="0"/>
          </a:p>
        </p:txBody>
      </p:sp>
      <p:sp>
        <p:nvSpPr>
          <p:cNvPr id="20" name="Shape 10">
            <a:extLst>
              <a:ext uri="{FF2B5EF4-FFF2-40B4-BE49-F238E27FC236}">
                <a16:creationId xmlns:a16="http://schemas.microsoft.com/office/drawing/2014/main" id="{399AEE73-F874-F79D-3FD9-E5D9BC3749B1}"/>
              </a:ext>
            </a:extLst>
          </p:cNvPr>
          <p:cNvSpPr/>
          <p:nvPr/>
        </p:nvSpPr>
        <p:spPr>
          <a:xfrm>
            <a:off x="5897880" y="1783080"/>
            <a:ext cx="5790895" cy="1737360"/>
          </a:xfrm>
          <a:prstGeom prst="roundRect">
            <a:avLst>
              <a:gd name="adj" fmla="val 3158"/>
            </a:avLst>
          </a:prstGeom>
          <a:solidFill>
            <a:srgbClr val="FBEAEA"/>
          </a:solidFill>
          <a:ln/>
        </p:spPr>
        <p:txBody>
          <a:bodyPr/>
          <a:lstStyle/>
          <a:p>
            <a:endParaRPr lang="it-IT"/>
          </a:p>
        </p:txBody>
      </p:sp>
      <p:sp>
        <p:nvSpPr>
          <p:cNvPr id="22" name="Text 11">
            <a:extLst>
              <a:ext uri="{FF2B5EF4-FFF2-40B4-BE49-F238E27FC236}">
                <a16:creationId xmlns:a16="http://schemas.microsoft.com/office/drawing/2014/main" id="{AA3FE6FC-B593-945F-36C0-816CC65EBC06}"/>
              </a:ext>
            </a:extLst>
          </p:cNvPr>
          <p:cNvSpPr/>
          <p:nvPr/>
        </p:nvSpPr>
        <p:spPr>
          <a:xfrm>
            <a:off x="6153912" y="1947672"/>
            <a:ext cx="5278831" cy="274320"/>
          </a:xfrm>
          <a:prstGeom prst="rect">
            <a:avLst/>
          </a:prstGeom>
          <a:noFill/>
          <a:ln/>
        </p:spPr>
        <p:txBody>
          <a:bodyPr wrap="square" rtlCol="0" anchor="ctr"/>
          <a:lstStyle/>
          <a:p>
            <a:r>
              <a:rPr lang="en-US" b="1" kern="0" spc="100">
                <a:solidFill>
                  <a:srgbClr val="C0504D"/>
                </a:solidFill>
                <a:latin typeface="Calibri" pitchFamily="34" charset="0"/>
                <a:ea typeface="Calibri" pitchFamily="34" charset="-122"/>
                <a:cs typeface="Calibri" pitchFamily="34" charset="-120"/>
              </a:rPr>
              <a:t>BEFORE</a:t>
            </a:r>
            <a:endParaRPr lang="en-US" dirty="0"/>
          </a:p>
        </p:txBody>
      </p:sp>
      <p:sp>
        <p:nvSpPr>
          <p:cNvPr id="24" name="Text 12">
            <a:extLst>
              <a:ext uri="{FF2B5EF4-FFF2-40B4-BE49-F238E27FC236}">
                <a16:creationId xmlns:a16="http://schemas.microsoft.com/office/drawing/2014/main" id="{B89DCC81-89DC-5C11-B639-506BACEC85CC}"/>
              </a:ext>
            </a:extLst>
          </p:cNvPr>
          <p:cNvSpPr/>
          <p:nvPr/>
        </p:nvSpPr>
        <p:spPr>
          <a:xfrm>
            <a:off x="6153912" y="2258568"/>
            <a:ext cx="5278831" cy="457200"/>
          </a:xfrm>
          <a:prstGeom prst="rect">
            <a:avLst/>
          </a:prstGeom>
          <a:noFill/>
          <a:ln/>
        </p:spPr>
        <p:txBody>
          <a:bodyPr wrap="square" rtlCol="0" anchor="t"/>
          <a:lstStyle/>
          <a:p>
            <a:pPr>
              <a:lnSpc>
                <a:spcPct val="115000"/>
              </a:lnSpc>
            </a:pPr>
            <a:r>
              <a:rPr lang="en-US" dirty="0">
                <a:solidFill>
                  <a:srgbClr val="16212B"/>
                </a:solidFill>
                <a:latin typeface="Calibri" pitchFamily="34" charset="0"/>
                <a:ea typeface="Calibri" pitchFamily="34" charset="-122"/>
                <a:cs typeface="Calibri" pitchFamily="34" charset="-120"/>
              </a:rPr>
              <a:t>0xFF and 0xF0 were incorrectly defined as two distinct CAN IDs.</a:t>
            </a:r>
            <a:endParaRPr lang="en-US" dirty="0"/>
          </a:p>
        </p:txBody>
      </p:sp>
      <p:sp>
        <p:nvSpPr>
          <p:cNvPr id="26" name="Shape 13">
            <a:extLst>
              <a:ext uri="{FF2B5EF4-FFF2-40B4-BE49-F238E27FC236}">
                <a16:creationId xmlns:a16="http://schemas.microsoft.com/office/drawing/2014/main" id="{1B63414A-37FD-8824-242F-C44C4A81F126}"/>
              </a:ext>
            </a:extLst>
          </p:cNvPr>
          <p:cNvSpPr/>
          <p:nvPr/>
        </p:nvSpPr>
        <p:spPr>
          <a:xfrm>
            <a:off x="6153912" y="2990088"/>
            <a:ext cx="2834640" cy="384048"/>
          </a:xfrm>
          <a:prstGeom prst="roundRect">
            <a:avLst>
              <a:gd name="adj" fmla="val 19048"/>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a:p>
        </p:txBody>
      </p:sp>
      <p:pic>
        <p:nvPicPr>
          <p:cNvPr id="28" name="Image 1" descr="image5.png">
            <a:extLst>
              <a:ext uri="{FF2B5EF4-FFF2-40B4-BE49-F238E27FC236}">
                <a16:creationId xmlns:a16="http://schemas.microsoft.com/office/drawing/2014/main" id="{3B7FDD7D-A435-2303-61C9-A6417959DC2B}"/>
              </a:ext>
            </a:extLst>
          </p:cNvPr>
          <p:cNvPicPr>
            <a:picLocks noChangeAspect="1"/>
          </p:cNvPicPr>
          <p:nvPr/>
        </p:nvPicPr>
        <p:blipFill>
          <a:blip r:embed="rId2"/>
          <a:stretch>
            <a:fillRect/>
          </a:stretch>
        </p:blipFill>
        <p:spPr>
          <a:xfrm>
            <a:off x="6822105" y="3026664"/>
            <a:ext cx="1498254" cy="310896"/>
          </a:xfrm>
          <a:prstGeom prst="rect">
            <a:avLst/>
          </a:prstGeom>
        </p:spPr>
      </p:pic>
      <p:sp>
        <p:nvSpPr>
          <p:cNvPr id="30" name="Shape 14">
            <a:extLst>
              <a:ext uri="{FF2B5EF4-FFF2-40B4-BE49-F238E27FC236}">
                <a16:creationId xmlns:a16="http://schemas.microsoft.com/office/drawing/2014/main" id="{850A37DB-334E-5CAE-1013-ECD5F6018B3A}"/>
              </a:ext>
            </a:extLst>
          </p:cNvPr>
          <p:cNvSpPr/>
          <p:nvPr/>
        </p:nvSpPr>
        <p:spPr>
          <a:xfrm>
            <a:off x="8628736" y="3593592"/>
            <a:ext cx="329184" cy="256032"/>
          </a:xfrm>
          <a:prstGeom prst="downArrow">
            <a:avLst/>
          </a:prstGeom>
          <a:solidFill>
            <a:srgbClr val="3CB4E6"/>
          </a:solidFill>
          <a:ln/>
        </p:spPr>
        <p:txBody>
          <a:bodyPr/>
          <a:lstStyle/>
          <a:p>
            <a:endParaRPr lang="it-IT"/>
          </a:p>
        </p:txBody>
      </p:sp>
      <p:sp>
        <p:nvSpPr>
          <p:cNvPr id="32" name="Shape 15">
            <a:extLst>
              <a:ext uri="{FF2B5EF4-FFF2-40B4-BE49-F238E27FC236}">
                <a16:creationId xmlns:a16="http://schemas.microsoft.com/office/drawing/2014/main" id="{B3D4A315-049E-FDED-C4DD-2B54A3EFD023}"/>
              </a:ext>
            </a:extLst>
          </p:cNvPr>
          <p:cNvSpPr/>
          <p:nvPr/>
        </p:nvSpPr>
        <p:spPr>
          <a:xfrm>
            <a:off x="5897880" y="3977640"/>
            <a:ext cx="5790895" cy="2194560"/>
          </a:xfrm>
          <a:prstGeom prst="roundRect">
            <a:avLst>
              <a:gd name="adj" fmla="val 2500"/>
            </a:avLst>
          </a:prstGeom>
          <a:solidFill>
            <a:srgbClr val="E8F6EE"/>
          </a:solidFill>
          <a:ln/>
        </p:spPr>
        <p:txBody>
          <a:bodyPr/>
          <a:lstStyle/>
          <a:p>
            <a:endParaRPr lang="it-IT"/>
          </a:p>
        </p:txBody>
      </p:sp>
      <p:sp>
        <p:nvSpPr>
          <p:cNvPr id="34" name="Text 16">
            <a:extLst>
              <a:ext uri="{FF2B5EF4-FFF2-40B4-BE49-F238E27FC236}">
                <a16:creationId xmlns:a16="http://schemas.microsoft.com/office/drawing/2014/main" id="{46D954C2-F0E9-AE9E-E6A5-39856E549CD1}"/>
              </a:ext>
            </a:extLst>
          </p:cNvPr>
          <p:cNvSpPr/>
          <p:nvPr/>
        </p:nvSpPr>
        <p:spPr>
          <a:xfrm>
            <a:off x="6153912" y="4142232"/>
            <a:ext cx="5278831" cy="274320"/>
          </a:xfrm>
          <a:prstGeom prst="rect">
            <a:avLst/>
          </a:prstGeom>
          <a:noFill/>
          <a:ln/>
        </p:spPr>
        <p:txBody>
          <a:bodyPr wrap="square" rtlCol="0" anchor="ctr"/>
          <a:lstStyle/>
          <a:p>
            <a:r>
              <a:rPr lang="en-US" b="1" kern="0" spc="100">
                <a:solidFill>
                  <a:srgbClr val="2E9E5B"/>
                </a:solidFill>
                <a:latin typeface="Calibri" pitchFamily="34" charset="0"/>
                <a:ea typeface="Calibri" pitchFamily="34" charset="-122"/>
                <a:cs typeface="Calibri" pitchFamily="34" charset="-120"/>
              </a:rPr>
              <a:t>AFTER</a:t>
            </a:r>
            <a:endParaRPr lang="en-US" dirty="0"/>
          </a:p>
        </p:txBody>
      </p:sp>
      <p:sp>
        <p:nvSpPr>
          <p:cNvPr id="36" name="Text 17">
            <a:extLst>
              <a:ext uri="{FF2B5EF4-FFF2-40B4-BE49-F238E27FC236}">
                <a16:creationId xmlns:a16="http://schemas.microsoft.com/office/drawing/2014/main" id="{CABFCD36-AFD2-A503-A77D-25B5C631AAAA}"/>
              </a:ext>
            </a:extLst>
          </p:cNvPr>
          <p:cNvSpPr/>
          <p:nvPr/>
        </p:nvSpPr>
        <p:spPr>
          <a:xfrm>
            <a:off x="6153912" y="4453128"/>
            <a:ext cx="5278831" cy="777240"/>
          </a:xfrm>
          <a:prstGeom prst="rect">
            <a:avLst/>
          </a:prstGeom>
          <a:noFill/>
          <a:ln/>
        </p:spPr>
        <p:txBody>
          <a:bodyPr wrap="square" rtlCol="0" anchor="t"/>
          <a:lstStyle/>
          <a:p>
            <a:pPr>
              <a:lnSpc>
                <a:spcPct val="115000"/>
              </a:lnSpc>
            </a:pPr>
            <a:r>
              <a:rPr lang="en-US" dirty="0">
                <a:solidFill>
                  <a:srgbClr val="16212B"/>
                </a:solidFill>
                <a:latin typeface="Calibri" pitchFamily="34" charset="0"/>
                <a:ea typeface="Calibri" pitchFamily="34" charset="-122"/>
                <a:cs typeface="Calibri" pitchFamily="34" charset="-120"/>
              </a:rPr>
              <a:t>A single unique ID 0x10; 0xF0 and 0xFF become payload values (signals) within the message.</a:t>
            </a:r>
            <a:endParaRPr lang="en-US" dirty="0"/>
          </a:p>
        </p:txBody>
      </p:sp>
      <p:sp>
        <p:nvSpPr>
          <p:cNvPr id="38" name="Shape 18">
            <a:extLst>
              <a:ext uri="{FF2B5EF4-FFF2-40B4-BE49-F238E27FC236}">
                <a16:creationId xmlns:a16="http://schemas.microsoft.com/office/drawing/2014/main" id="{7DEB7BFD-97CA-DFBB-F4AF-AFC6CF79C454}"/>
              </a:ext>
            </a:extLst>
          </p:cNvPr>
          <p:cNvSpPr/>
          <p:nvPr/>
        </p:nvSpPr>
        <p:spPr>
          <a:xfrm>
            <a:off x="6153912" y="5577840"/>
            <a:ext cx="2547976" cy="384048"/>
          </a:xfrm>
          <a:prstGeom prst="roundRect">
            <a:avLst>
              <a:gd name="adj" fmla="val 19048"/>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a:p>
        </p:txBody>
      </p:sp>
      <p:sp>
        <p:nvSpPr>
          <p:cNvPr id="40" name="Shape 19">
            <a:extLst>
              <a:ext uri="{FF2B5EF4-FFF2-40B4-BE49-F238E27FC236}">
                <a16:creationId xmlns:a16="http://schemas.microsoft.com/office/drawing/2014/main" id="{50B99A37-7952-BD4C-C937-595EB07243D3}"/>
              </a:ext>
            </a:extLst>
          </p:cNvPr>
          <p:cNvSpPr/>
          <p:nvPr/>
        </p:nvSpPr>
        <p:spPr>
          <a:xfrm>
            <a:off x="8884768" y="5577840"/>
            <a:ext cx="2547976" cy="384048"/>
          </a:xfrm>
          <a:prstGeom prst="roundRect">
            <a:avLst>
              <a:gd name="adj" fmla="val 19048"/>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a:p>
        </p:txBody>
      </p:sp>
      <p:pic>
        <p:nvPicPr>
          <p:cNvPr id="42" name="Image 2" descr="image6.png">
            <a:extLst>
              <a:ext uri="{FF2B5EF4-FFF2-40B4-BE49-F238E27FC236}">
                <a16:creationId xmlns:a16="http://schemas.microsoft.com/office/drawing/2014/main" id="{74F67EB3-DEC0-8FEC-4E71-63C2FFC37A81}"/>
              </a:ext>
            </a:extLst>
          </p:cNvPr>
          <p:cNvPicPr>
            <a:picLocks noChangeAspect="1"/>
          </p:cNvPicPr>
          <p:nvPr/>
        </p:nvPicPr>
        <p:blipFill>
          <a:blip r:embed="rId3"/>
          <a:stretch>
            <a:fillRect/>
          </a:stretch>
        </p:blipFill>
        <p:spPr>
          <a:xfrm>
            <a:off x="6435123" y="5623560"/>
            <a:ext cx="1985554" cy="292608"/>
          </a:xfrm>
          <a:prstGeom prst="rect">
            <a:avLst/>
          </a:prstGeom>
        </p:spPr>
      </p:pic>
      <p:pic>
        <p:nvPicPr>
          <p:cNvPr id="44" name="Image 3" descr="image8.png">
            <a:extLst>
              <a:ext uri="{FF2B5EF4-FFF2-40B4-BE49-F238E27FC236}">
                <a16:creationId xmlns:a16="http://schemas.microsoft.com/office/drawing/2014/main" id="{84E71C9A-48E5-912B-F920-FF093146100B}"/>
              </a:ext>
            </a:extLst>
          </p:cNvPr>
          <p:cNvPicPr>
            <a:picLocks noChangeAspect="1"/>
          </p:cNvPicPr>
          <p:nvPr/>
        </p:nvPicPr>
        <p:blipFill>
          <a:blip r:embed="rId4"/>
          <a:stretch>
            <a:fillRect/>
          </a:stretch>
        </p:blipFill>
        <p:spPr>
          <a:xfrm>
            <a:off x="9108502" y="5623560"/>
            <a:ext cx="2100507" cy="292608"/>
          </a:xfrm>
          <a:prstGeom prst="rect">
            <a:avLst/>
          </a:prstGeom>
        </p:spPr>
      </p:pic>
      <p:sp>
        <p:nvSpPr>
          <p:cNvPr id="5" name="Text 0">
            <a:extLst>
              <a:ext uri="{FF2B5EF4-FFF2-40B4-BE49-F238E27FC236}">
                <a16:creationId xmlns:a16="http://schemas.microsoft.com/office/drawing/2014/main" id="{FAC00156-BA4C-A458-9A1C-ACB8D63EBD67}"/>
              </a:ext>
            </a:extLst>
          </p:cNvPr>
          <p:cNvSpPr/>
          <p:nvPr/>
        </p:nvSpPr>
        <p:spPr>
          <a:xfrm>
            <a:off x="10911840" y="182880"/>
            <a:ext cx="54864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DBC FILE</a:t>
            </a:r>
            <a:endParaRPr lang="en-US" sz="1100" dirty="0"/>
          </a:p>
        </p:txBody>
      </p:sp>
    </p:spTree>
    <p:extLst>
      <p:ext uri="{BB962C8B-B14F-4D97-AF65-F5344CB8AC3E}">
        <p14:creationId xmlns:p14="http://schemas.microsoft.com/office/powerpoint/2010/main" val="3524993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1BBA0-3A43-60DD-ADF4-A162BB209BE9}"/>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61FC3AD4-C61B-F9F2-59BE-91CC704A0AF4}"/>
              </a:ext>
            </a:extLst>
          </p:cNvPr>
          <p:cNvSpPr>
            <a:spLocks noGrp="1"/>
          </p:cNvSpPr>
          <p:nvPr>
            <p:ph type="title"/>
          </p:nvPr>
        </p:nvSpPr>
        <p:spPr/>
        <p:txBody>
          <a:bodyPr/>
          <a:lstStyle/>
          <a:p>
            <a:r>
              <a:rPr lang="it-IT" dirty="0" err="1"/>
              <a:t>CANalyzer</a:t>
            </a:r>
            <a:r>
              <a:rPr lang="it-IT" dirty="0"/>
              <a:t> &amp; GUI Interface</a:t>
            </a:r>
          </a:p>
        </p:txBody>
      </p:sp>
    </p:spTree>
    <p:extLst>
      <p:ext uri="{BB962C8B-B14F-4D97-AF65-F5344CB8AC3E}">
        <p14:creationId xmlns:p14="http://schemas.microsoft.com/office/powerpoint/2010/main" val="26978210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E6A13-EAC4-D474-54EA-573EFC10D33C}"/>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31CC0A78-6028-6082-D894-BE68563C1BEF}"/>
              </a:ext>
            </a:extLst>
          </p:cNvPr>
          <p:cNvSpPr>
            <a:spLocks noGrp="1"/>
          </p:cNvSpPr>
          <p:nvPr>
            <p:ph type="title"/>
          </p:nvPr>
        </p:nvSpPr>
        <p:spPr>
          <a:prstGeom prst="rect">
            <a:avLst/>
          </a:prstGeom>
          <a:noFill/>
          <a:ln/>
        </p:spPr>
        <p:txBody>
          <a:bodyPr wrap="square" rtlCol="0" anchor="ctr"/>
          <a:lstStyle/>
          <a:p>
            <a:r>
              <a:rPr lang="en-US" b="1">
                <a:solidFill>
                  <a:srgbClr val="03234B"/>
                </a:solidFill>
                <a:latin typeface="Calibri" pitchFamily="34" charset="0"/>
                <a:ea typeface="Calibri" pitchFamily="34" charset="-122"/>
                <a:cs typeface="Calibri" pitchFamily="34" charset="-120"/>
              </a:rPr>
              <a:t>Connection architecture: CAN Bus to Python GUI</a:t>
            </a:r>
            <a:endParaRPr lang="en-US" dirty="0"/>
          </a:p>
        </p:txBody>
      </p:sp>
      <p:sp>
        <p:nvSpPr>
          <p:cNvPr id="10" name="Text 0">
            <a:extLst>
              <a:ext uri="{FF2B5EF4-FFF2-40B4-BE49-F238E27FC236}">
                <a16:creationId xmlns:a16="http://schemas.microsoft.com/office/drawing/2014/main" id="{58CEF1F7-FEEF-7C92-135C-8B4A3A680F95}"/>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
        <p:nvSpPr>
          <p:cNvPr id="12" name="Text 3">
            <a:extLst>
              <a:ext uri="{FF2B5EF4-FFF2-40B4-BE49-F238E27FC236}">
                <a16:creationId xmlns:a16="http://schemas.microsoft.com/office/drawing/2014/main" id="{D7429072-F994-B5E4-5FAD-EBE5E1DD0865}"/>
              </a:ext>
            </a:extLst>
          </p:cNvPr>
          <p:cNvSpPr/>
          <p:nvPr/>
        </p:nvSpPr>
        <p:spPr>
          <a:xfrm>
            <a:off x="502920" y="1325880"/>
            <a:ext cx="11155680" cy="685800"/>
          </a:xfrm>
          <a:prstGeom prst="rect">
            <a:avLst/>
          </a:prstGeom>
          <a:noFill/>
          <a:ln/>
        </p:spPr>
        <p:txBody>
          <a:bodyPr wrap="square" rtlCol="0" anchor="t"/>
          <a:lstStyle/>
          <a:p>
            <a:pPr>
              <a:lnSpc>
                <a:spcPct val="115000"/>
              </a:lnSpc>
            </a:pPr>
            <a:r>
              <a:rPr lang="en-US" sz="1600" dirty="0">
                <a:solidFill>
                  <a:srgbClr val="51606E"/>
                </a:solidFill>
                <a:latin typeface="Calibri" pitchFamily="34" charset="0"/>
                <a:ea typeface="Calibri" pitchFamily="34" charset="-122"/>
                <a:cs typeface="Calibri" pitchFamily="34" charset="-120"/>
              </a:rPr>
              <a:t>To evolve from manual validation (PCAN-View + TRACE32) to fully automated testing, Vector CANalyzer was integrated: a bridge between the Stellar-E microcontroller and the operator, hiding the hexadecimal register complexity behind a custom Python GUI.</a:t>
            </a:r>
            <a:endParaRPr lang="en-US" sz="1600" dirty="0"/>
          </a:p>
        </p:txBody>
      </p:sp>
      <p:sp>
        <p:nvSpPr>
          <p:cNvPr id="14" name="Shape 4">
            <a:extLst>
              <a:ext uri="{FF2B5EF4-FFF2-40B4-BE49-F238E27FC236}">
                <a16:creationId xmlns:a16="http://schemas.microsoft.com/office/drawing/2014/main" id="{84BDD800-9E6D-B224-4729-C28CE4B8AF29}"/>
              </a:ext>
            </a:extLst>
          </p:cNvPr>
          <p:cNvSpPr/>
          <p:nvPr/>
        </p:nvSpPr>
        <p:spPr>
          <a:xfrm>
            <a:off x="497027" y="2446020"/>
            <a:ext cx="1987906" cy="914400"/>
          </a:xfrm>
          <a:prstGeom prst="roundRect">
            <a:avLst>
              <a:gd name="adj" fmla="val 5000"/>
            </a:avLst>
          </a:prstGeom>
          <a:solidFill>
            <a:srgbClr val="03234B"/>
          </a:solidFill>
          <a:ln/>
        </p:spPr>
        <p:txBody>
          <a:bodyPr/>
          <a:lstStyle/>
          <a:p>
            <a:endParaRPr lang="it-IT" sz="1600"/>
          </a:p>
        </p:txBody>
      </p:sp>
      <p:sp>
        <p:nvSpPr>
          <p:cNvPr id="16" name="Text 5">
            <a:extLst>
              <a:ext uri="{FF2B5EF4-FFF2-40B4-BE49-F238E27FC236}">
                <a16:creationId xmlns:a16="http://schemas.microsoft.com/office/drawing/2014/main" id="{996CDE47-556D-B0FF-A5E2-8918DF840171}"/>
              </a:ext>
            </a:extLst>
          </p:cNvPr>
          <p:cNvSpPr/>
          <p:nvPr/>
        </p:nvSpPr>
        <p:spPr>
          <a:xfrm>
            <a:off x="542747" y="2446020"/>
            <a:ext cx="1896466" cy="914400"/>
          </a:xfrm>
          <a:prstGeom prst="rect">
            <a:avLst/>
          </a:prstGeom>
          <a:noFill/>
          <a:ln/>
        </p:spPr>
        <p:txBody>
          <a:bodyPr wrap="square" rtlCol="0" anchor="ctr"/>
          <a:lstStyle/>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Bus CAN</a:t>
            </a:r>
            <a:endParaRPr lang="en-US" sz="1600" dirty="0"/>
          </a:p>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Stellar-E</a:t>
            </a:r>
            <a:endParaRPr lang="en-US" sz="1600" dirty="0"/>
          </a:p>
        </p:txBody>
      </p:sp>
      <p:sp>
        <p:nvSpPr>
          <p:cNvPr id="18" name="Shape 6">
            <a:extLst>
              <a:ext uri="{FF2B5EF4-FFF2-40B4-BE49-F238E27FC236}">
                <a16:creationId xmlns:a16="http://schemas.microsoft.com/office/drawing/2014/main" id="{EA8D58BA-986C-6288-4925-A55E9A868856}"/>
              </a:ext>
            </a:extLst>
          </p:cNvPr>
          <p:cNvSpPr/>
          <p:nvPr/>
        </p:nvSpPr>
        <p:spPr>
          <a:xfrm>
            <a:off x="2484933" y="2784348"/>
            <a:ext cx="310896" cy="237744"/>
          </a:xfrm>
          <a:prstGeom prst="rightArrow">
            <a:avLst/>
          </a:prstGeom>
          <a:solidFill>
            <a:srgbClr val="3CB4E6"/>
          </a:solidFill>
          <a:ln/>
        </p:spPr>
        <p:txBody>
          <a:bodyPr/>
          <a:lstStyle/>
          <a:p>
            <a:endParaRPr lang="it-IT" sz="1600"/>
          </a:p>
        </p:txBody>
      </p:sp>
      <p:sp>
        <p:nvSpPr>
          <p:cNvPr id="20" name="Shape 7">
            <a:extLst>
              <a:ext uri="{FF2B5EF4-FFF2-40B4-BE49-F238E27FC236}">
                <a16:creationId xmlns:a16="http://schemas.microsoft.com/office/drawing/2014/main" id="{2884CBFF-8E63-5CC8-DAA3-9E3E72CC7013}"/>
              </a:ext>
            </a:extLst>
          </p:cNvPr>
          <p:cNvSpPr/>
          <p:nvPr/>
        </p:nvSpPr>
        <p:spPr>
          <a:xfrm>
            <a:off x="2795829" y="2446020"/>
            <a:ext cx="1987906" cy="914400"/>
          </a:xfrm>
          <a:prstGeom prst="roundRect">
            <a:avLst>
              <a:gd name="adj" fmla="val 5000"/>
            </a:avLst>
          </a:prstGeom>
          <a:solidFill>
            <a:srgbClr val="0E7DAD"/>
          </a:solidFill>
          <a:ln/>
        </p:spPr>
        <p:txBody>
          <a:bodyPr/>
          <a:lstStyle/>
          <a:p>
            <a:endParaRPr lang="it-IT" sz="1600"/>
          </a:p>
        </p:txBody>
      </p:sp>
      <p:sp>
        <p:nvSpPr>
          <p:cNvPr id="22" name="Text 8">
            <a:extLst>
              <a:ext uri="{FF2B5EF4-FFF2-40B4-BE49-F238E27FC236}">
                <a16:creationId xmlns:a16="http://schemas.microsoft.com/office/drawing/2014/main" id="{17DEE567-A818-9C3B-4ECC-886E15F8EC86}"/>
              </a:ext>
            </a:extLst>
          </p:cNvPr>
          <p:cNvSpPr/>
          <p:nvPr/>
        </p:nvSpPr>
        <p:spPr>
          <a:xfrm>
            <a:off x="2841549" y="2446020"/>
            <a:ext cx="1896466" cy="914400"/>
          </a:xfrm>
          <a:prstGeom prst="rect">
            <a:avLst/>
          </a:prstGeom>
          <a:noFill/>
          <a:ln/>
        </p:spPr>
        <p:txBody>
          <a:bodyPr wrap="square" rtlCol="0" anchor="ctr"/>
          <a:lstStyle/>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CAPL +</a:t>
            </a:r>
            <a:endParaRPr lang="en-US" sz="1600" dirty="0"/>
          </a:p>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file .DBC</a:t>
            </a:r>
            <a:endParaRPr lang="en-US" sz="1600" dirty="0"/>
          </a:p>
        </p:txBody>
      </p:sp>
      <p:sp>
        <p:nvSpPr>
          <p:cNvPr id="24" name="Shape 9">
            <a:extLst>
              <a:ext uri="{FF2B5EF4-FFF2-40B4-BE49-F238E27FC236}">
                <a16:creationId xmlns:a16="http://schemas.microsoft.com/office/drawing/2014/main" id="{27B31535-3134-E73D-51D4-CBF0782AAC69}"/>
              </a:ext>
            </a:extLst>
          </p:cNvPr>
          <p:cNvSpPr/>
          <p:nvPr/>
        </p:nvSpPr>
        <p:spPr>
          <a:xfrm>
            <a:off x="4783734" y="2784348"/>
            <a:ext cx="310896" cy="237744"/>
          </a:xfrm>
          <a:prstGeom prst="rightArrow">
            <a:avLst/>
          </a:prstGeom>
          <a:solidFill>
            <a:srgbClr val="3CB4E6"/>
          </a:solidFill>
          <a:ln/>
        </p:spPr>
        <p:txBody>
          <a:bodyPr/>
          <a:lstStyle/>
          <a:p>
            <a:endParaRPr lang="it-IT" sz="1600"/>
          </a:p>
        </p:txBody>
      </p:sp>
      <p:sp>
        <p:nvSpPr>
          <p:cNvPr id="26" name="Shape 10">
            <a:extLst>
              <a:ext uri="{FF2B5EF4-FFF2-40B4-BE49-F238E27FC236}">
                <a16:creationId xmlns:a16="http://schemas.microsoft.com/office/drawing/2014/main" id="{EF1A4ADA-5924-C95A-FD5B-90C75D0A2EF7}"/>
              </a:ext>
            </a:extLst>
          </p:cNvPr>
          <p:cNvSpPr/>
          <p:nvPr/>
        </p:nvSpPr>
        <p:spPr>
          <a:xfrm>
            <a:off x="5094630" y="2446020"/>
            <a:ext cx="1987906" cy="914400"/>
          </a:xfrm>
          <a:prstGeom prst="roundRect">
            <a:avLst>
              <a:gd name="adj" fmla="val 5000"/>
            </a:avLst>
          </a:prstGeom>
          <a:solidFill>
            <a:srgbClr val="03234B"/>
          </a:solidFill>
          <a:ln/>
        </p:spPr>
        <p:txBody>
          <a:bodyPr/>
          <a:lstStyle/>
          <a:p>
            <a:endParaRPr lang="it-IT" sz="1600"/>
          </a:p>
        </p:txBody>
      </p:sp>
      <p:sp>
        <p:nvSpPr>
          <p:cNvPr id="28" name="Text 11">
            <a:extLst>
              <a:ext uri="{FF2B5EF4-FFF2-40B4-BE49-F238E27FC236}">
                <a16:creationId xmlns:a16="http://schemas.microsoft.com/office/drawing/2014/main" id="{4B5F64D0-5500-9D0A-1207-F0313BE59059}"/>
              </a:ext>
            </a:extLst>
          </p:cNvPr>
          <p:cNvSpPr/>
          <p:nvPr/>
        </p:nvSpPr>
        <p:spPr>
          <a:xfrm>
            <a:off x="5140350" y="2446020"/>
            <a:ext cx="1896466" cy="914400"/>
          </a:xfrm>
          <a:prstGeom prst="rect">
            <a:avLst/>
          </a:prstGeom>
          <a:noFill/>
          <a:ln/>
        </p:spPr>
        <p:txBody>
          <a:bodyPr wrap="square" rtlCol="0" anchor="ctr"/>
          <a:lstStyle/>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Vector</a:t>
            </a:r>
            <a:endParaRPr lang="en-US" sz="1600" dirty="0"/>
          </a:p>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CANalyzer</a:t>
            </a:r>
            <a:endParaRPr lang="en-US" sz="1600" dirty="0"/>
          </a:p>
        </p:txBody>
      </p:sp>
      <p:sp>
        <p:nvSpPr>
          <p:cNvPr id="30" name="Shape 12">
            <a:extLst>
              <a:ext uri="{FF2B5EF4-FFF2-40B4-BE49-F238E27FC236}">
                <a16:creationId xmlns:a16="http://schemas.microsoft.com/office/drawing/2014/main" id="{B706B33E-752A-42DC-4EFA-092BC968172B}"/>
              </a:ext>
            </a:extLst>
          </p:cNvPr>
          <p:cNvSpPr/>
          <p:nvPr/>
        </p:nvSpPr>
        <p:spPr>
          <a:xfrm>
            <a:off x="7082536" y="2784348"/>
            <a:ext cx="310896" cy="237744"/>
          </a:xfrm>
          <a:prstGeom prst="rightArrow">
            <a:avLst/>
          </a:prstGeom>
          <a:solidFill>
            <a:srgbClr val="3CB4E6"/>
          </a:solidFill>
          <a:ln/>
        </p:spPr>
        <p:txBody>
          <a:bodyPr/>
          <a:lstStyle/>
          <a:p>
            <a:endParaRPr lang="it-IT" sz="1600"/>
          </a:p>
        </p:txBody>
      </p:sp>
      <p:sp>
        <p:nvSpPr>
          <p:cNvPr id="32" name="Shape 13">
            <a:extLst>
              <a:ext uri="{FF2B5EF4-FFF2-40B4-BE49-F238E27FC236}">
                <a16:creationId xmlns:a16="http://schemas.microsoft.com/office/drawing/2014/main" id="{559B3FCB-9EEB-AB6C-EAB7-1FA732F029AE}"/>
              </a:ext>
            </a:extLst>
          </p:cNvPr>
          <p:cNvSpPr/>
          <p:nvPr/>
        </p:nvSpPr>
        <p:spPr>
          <a:xfrm>
            <a:off x="7393432" y="2446020"/>
            <a:ext cx="1987906" cy="914400"/>
          </a:xfrm>
          <a:prstGeom prst="roundRect">
            <a:avLst>
              <a:gd name="adj" fmla="val 5000"/>
            </a:avLst>
          </a:prstGeom>
          <a:solidFill>
            <a:srgbClr val="0E7DAD"/>
          </a:solidFill>
          <a:ln/>
        </p:spPr>
        <p:txBody>
          <a:bodyPr/>
          <a:lstStyle/>
          <a:p>
            <a:endParaRPr lang="it-IT" sz="1600"/>
          </a:p>
        </p:txBody>
      </p:sp>
      <p:sp>
        <p:nvSpPr>
          <p:cNvPr id="34" name="Text 14">
            <a:extLst>
              <a:ext uri="{FF2B5EF4-FFF2-40B4-BE49-F238E27FC236}">
                <a16:creationId xmlns:a16="http://schemas.microsoft.com/office/drawing/2014/main" id="{AD6F1728-11A8-1DBC-27B2-FF3ED151583A}"/>
              </a:ext>
            </a:extLst>
          </p:cNvPr>
          <p:cNvSpPr/>
          <p:nvPr/>
        </p:nvSpPr>
        <p:spPr>
          <a:xfrm>
            <a:off x="7439152" y="2446020"/>
            <a:ext cx="1896466" cy="914400"/>
          </a:xfrm>
          <a:prstGeom prst="rect">
            <a:avLst/>
          </a:prstGeom>
          <a:noFill/>
          <a:ln/>
        </p:spPr>
        <p:txBody>
          <a:bodyPr wrap="square" rtlCol="0" anchor="ctr"/>
          <a:lstStyle/>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COM API</a:t>
            </a:r>
            <a:endParaRPr lang="en-US" sz="1600" dirty="0"/>
          </a:p>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win32com.client</a:t>
            </a:r>
            <a:endParaRPr lang="en-US" sz="1600" dirty="0"/>
          </a:p>
        </p:txBody>
      </p:sp>
      <p:sp>
        <p:nvSpPr>
          <p:cNvPr id="36" name="Shape 15">
            <a:extLst>
              <a:ext uri="{FF2B5EF4-FFF2-40B4-BE49-F238E27FC236}">
                <a16:creationId xmlns:a16="http://schemas.microsoft.com/office/drawing/2014/main" id="{6073009A-4DC5-584F-7038-5256760D6021}"/>
              </a:ext>
            </a:extLst>
          </p:cNvPr>
          <p:cNvSpPr/>
          <p:nvPr/>
        </p:nvSpPr>
        <p:spPr>
          <a:xfrm>
            <a:off x="9381337" y="2784348"/>
            <a:ext cx="310896" cy="237744"/>
          </a:xfrm>
          <a:prstGeom prst="rightArrow">
            <a:avLst/>
          </a:prstGeom>
          <a:solidFill>
            <a:srgbClr val="3CB4E6"/>
          </a:solidFill>
          <a:ln/>
        </p:spPr>
        <p:txBody>
          <a:bodyPr/>
          <a:lstStyle/>
          <a:p>
            <a:endParaRPr lang="it-IT" sz="1600"/>
          </a:p>
        </p:txBody>
      </p:sp>
      <p:sp>
        <p:nvSpPr>
          <p:cNvPr id="38" name="Shape 16">
            <a:extLst>
              <a:ext uri="{FF2B5EF4-FFF2-40B4-BE49-F238E27FC236}">
                <a16:creationId xmlns:a16="http://schemas.microsoft.com/office/drawing/2014/main" id="{0EE58F13-3DFC-42F1-7B49-AA2E1AEFB247}"/>
              </a:ext>
            </a:extLst>
          </p:cNvPr>
          <p:cNvSpPr/>
          <p:nvPr/>
        </p:nvSpPr>
        <p:spPr>
          <a:xfrm>
            <a:off x="9692233" y="2446020"/>
            <a:ext cx="1987906" cy="914400"/>
          </a:xfrm>
          <a:prstGeom prst="roundRect">
            <a:avLst>
              <a:gd name="adj" fmla="val 5000"/>
            </a:avLst>
          </a:prstGeom>
          <a:solidFill>
            <a:srgbClr val="03234B"/>
          </a:solidFill>
          <a:ln/>
        </p:spPr>
        <p:txBody>
          <a:bodyPr/>
          <a:lstStyle/>
          <a:p>
            <a:endParaRPr lang="it-IT" sz="1600"/>
          </a:p>
        </p:txBody>
      </p:sp>
      <p:sp>
        <p:nvSpPr>
          <p:cNvPr id="40" name="Text 17">
            <a:extLst>
              <a:ext uri="{FF2B5EF4-FFF2-40B4-BE49-F238E27FC236}">
                <a16:creationId xmlns:a16="http://schemas.microsoft.com/office/drawing/2014/main" id="{436EA0DE-00B1-5E23-D2DD-52285C32A375}"/>
              </a:ext>
            </a:extLst>
          </p:cNvPr>
          <p:cNvSpPr/>
          <p:nvPr/>
        </p:nvSpPr>
        <p:spPr>
          <a:xfrm>
            <a:off x="9737953" y="2446020"/>
            <a:ext cx="1896466" cy="914400"/>
          </a:xfrm>
          <a:prstGeom prst="rect">
            <a:avLst/>
          </a:prstGeom>
          <a:noFill/>
          <a:ln/>
        </p:spPr>
        <p:txBody>
          <a:bodyPr wrap="square" rtlCol="0" anchor="ctr"/>
          <a:lstStyle/>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GUI</a:t>
            </a:r>
            <a:endParaRPr lang="en-US" sz="1600" dirty="0"/>
          </a:p>
          <a:p>
            <a:pPr marL="0" indent="0" algn="ctr">
              <a:lnSpc>
                <a:spcPct val="115000"/>
              </a:lnSpc>
              <a:buNone/>
            </a:pPr>
            <a:r>
              <a:rPr lang="en-US" sz="1600" b="1" dirty="0">
                <a:solidFill>
                  <a:srgbClr val="FFFFFF"/>
                </a:solidFill>
                <a:latin typeface="Calibri" pitchFamily="34" charset="0"/>
                <a:ea typeface="Calibri" pitchFamily="34" charset="-122"/>
                <a:cs typeface="Calibri" pitchFamily="34" charset="-120"/>
              </a:rPr>
              <a:t>Python</a:t>
            </a:r>
            <a:endParaRPr lang="en-US" sz="1600" dirty="0"/>
          </a:p>
        </p:txBody>
      </p:sp>
      <p:sp>
        <p:nvSpPr>
          <p:cNvPr id="44" name="Shape 19">
            <a:extLst>
              <a:ext uri="{FF2B5EF4-FFF2-40B4-BE49-F238E27FC236}">
                <a16:creationId xmlns:a16="http://schemas.microsoft.com/office/drawing/2014/main" id="{B149904A-500D-F3C4-AD5A-EC881C22A4DB}"/>
              </a:ext>
            </a:extLst>
          </p:cNvPr>
          <p:cNvSpPr/>
          <p:nvPr/>
        </p:nvSpPr>
        <p:spPr>
          <a:xfrm>
            <a:off x="502920" y="3794760"/>
            <a:ext cx="5440680" cy="1417320"/>
          </a:xfrm>
          <a:prstGeom prst="roundRect">
            <a:avLst>
              <a:gd name="adj" fmla="val 3871"/>
            </a:avLst>
          </a:prstGeom>
          <a:solidFill>
            <a:srgbClr val="F2F7FB"/>
          </a:solidFill>
          <a:ln/>
        </p:spPr>
        <p:txBody>
          <a:bodyPr/>
          <a:lstStyle/>
          <a:p>
            <a:endParaRPr lang="it-IT" sz="1600"/>
          </a:p>
        </p:txBody>
      </p:sp>
      <p:sp>
        <p:nvSpPr>
          <p:cNvPr id="46" name="Text 20">
            <a:extLst>
              <a:ext uri="{FF2B5EF4-FFF2-40B4-BE49-F238E27FC236}">
                <a16:creationId xmlns:a16="http://schemas.microsoft.com/office/drawing/2014/main" id="{D4C9E843-98FC-E74B-C8C6-E2A8B929CEC0}"/>
              </a:ext>
            </a:extLst>
          </p:cNvPr>
          <p:cNvSpPr/>
          <p:nvPr/>
        </p:nvSpPr>
        <p:spPr>
          <a:xfrm>
            <a:off x="758952" y="3977640"/>
            <a:ext cx="4928616" cy="320040"/>
          </a:xfrm>
          <a:prstGeom prst="rect">
            <a:avLst/>
          </a:prstGeom>
          <a:noFill/>
          <a:ln/>
        </p:spPr>
        <p:txBody>
          <a:bodyPr wrap="square" rtlCol="0" anchor="ctr"/>
          <a:lstStyle/>
          <a:p>
            <a:pPr marL="0" indent="0">
              <a:buNone/>
            </a:pPr>
            <a:r>
              <a:rPr lang="en-US" sz="1600" b="1" dirty="0">
                <a:solidFill>
                  <a:srgbClr val="03234B"/>
                </a:solidFill>
                <a:latin typeface="Calibri" pitchFamily="34" charset="0"/>
                <a:ea typeface="Calibri" pitchFamily="34" charset="-122"/>
                <a:cs typeface="Calibri" pitchFamily="34" charset="-120"/>
              </a:rPr>
              <a:t>CANalyzer</a:t>
            </a:r>
            <a:endParaRPr lang="en-US" sz="1600" dirty="0"/>
          </a:p>
        </p:txBody>
      </p:sp>
      <p:sp>
        <p:nvSpPr>
          <p:cNvPr id="48" name="Text 21">
            <a:extLst>
              <a:ext uri="{FF2B5EF4-FFF2-40B4-BE49-F238E27FC236}">
                <a16:creationId xmlns:a16="http://schemas.microsoft.com/office/drawing/2014/main" id="{CE5D0B1C-E917-5924-9B66-2E2F894489A1}"/>
              </a:ext>
            </a:extLst>
          </p:cNvPr>
          <p:cNvSpPr/>
          <p:nvPr/>
        </p:nvSpPr>
        <p:spPr>
          <a:xfrm>
            <a:off x="758952" y="4361688"/>
            <a:ext cx="4928616" cy="685800"/>
          </a:xfrm>
          <a:prstGeom prst="rect">
            <a:avLst/>
          </a:prstGeom>
          <a:noFill/>
          <a:ln/>
        </p:spPr>
        <p:txBody>
          <a:bodyPr wrap="square" rtlCol="0" anchor="t"/>
          <a:lstStyle/>
          <a:p>
            <a:pPr>
              <a:lnSpc>
                <a:spcPct val="120000"/>
              </a:lnSpc>
            </a:pPr>
            <a:r>
              <a:rPr lang="en-US" sz="1600">
                <a:solidFill>
                  <a:srgbClr val="51606E"/>
                </a:solidFill>
                <a:latin typeface="Calibri" pitchFamily="34" charset="0"/>
                <a:ea typeface="Calibri" pitchFamily="34" charset="-122"/>
                <a:cs typeface="Calibri" pitchFamily="34" charset="-120"/>
              </a:rPr>
              <a:t>It handles the timing of the CAN bus, the decoding of the . DBC file, and the execution of CAPL code.</a:t>
            </a:r>
            <a:endParaRPr lang="en-US" sz="1600" dirty="0"/>
          </a:p>
        </p:txBody>
      </p:sp>
      <p:sp>
        <p:nvSpPr>
          <p:cNvPr id="50" name="Shape 22">
            <a:extLst>
              <a:ext uri="{FF2B5EF4-FFF2-40B4-BE49-F238E27FC236}">
                <a16:creationId xmlns:a16="http://schemas.microsoft.com/office/drawing/2014/main" id="{3E258ED4-9BB8-6D5B-BA1F-42851A45F5DA}"/>
              </a:ext>
            </a:extLst>
          </p:cNvPr>
          <p:cNvSpPr/>
          <p:nvPr/>
        </p:nvSpPr>
        <p:spPr>
          <a:xfrm>
            <a:off x="6217920" y="3794760"/>
            <a:ext cx="5440680" cy="1417320"/>
          </a:xfrm>
          <a:prstGeom prst="roundRect">
            <a:avLst>
              <a:gd name="adj" fmla="val 3871"/>
            </a:avLst>
          </a:prstGeom>
          <a:solidFill>
            <a:srgbClr val="F2F7FB"/>
          </a:solidFill>
          <a:ln/>
        </p:spPr>
        <p:txBody>
          <a:bodyPr/>
          <a:lstStyle/>
          <a:p>
            <a:endParaRPr lang="it-IT" sz="1600"/>
          </a:p>
        </p:txBody>
      </p:sp>
      <p:sp>
        <p:nvSpPr>
          <p:cNvPr id="52" name="Text 23">
            <a:extLst>
              <a:ext uri="{FF2B5EF4-FFF2-40B4-BE49-F238E27FC236}">
                <a16:creationId xmlns:a16="http://schemas.microsoft.com/office/drawing/2014/main" id="{649B79B0-73FF-D1EE-203C-054225858BC9}"/>
              </a:ext>
            </a:extLst>
          </p:cNvPr>
          <p:cNvSpPr/>
          <p:nvPr/>
        </p:nvSpPr>
        <p:spPr>
          <a:xfrm>
            <a:off x="6473952" y="3977640"/>
            <a:ext cx="4928616" cy="320040"/>
          </a:xfrm>
          <a:prstGeom prst="rect">
            <a:avLst/>
          </a:prstGeom>
          <a:noFill/>
          <a:ln/>
        </p:spPr>
        <p:txBody>
          <a:bodyPr wrap="square" rtlCol="0" anchor="ctr"/>
          <a:lstStyle/>
          <a:p>
            <a:pPr marL="0" indent="0">
              <a:buNone/>
            </a:pPr>
            <a:r>
              <a:rPr lang="en-US" sz="1600" b="1" dirty="0">
                <a:solidFill>
                  <a:srgbClr val="03234B"/>
                </a:solidFill>
                <a:latin typeface="Calibri" pitchFamily="34" charset="0"/>
                <a:ea typeface="Calibri" pitchFamily="34" charset="-122"/>
                <a:cs typeface="Calibri" pitchFamily="34" charset="-120"/>
              </a:rPr>
              <a:t>Python</a:t>
            </a:r>
            <a:endParaRPr lang="en-US" sz="1600" dirty="0"/>
          </a:p>
        </p:txBody>
      </p:sp>
      <p:sp>
        <p:nvSpPr>
          <p:cNvPr id="54" name="Text 24">
            <a:extLst>
              <a:ext uri="{FF2B5EF4-FFF2-40B4-BE49-F238E27FC236}">
                <a16:creationId xmlns:a16="http://schemas.microsoft.com/office/drawing/2014/main" id="{24509D54-C0B5-5CD8-0034-4DF2BA63D014}"/>
              </a:ext>
            </a:extLst>
          </p:cNvPr>
          <p:cNvSpPr/>
          <p:nvPr/>
        </p:nvSpPr>
        <p:spPr>
          <a:xfrm>
            <a:off x="6473952" y="4361688"/>
            <a:ext cx="4928616" cy="685800"/>
          </a:xfrm>
          <a:prstGeom prst="rect">
            <a:avLst/>
          </a:prstGeom>
          <a:noFill/>
          <a:ln/>
        </p:spPr>
        <p:txBody>
          <a:bodyPr wrap="square" rtlCol="0" anchor="t"/>
          <a:lstStyle/>
          <a:p>
            <a:pPr>
              <a:lnSpc>
                <a:spcPct val="120000"/>
              </a:lnSpc>
            </a:pPr>
            <a:r>
              <a:rPr lang="en-US" sz="1600">
                <a:solidFill>
                  <a:srgbClr val="51606E"/>
                </a:solidFill>
                <a:latin typeface="Calibri" pitchFamily="34" charset="0"/>
                <a:ea typeface="Calibri" pitchFamily="34" charset="-122"/>
                <a:cs typeface="Calibri" pitchFamily="34" charset="-120"/>
              </a:rPr>
              <a:t>It exclusively manages the user experience and the graphic rendering of the interface.</a:t>
            </a:r>
            <a:endParaRPr lang="en-US" sz="1600" dirty="0"/>
          </a:p>
        </p:txBody>
      </p:sp>
      <p:sp>
        <p:nvSpPr>
          <p:cNvPr id="56" name="Text 25">
            <a:extLst>
              <a:ext uri="{FF2B5EF4-FFF2-40B4-BE49-F238E27FC236}">
                <a16:creationId xmlns:a16="http://schemas.microsoft.com/office/drawing/2014/main" id="{FA42A831-E39E-264D-67F2-7DF1458A9048}"/>
              </a:ext>
            </a:extLst>
          </p:cNvPr>
          <p:cNvSpPr/>
          <p:nvPr/>
        </p:nvSpPr>
        <p:spPr>
          <a:xfrm>
            <a:off x="497027" y="5577840"/>
            <a:ext cx="11155680" cy="365760"/>
          </a:xfrm>
          <a:prstGeom prst="rect">
            <a:avLst/>
          </a:prstGeom>
          <a:noFill/>
          <a:ln/>
        </p:spPr>
        <p:txBody>
          <a:bodyPr wrap="square" rtlCol="0" anchor="ctr"/>
          <a:lstStyle/>
          <a:p>
            <a:r>
              <a:rPr lang="en-US" sz="1600" i="1">
                <a:solidFill>
                  <a:srgbClr val="51606E"/>
                </a:solidFill>
                <a:latin typeface="Calibri" pitchFamily="34" charset="0"/>
                <a:ea typeface="Calibri" pitchFamily="34" charset="-122"/>
                <a:cs typeface="Calibri" pitchFamily="34" charset="-120"/>
              </a:rPr>
              <a:t>On startup, Python instantiates Vector.CANalyzer.Application, gaining direct access to the App.SystemVariables namespace.</a:t>
            </a:r>
            <a:endParaRPr lang="en-US" sz="1600" dirty="0"/>
          </a:p>
        </p:txBody>
      </p:sp>
    </p:spTree>
    <p:extLst>
      <p:ext uri="{BB962C8B-B14F-4D97-AF65-F5344CB8AC3E}">
        <p14:creationId xmlns:p14="http://schemas.microsoft.com/office/powerpoint/2010/main" val="3999188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CF8DC-7165-A7B4-8333-DCC1357BFEAA}"/>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E8AD6F2C-B242-CF54-0943-B77C18CB10DF}"/>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CANalyzer</a:t>
            </a:r>
            <a:endParaRPr lang="it-IT" dirty="0"/>
          </a:p>
        </p:txBody>
      </p:sp>
      <p:sp>
        <p:nvSpPr>
          <p:cNvPr id="6" name="Text 3">
            <a:extLst>
              <a:ext uri="{FF2B5EF4-FFF2-40B4-BE49-F238E27FC236}">
                <a16:creationId xmlns:a16="http://schemas.microsoft.com/office/drawing/2014/main" id="{BF2BD2AB-8B98-FCA6-0F78-B93D201CB8AF}"/>
              </a:ext>
            </a:extLst>
          </p:cNvPr>
          <p:cNvSpPr/>
          <p:nvPr/>
        </p:nvSpPr>
        <p:spPr>
          <a:xfrm>
            <a:off x="502920" y="1187846"/>
            <a:ext cx="11155680" cy="411480"/>
          </a:xfrm>
          <a:prstGeom prst="rect">
            <a:avLst/>
          </a:prstGeom>
          <a:noFill/>
          <a:ln/>
        </p:spPr>
        <p:txBody>
          <a:bodyPr wrap="square" rtlCol="0" anchor="t"/>
          <a:lstStyle/>
          <a:p>
            <a:r>
              <a:rPr lang="en-US">
                <a:solidFill>
                  <a:srgbClr val="51606E"/>
                </a:solidFill>
                <a:latin typeface="Calibri" pitchFamily="34" charset="0"/>
                <a:ea typeface="Calibri" pitchFamily="34" charset="-122"/>
                <a:cs typeface="Calibri" pitchFamily="34" charset="-120"/>
              </a:rPr>
              <a:t>The following shows the Vector CANalyzer interface and the system variable namespace, with which the Python GUI communicates via COM API.</a:t>
            </a:r>
            <a:endParaRPr lang="en-US" dirty="0"/>
          </a:p>
        </p:txBody>
      </p:sp>
      <p:sp>
        <p:nvSpPr>
          <p:cNvPr id="8" name="Shape 4">
            <a:extLst>
              <a:ext uri="{FF2B5EF4-FFF2-40B4-BE49-F238E27FC236}">
                <a16:creationId xmlns:a16="http://schemas.microsoft.com/office/drawing/2014/main" id="{363CCB68-3849-4F90-5C14-7896B334C5F3}"/>
              </a:ext>
            </a:extLst>
          </p:cNvPr>
          <p:cNvSpPr/>
          <p:nvPr/>
        </p:nvSpPr>
        <p:spPr>
          <a:xfrm>
            <a:off x="502920" y="1874520"/>
            <a:ext cx="6903720" cy="4260466"/>
          </a:xfrm>
          <a:prstGeom prst="roundRect">
            <a:avLst>
              <a:gd name="adj" fmla="val 1649"/>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a:p>
        </p:txBody>
      </p:sp>
      <p:sp>
        <p:nvSpPr>
          <p:cNvPr id="10" name="Text 5">
            <a:extLst>
              <a:ext uri="{FF2B5EF4-FFF2-40B4-BE49-F238E27FC236}">
                <a16:creationId xmlns:a16="http://schemas.microsoft.com/office/drawing/2014/main" id="{907A1CAA-5BA3-4027-61B6-0A0AD7B8F81E}"/>
              </a:ext>
            </a:extLst>
          </p:cNvPr>
          <p:cNvSpPr/>
          <p:nvPr/>
        </p:nvSpPr>
        <p:spPr>
          <a:xfrm>
            <a:off x="731520" y="2039112"/>
            <a:ext cx="6446520" cy="274320"/>
          </a:xfrm>
          <a:prstGeom prst="rect">
            <a:avLst/>
          </a:prstGeom>
          <a:noFill/>
          <a:ln/>
        </p:spPr>
        <p:txBody>
          <a:bodyPr wrap="square" rtlCol="0" anchor="ctr"/>
          <a:lstStyle/>
          <a:p>
            <a:pPr marL="0" indent="0">
              <a:buNone/>
            </a:pPr>
            <a:r>
              <a:rPr lang="en-US" b="1" dirty="0" err="1">
                <a:solidFill>
                  <a:srgbClr val="03234B"/>
                </a:solidFill>
                <a:latin typeface="Calibri" pitchFamily="34" charset="0"/>
                <a:ea typeface="Calibri" pitchFamily="34" charset="-122"/>
                <a:cs typeface="Calibri" pitchFamily="34" charset="-120"/>
              </a:rPr>
              <a:t>Interfaccia</a:t>
            </a:r>
            <a:r>
              <a:rPr lang="en-US" b="1" dirty="0">
                <a:solidFill>
                  <a:srgbClr val="03234B"/>
                </a:solidFill>
                <a:latin typeface="Calibri" pitchFamily="34" charset="0"/>
                <a:ea typeface="Calibri" pitchFamily="34" charset="-122"/>
                <a:cs typeface="Calibri" pitchFamily="34" charset="-120"/>
              </a:rPr>
              <a:t> CANalyzer </a:t>
            </a:r>
            <a:endParaRPr lang="en-US" dirty="0"/>
          </a:p>
        </p:txBody>
      </p:sp>
      <p:pic>
        <p:nvPicPr>
          <p:cNvPr id="12" name="Image 1" descr="canalyzer_main.png">
            <a:extLst>
              <a:ext uri="{FF2B5EF4-FFF2-40B4-BE49-F238E27FC236}">
                <a16:creationId xmlns:a16="http://schemas.microsoft.com/office/drawing/2014/main" id="{7E9BCAFC-621C-BF49-0BD0-A9B1ABA42F00}"/>
              </a:ext>
            </a:extLst>
          </p:cNvPr>
          <p:cNvPicPr>
            <a:picLocks noChangeAspect="1"/>
          </p:cNvPicPr>
          <p:nvPr/>
        </p:nvPicPr>
        <p:blipFill>
          <a:blip r:embed="rId2"/>
          <a:stretch>
            <a:fillRect/>
          </a:stretch>
        </p:blipFill>
        <p:spPr>
          <a:xfrm>
            <a:off x="891764" y="2423160"/>
            <a:ext cx="6126032" cy="3611880"/>
          </a:xfrm>
          <a:prstGeom prst="rect">
            <a:avLst/>
          </a:prstGeom>
        </p:spPr>
      </p:pic>
      <p:sp>
        <p:nvSpPr>
          <p:cNvPr id="14" name="Shape 6">
            <a:extLst>
              <a:ext uri="{FF2B5EF4-FFF2-40B4-BE49-F238E27FC236}">
                <a16:creationId xmlns:a16="http://schemas.microsoft.com/office/drawing/2014/main" id="{076DD01C-E2F9-C5AF-BC7B-D3F380962700}"/>
              </a:ext>
            </a:extLst>
          </p:cNvPr>
          <p:cNvSpPr/>
          <p:nvPr/>
        </p:nvSpPr>
        <p:spPr>
          <a:xfrm>
            <a:off x="7680960" y="1874520"/>
            <a:ext cx="3931920" cy="4260466"/>
          </a:xfrm>
          <a:prstGeom prst="roundRect">
            <a:avLst>
              <a:gd name="adj" fmla="val 1860"/>
            </a:avLst>
          </a:prstGeom>
          <a:solidFill>
            <a:srgbClr val="FFFFFF"/>
          </a:solidFill>
          <a:ln w="15875">
            <a:solidFill>
              <a:srgbClr val="DCE7F0"/>
            </a:solidFill>
            <a:prstDash val="solid"/>
          </a:ln>
          <a:effectLst>
            <a:outerShdw blurRad="127000" dist="38100" dir="5400000" algn="bl" rotWithShape="0">
              <a:srgbClr val="1B2733">
                <a:alpha val="18000"/>
              </a:srgbClr>
            </a:outerShdw>
          </a:effectLst>
        </p:spPr>
        <p:txBody>
          <a:bodyPr/>
          <a:lstStyle/>
          <a:p>
            <a:endParaRPr lang="it-IT"/>
          </a:p>
        </p:txBody>
      </p:sp>
      <p:sp>
        <p:nvSpPr>
          <p:cNvPr id="16" name="Text 7">
            <a:extLst>
              <a:ext uri="{FF2B5EF4-FFF2-40B4-BE49-F238E27FC236}">
                <a16:creationId xmlns:a16="http://schemas.microsoft.com/office/drawing/2014/main" id="{27B0D33F-A8BD-C218-59AC-1A91026F4031}"/>
              </a:ext>
            </a:extLst>
          </p:cNvPr>
          <p:cNvSpPr/>
          <p:nvPr/>
        </p:nvSpPr>
        <p:spPr>
          <a:xfrm>
            <a:off x="7909560" y="2039112"/>
            <a:ext cx="3474720" cy="274320"/>
          </a:xfrm>
          <a:prstGeom prst="rect">
            <a:avLst/>
          </a:prstGeom>
          <a:noFill/>
          <a:ln/>
        </p:spPr>
        <p:txBody>
          <a:bodyPr wrap="square" rtlCol="0" anchor="ctr"/>
          <a:lstStyle/>
          <a:p>
            <a:pPr marL="0" indent="0">
              <a:buNone/>
            </a:pPr>
            <a:r>
              <a:rPr lang="en-US" b="1" dirty="0">
                <a:solidFill>
                  <a:srgbClr val="03234B"/>
                </a:solidFill>
                <a:latin typeface="Calibri" pitchFamily="34" charset="0"/>
                <a:ea typeface="Calibri" pitchFamily="34" charset="-122"/>
                <a:cs typeface="Calibri" pitchFamily="34" charset="-120"/>
              </a:rPr>
              <a:t>System Variables</a:t>
            </a:r>
            <a:endParaRPr lang="en-US" dirty="0"/>
          </a:p>
        </p:txBody>
      </p:sp>
      <p:pic>
        <p:nvPicPr>
          <p:cNvPr id="18" name="Image 2" descr="canalyzer_vars.png">
            <a:extLst>
              <a:ext uri="{FF2B5EF4-FFF2-40B4-BE49-F238E27FC236}">
                <a16:creationId xmlns:a16="http://schemas.microsoft.com/office/drawing/2014/main" id="{589E0A19-EE0B-727F-02C7-F4B632E07F9E}"/>
              </a:ext>
            </a:extLst>
          </p:cNvPr>
          <p:cNvPicPr>
            <a:picLocks noChangeAspect="1"/>
          </p:cNvPicPr>
          <p:nvPr/>
        </p:nvPicPr>
        <p:blipFill>
          <a:blip r:embed="rId3"/>
          <a:stretch>
            <a:fillRect/>
          </a:stretch>
        </p:blipFill>
        <p:spPr>
          <a:xfrm>
            <a:off x="8545330" y="2423160"/>
            <a:ext cx="2203180" cy="3611880"/>
          </a:xfrm>
          <a:prstGeom prst="rect">
            <a:avLst/>
          </a:prstGeom>
        </p:spPr>
      </p:pic>
      <p:sp>
        <p:nvSpPr>
          <p:cNvPr id="9" name="Text 0">
            <a:extLst>
              <a:ext uri="{FF2B5EF4-FFF2-40B4-BE49-F238E27FC236}">
                <a16:creationId xmlns:a16="http://schemas.microsoft.com/office/drawing/2014/main" id="{E8617322-B19E-EC3D-46B9-E980D6BA29EE}"/>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2786084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39E4-2B1D-8475-4CEB-4C4F5B4C6DB7}"/>
            </a:ext>
          </a:extLst>
        </p:cNvPr>
        <p:cNvGrpSpPr/>
        <p:nvPr/>
      </p:nvGrpSpPr>
      <p:grpSpPr>
        <a:xfrm>
          <a:off x="0" y="0"/>
          <a:ext cx="0" cy="0"/>
          <a:chOff x="0" y="0"/>
          <a:chExt cx="0" cy="0"/>
        </a:xfrm>
      </p:grpSpPr>
      <p:sp>
        <p:nvSpPr>
          <p:cNvPr id="5" name="Titolo 2">
            <a:extLst>
              <a:ext uri="{FF2B5EF4-FFF2-40B4-BE49-F238E27FC236}">
                <a16:creationId xmlns:a16="http://schemas.microsoft.com/office/drawing/2014/main" id="{4CB46706-0DB3-18D1-467D-93EAAD313F4E}"/>
              </a:ext>
            </a:extLst>
          </p:cNvPr>
          <p:cNvSpPr>
            <a:spLocks noGrp="1"/>
          </p:cNvSpPr>
          <p:nvPr>
            <p:ph type="title"/>
          </p:nvPr>
        </p:nvSpPr>
        <p:spPr>
          <a:xfrm>
            <a:off x="300037" y="-1"/>
            <a:ext cx="11609159" cy="1304925"/>
          </a:xfrm>
        </p:spPr>
        <p:txBody>
          <a:bodyPr/>
          <a:lstStyle/>
          <a:p>
            <a:r>
              <a:rPr lang="en-US" b="1">
                <a:solidFill>
                  <a:srgbClr val="03234B"/>
                </a:solidFill>
                <a:latin typeface="Calibri" pitchFamily="34" charset="0"/>
                <a:ea typeface="Calibri" pitchFamily="34" charset="-122"/>
                <a:cs typeface="Calibri" pitchFamily="34" charset="-120"/>
              </a:rPr>
              <a:t>Flow of commands and telemetry</a:t>
            </a:r>
            <a:endParaRPr lang="it-IT" dirty="0"/>
          </a:p>
        </p:txBody>
      </p:sp>
      <p:sp>
        <p:nvSpPr>
          <p:cNvPr id="8" name="Shape 3">
            <a:extLst>
              <a:ext uri="{FF2B5EF4-FFF2-40B4-BE49-F238E27FC236}">
                <a16:creationId xmlns:a16="http://schemas.microsoft.com/office/drawing/2014/main" id="{086053DA-0ED3-C481-7813-DAA3A600558C}"/>
              </a:ext>
            </a:extLst>
          </p:cNvPr>
          <p:cNvSpPr/>
          <p:nvPr/>
        </p:nvSpPr>
        <p:spPr>
          <a:xfrm>
            <a:off x="502920" y="1417320"/>
            <a:ext cx="5440680" cy="457200"/>
          </a:xfrm>
          <a:prstGeom prst="roundRect">
            <a:avLst>
              <a:gd name="adj" fmla="val 10000"/>
            </a:avLst>
          </a:prstGeom>
          <a:solidFill>
            <a:srgbClr val="03234B"/>
          </a:solidFill>
          <a:ln/>
        </p:spPr>
        <p:txBody>
          <a:bodyPr/>
          <a:lstStyle/>
          <a:p>
            <a:endParaRPr lang="it-IT"/>
          </a:p>
        </p:txBody>
      </p:sp>
      <p:sp>
        <p:nvSpPr>
          <p:cNvPr id="10" name="Text 4">
            <a:extLst>
              <a:ext uri="{FF2B5EF4-FFF2-40B4-BE49-F238E27FC236}">
                <a16:creationId xmlns:a16="http://schemas.microsoft.com/office/drawing/2014/main" id="{169B2EC8-721B-57B0-983E-08FF6DF864EB}"/>
              </a:ext>
            </a:extLst>
          </p:cNvPr>
          <p:cNvSpPr/>
          <p:nvPr/>
        </p:nvSpPr>
        <p:spPr>
          <a:xfrm>
            <a:off x="685800" y="1417320"/>
            <a:ext cx="5074920" cy="45720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Bus CAN → GUI</a:t>
            </a:r>
            <a:endParaRPr lang="en-US" dirty="0"/>
          </a:p>
        </p:txBody>
      </p:sp>
      <p:sp>
        <p:nvSpPr>
          <p:cNvPr id="12" name="Shape 5">
            <a:extLst>
              <a:ext uri="{FF2B5EF4-FFF2-40B4-BE49-F238E27FC236}">
                <a16:creationId xmlns:a16="http://schemas.microsoft.com/office/drawing/2014/main" id="{E77CB363-E8B6-825C-B5C3-743CBF7B3431}"/>
              </a:ext>
            </a:extLst>
          </p:cNvPr>
          <p:cNvSpPr/>
          <p:nvPr/>
        </p:nvSpPr>
        <p:spPr>
          <a:xfrm>
            <a:off x="6199632" y="1417320"/>
            <a:ext cx="5440680" cy="457200"/>
          </a:xfrm>
          <a:prstGeom prst="roundRect">
            <a:avLst>
              <a:gd name="adj" fmla="val 10000"/>
            </a:avLst>
          </a:prstGeom>
          <a:solidFill>
            <a:srgbClr val="03234B"/>
          </a:solidFill>
          <a:ln/>
        </p:spPr>
        <p:txBody>
          <a:bodyPr/>
          <a:lstStyle/>
          <a:p>
            <a:endParaRPr lang="it-IT"/>
          </a:p>
        </p:txBody>
      </p:sp>
      <p:sp>
        <p:nvSpPr>
          <p:cNvPr id="14" name="Text 6">
            <a:extLst>
              <a:ext uri="{FF2B5EF4-FFF2-40B4-BE49-F238E27FC236}">
                <a16:creationId xmlns:a16="http://schemas.microsoft.com/office/drawing/2014/main" id="{C3DAC1C3-CEC5-B628-E037-91FD32114E2F}"/>
              </a:ext>
            </a:extLst>
          </p:cNvPr>
          <p:cNvSpPr/>
          <p:nvPr/>
        </p:nvSpPr>
        <p:spPr>
          <a:xfrm>
            <a:off x="6382512" y="1417320"/>
            <a:ext cx="5074920" cy="45720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GUI → Bus CAN</a:t>
            </a:r>
            <a:endParaRPr lang="en-US" dirty="0"/>
          </a:p>
        </p:txBody>
      </p:sp>
      <p:sp>
        <p:nvSpPr>
          <p:cNvPr id="16" name="Shape 7">
            <a:extLst>
              <a:ext uri="{FF2B5EF4-FFF2-40B4-BE49-F238E27FC236}">
                <a16:creationId xmlns:a16="http://schemas.microsoft.com/office/drawing/2014/main" id="{63019204-F7FD-2686-D884-FF9D8DE0C05E}"/>
              </a:ext>
            </a:extLst>
          </p:cNvPr>
          <p:cNvSpPr/>
          <p:nvPr/>
        </p:nvSpPr>
        <p:spPr>
          <a:xfrm>
            <a:off x="502920" y="2103120"/>
            <a:ext cx="384048" cy="384048"/>
          </a:xfrm>
          <a:prstGeom prst="ellipse">
            <a:avLst/>
          </a:prstGeom>
          <a:solidFill>
            <a:srgbClr val="3CB4E6"/>
          </a:solidFill>
          <a:ln/>
        </p:spPr>
        <p:txBody>
          <a:bodyPr/>
          <a:lstStyle/>
          <a:p>
            <a:endParaRPr lang="it-IT"/>
          </a:p>
        </p:txBody>
      </p:sp>
      <p:sp>
        <p:nvSpPr>
          <p:cNvPr id="18" name="Text 8">
            <a:extLst>
              <a:ext uri="{FF2B5EF4-FFF2-40B4-BE49-F238E27FC236}">
                <a16:creationId xmlns:a16="http://schemas.microsoft.com/office/drawing/2014/main" id="{2DCFBB68-0ED5-B02C-0125-09E0A5C34C9D}"/>
              </a:ext>
            </a:extLst>
          </p:cNvPr>
          <p:cNvSpPr/>
          <p:nvPr/>
        </p:nvSpPr>
        <p:spPr>
          <a:xfrm>
            <a:off x="502920" y="210312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20" name="Text 9">
            <a:extLst>
              <a:ext uri="{FF2B5EF4-FFF2-40B4-BE49-F238E27FC236}">
                <a16:creationId xmlns:a16="http://schemas.microsoft.com/office/drawing/2014/main" id="{CBEB315F-79A7-51E8-B2CA-F265794882C1}"/>
              </a:ext>
            </a:extLst>
          </p:cNvPr>
          <p:cNvSpPr/>
          <p:nvPr/>
        </p:nvSpPr>
        <p:spPr>
          <a:xfrm>
            <a:off x="1033272" y="1935802"/>
            <a:ext cx="4910328" cy="1295400"/>
          </a:xfrm>
          <a:prstGeom prst="rect">
            <a:avLst/>
          </a:prstGeom>
          <a:noFill/>
          <a:ln/>
        </p:spPr>
        <p:txBody>
          <a:bodyPr wrap="square" rtlCol="0" anchor="ctr"/>
          <a:lstStyle/>
          <a:p>
            <a:pPr>
              <a:lnSpc>
                <a:spcPct val="120000"/>
              </a:lnSpc>
            </a:pPr>
            <a:r>
              <a:rPr lang="en-US">
                <a:solidFill>
                  <a:srgbClr val="16212B"/>
                </a:solidFill>
                <a:latin typeface="Calibri" pitchFamily="34" charset="0"/>
                <a:ea typeface="Calibri" pitchFamily="34" charset="-122"/>
                <a:cs typeface="Calibri" pitchFamily="34" charset="-120"/>
              </a:rPr>
              <a:t>Background capture: Firmware continuously sends the 10 telemetry packets (0x40+) and REG_VALUE response (0x11)</a:t>
            </a:r>
            <a:endParaRPr lang="en-US" dirty="0"/>
          </a:p>
        </p:txBody>
      </p:sp>
      <p:sp>
        <p:nvSpPr>
          <p:cNvPr id="22" name="Shape 10">
            <a:extLst>
              <a:ext uri="{FF2B5EF4-FFF2-40B4-BE49-F238E27FC236}">
                <a16:creationId xmlns:a16="http://schemas.microsoft.com/office/drawing/2014/main" id="{E6240A44-68E2-C8C2-9DCA-106C032F63E6}"/>
              </a:ext>
            </a:extLst>
          </p:cNvPr>
          <p:cNvSpPr/>
          <p:nvPr/>
        </p:nvSpPr>
        <p:spPr>
          <a:xfrm>
            <a:off x="502920" y="3489960"/>
            <a:ext cx="384048" cy="384048"/>
          </a:xfrm>
          <a:prstGeom prst="ellipse">
            <a:avLst/>
          </a:prstGeom>
          <a:solidFill>
            <a:srgbClr val="3CB4E6"/>
          </a:solidFill>
          <a:ln/>
        </p:spPr>
        <p:txBody>
          <a:bodyPr/>
          <a:lstStyle/>
          <a:p>
            <a:endParaRPr lang="it-IT"/>
          </a:p>
        </p:txBody>
      </p:sp>
      <p:sp>
        <p:nvSpPr>
          <p:cNvPr id="24" name="Text 11">
            <a:extLst>
              <a:ext uri="{FF2B5EF4-FFF2-40B4-BE49-F238E27FC236}">
                <a16:creationId xmlns:a16="http://schemas.microsoft.com/office/drawing/2014/main" id="{191A1EE7-C026-E148-1794-9BFA690F2FE1}"/>
              </a:ext>
            </a:extLst>
          </p:cNvPr>
          <p:cNvSpPr/>
          <p:nvPr/>
        </p:nvSpPr>
        <p:spPr>
          <a:xfrm>
            <a:off x="502920" y="348996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26" name="Text 12">
            <a:extLst>
              <a:ext uri="{FF2B5EF4-FFF2-40B4-BE49-F238E27FC236}">
                <a16:creationId xmlns:a16="http://schemas.microsoft.com/office/drawing/2014/main" id="{505E8B2F-E5BB-EFCF-6960-7E639E6213DD}"/>
              </a:ext>
            </a:extLst>
          </p:cNvPr>
          <p:cNvSpPr/>
          <p:nvPr/>
        </p:nvSpPr>
        <p:spPr>
          <a:xfrm>
            <a:off x="1033272" y="3378627"/>
            <a:ext cx="4910328" cy="1295400"/>
          </a:xfrm>
          <a:prstGeom prst="rect">
            <a:avLst/>
          </a:prstGeom>
          <a:noFill/>
          <a:ln/>
        </p:spPr>
        <p:txBody>
          <a:bodyPr wrap="square" rtlCol="0" anchor="ctr"/>
          <a:lstStyle/>
          <a:p>
            <a:pPr>
              <a:lnSpc>
                <a:spcPct val="120000"/>
              </a:lnSpc>
            </a:pPr>
            <a:r>
              <a:rPr lang="en-US">
                <a:solidFill>
                  <a:srgbClr val="16212B"/>
                </a:solidFill>
                <a:latin typeface="Calibri" pitchFamily="34" charset="0"/>
                <a:ea typeface="Calibri" pitchFamily="34" charset="-122"/>
                <a:cs typeface="Calibri" pitchFamily="34" charset="-120"/>
              </a:rPr>
              <a:t>Decoding in CANalyzer: CAPL on-message events decode frames via . DBC and update system variables</a:t>
            </a:r>
            <a:endParaRPr lang="en-US" dirty="0"/>
          </a:p>
        </p:txBody>
      </p:sp>
      <p:sp>
        <p:nvSpPr>
          <p:cNvPr id="28" name="Shape 13">
            <a:extLst>
              <a:ext uri="{FF2B5EF4-FFF2-40B4-BE49-F238E27FC236}">
                <a16:creationId xmlns:a16="http://schemas.microsoft.com/office/drawing/2014/main" id="{75620203-AEF2-6615-26E1-08864C9603B7}"/>
              </a:ext>
            </a:extLst>
          </p:cNvPr>
          <p:cNvSpPr/>
          <p:nvPr/>
        </p:nvSpPr>
        <p:spPr>
          <a:xfrm>
            <a:off x="502920" y="4876800"/>
            <a:ext cx="384048" cy="384048"/>
          </a:xfrm>
          <a:prstGeom prst="ellipse">
            <a:avLst/>
          </a:prstGeom>
          <a:solidFill>
            <a:srgbClr val="3CB4E6"/>
          </a:solidFill>
          <a:ln/>
        </p:spPr>
        <p:txBody>
          <a:bodyPr/>
          <a:lstStyle/>
          <a:p>
            <a:endParaRPr lang="it-IT"/>
          </a:p>
        </p:txBody>
      </p:sp>
      <p:sp>
        <p:nvSpPr>
          <p:cNvPr id="30" name="Text 14">
            <a:extLst>
              <a:ext uri="{FF2B5EF4-FFF2-40B4-BE49-F238E27FC236}">
                <a16:creationId xmlns:a16="http://schemas.microsoft.com/office/drawing/2014/main" id="{DA8A6324-CCEF-E6CC-4D0D-229DFC0D0684}"/>
              </a:ext>
            </a:extLst>
          </p:cNvPr>
          <p:cNvSpPr/>
          <p:nvPr/>
        </p:nvSpPr>
        <p:spPr>
          <a:xfrm>
            <a:off x="502920" y="487680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32" name="Text 15">
            <a:extLst>
              <a:ext uri="{FF2B5EF4-FFF2-40B4-BE49-F238E27FC236}">
                <a16:creationId xmlns:a16="http://schemas.microsoft.com/office/drawing/2014/main" id="{8C10BDF2-B692-4E60-D12D-4DD75AEAD305}"/>
              </a:ext>
            </a:extLst>
          </p:cNvPr>
          <p:cNvSpPr/>
          <p:nvPr/>
        </p:nvSpPr>
        <p:spPr>
          <a:xfrm>
            <a:off x="1033272" y="4735309"/>
            <a:ext cx="4910328" cy="1295400"/>
          </a:xfrm>
          <a:prstGeom prst="rect">
            <a:avLst/>
          </a:prstGeom>
          <a:noFill/>
          <a:ln/>
        </p:spPr>
        <p:txBody>
          <a:bodyPr wrap="square" rtlCol="0" anchor="ctr"/>
          <a:lstStyle/>
          <a:p>
            <a:pPr>
              <a:lnSpc>
                <a:spcPct val="120000"/>
              </a:lnSpc>
            </a:pPr>
            <a:r>
              <a:rPr lang="en-US">
                <a:solidFill>
                  <a:srgbClr val="16212B"/>
                </a:solidFill>
                <a:latin typeface="Calibri" pitchFamily="34" charset="0"/>
                <a:ea typeface="Calibri" pitchFamily="34" charset="-122"/>
                <a:cs typeface="Calibri" pitchFamily="34" charset="-120"/>
              </a:rPr>
              <a:t>Python reading and rendering: periodic polling via COM API, real-time updating of graphs and indicators</a:t>
            </a:r>
            <a:endParaRPr lang="en-US" dirty="0"/>
          </a:p>
        </p:txBody>
      </p:sp>
      <p:sp>
        <p:nvSpPr>
          <p:cNvPr id="34" name="Shape 16">
            <a:extLst>
              <a:ext uri="{FF2B5EF4-FFF2-40B4-BE49-F238E27FC236}">
                <a16:creationId xmlns:a16="http://schemas.microsoft.com/office/drawing/2014/main" id="{B4525335-99A4-9E1F-E6F0-511FB467DEE2}"/>
              </a:ext>
            </a:extLst>
          </p:cNvPr>
          <p:cNvSpPr/>
          <p:nvPr/>
        </p:nvSpPr>
        <p:spPr>
          <a:xfrm>
            <a:off x="6199632" y="2103120"/>
            <a:ext cx="384048" cy="384048"/>
          </a:xfrm>
          <a:prstGeom prst="ellipse">
            <a:avLst/>
          </a:prstGeom>
          <a:solidFill>
            <a:srgbClr val="3CB4E6"/>
          </a:solidFill>
          <a:ln/>
        </p:spPr>
        <p:txBody>
          <a:bodyPr/>
          <a:lstStyle/>
          <a:p>
            <a:endParaRPr lang="it-IT"/>
          </a:p>
        </p:txBody>
      </p:sp>
      <p:sp>
        <p:nvSpPr>
          <p:cNvPr id="36" name="Text 17">
            <a:extLst>
              <a:ext uri="{FF2B5EF4-FFF2-40B4-BE49-F238E27FC236}">
                <a16:creationId xmlns:a16="http://schemas.microsoft.com/office/drawing/2014/main" id="{5142A25A-5A3E-464A-1F35-0151D0FE0C22}"/>
              </a:ext>
            </a:extLst>
          </p:cNvPr>
          <p:cNvSpPr/>
          <p:nvPr/>
        </p:nvSpPr>
        <p:spPr>
          <a:xfrm>
            <a:off x="6199632" y="210312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38" name="Text 18">
            <a:extLst>
              <a:ext uri="{FF2B5EF4-FFF2-40B4-BE49-F238E27FC236}">
                <a16:creationId xmlns:a16="http://schemas.microsoft.com/office/drawing/2014/main" id="{E3A3FF0C-AC6E-4048-1E24-F96C13B996FC}"/>
              </a:ext>
            </a:extLst>
          </p:cNvPr>
          <p:cNvSpPr/>
          <p:nvPr/>
        </p:nvSpPr>
        <p:spPr>
          <a:xfrm>
            <a:off x="6729984" y="1966722"/>
            <a:ext cx="4910328" cy="948690"/>
          </a:xfrm>
          <a:prstGeom prst="rect">
            <a:avLst/>
          </a:prstGeom>
          <a:noFill/>
          <a:ln/>
        </p:spPr>
        <p:txBody>
          <a:bodyPr wrap="square" rtlCol="0" anchor="ctr"/>
          <a:lstStyle/>
          <a:p>
            <a:pPr>
              <a:lnSpc>
                <a:spcPct val="120000"/>
              </a:lnSpc>
            </a:pPr>
            <a:r>
              <a:rPr lang="en-US">
                <a:solidFill>
                  <a:srgbClr val="16212B"/>
                </a:solidFill>
                <a:latin typeface="Calibri" pitchFamily="34" charset="0"/>
                <a:ea typeface="Calibri" pitchFamily="34" charset="-122"/>
                <a:cs typeface="Calibri" pitchFamily="34" charset="-120"/>
              </a:rPr>
              <a:t>Graphical event interception (button/slider) → sysvar writing via COM API</a:t>
            </a:r>
            <a:endParaRPr lang="en-US" dirty="0"/>
          </a:p>
        </p:txBody>
      </p:sp>
      <p:sp>
        <p:nvSpPr>
          <p:cNvPr id="40" name="Shape 19">
            <a:extLst>
              <a:ext uri="{FF2B5EF4-FFF2-40B4-BE49-F238E27FC236}">
                <a16:creationId xmlns:a16="http://schemas.microsoft.com/office/drawing/2014/main" id="{01B414C9-C432-B930-399F-7702DE166E1A}"/>
              </a:ext>
            </a:extLst>
          </p:cNvPr>
          <p:cNvSpPr/>
          <p:nvPr/>
        </p:nvSpPr>
        <p:spPr>
          <a:xfrm>
            <a:off x="6199632" y="3143250"/>
            <a:ext cx="384048" cy="384048"/>
          </a:xfrm>
          <a:prstGeom prst="ellipse">
            <a:avLst/>
          </a:prstGeom>
          <a:solidFill>
            <a:srgbClr val="3CB4E6"/>
          </a:solidFill>
          <a:ln/>
        </p:spPr>
        <p:txBody>
          <a:bodyPr/>
          <a:lstStyle/>
          <a:p>
            <a:endParaRPr lang="it-IT"/>
          </a:p>
        </p:txBody>
      </p:sp>
      <p:sp>
        <p:nvSpPr>
          <p:cNvPr id="42" name="Text 20">
            <a:extLst>
              <a:ext uri="{FF2B5EF4-FFF2-40B4-BE49-F238E27FC236}">
                <a16:creationId xmlns:a16="http://schemas.microsoft.com/office/drawing/2014/main" id="{B4C3231C-86BF-0444-9A0F-B3EC85833C8D}"/>
              </a:ext>
            </a:extLst>
          </p:cNvPr>
          <p:cNvSpPr/>
          <p:nvPr/>
        </p:nvSpPr>
        <p:spPr>
          <a:xfrm>
            <a:off x="6199632" y="314325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44" name="Text 21">
            <a:extLst>
              <a:ext uri="{FF2B5EF4-FFF2-40B4-BE49-F238E27FC236}">
                <a16:creationId xmlns:a16="http://schemas.microsoft.com/office/drawing/2014/main" id="{DDDB21F8-FEAF-B1C9-2F1E-FD6B8FB8D1B3}"/>
              </a:ext>
            </a:extLst>
          </p:cNvPr>
          <p:cNvSpPr/>
          <p:nvPr/>
        </p:nvSpPr>
        <p:spPr>
          <a:xfrm>
            <a:off x="6729984" y="2860929"/>
            <a:ext cx="4910328" cy="948690"/>
          </a:xfrm>
          <a:prstGeom prst="rect">
            <a:avLst/>
          </a:prstGeom>
          <a:noFill/>
          <a:ln/>
        </p:spPr>
        <p:txBody>
          <a:bodyPr wrap="square" rtlCol="0" anchor="ctr"/>
          <a:lstStyle/>
          <a:p>
            <a:pPr>
              <a:lnSpc>
                <a:spcPct val="120000"/>
              </a:lnSpc>
            </a:pPr>
            <a:r>
              <a:rPr lang="it-IT" dirty="0">
                <a:solidFill>
                  <a:srgbClr val="16212B"/>
                </a:solidFill>
                <a:latin typeface="Calibri" pitchFamily="34" charset="0"/>
                <a:ea typeface="Calibri" pitchFamily="34" charset="-122"/>
                <a:cs typeface="Calibri" pitchFamily="34" charset="-120"/>
              </a:rPr>
              <a:t>CAPL event trigger on </a:t>
            </a:r>
            <a:r>
              <a:rPr lang="it-IT" dirty="0" err="1">
                <a:solidFill>
                  <a:srgbClr val="16212B"/>
                </a:solidFill>
                <a:latin typeface="Calibri" pitchFamily="34" charset="0"/>
                <a:ea typeface="Calibri" pitchFamily="34" charset="-122"/>
                <a:cs typeface="Calibri" pitchFamily="34" charset="-120"/>
              </a:rPr>
              <a:t>sysvar</a:t>
            </a:r>
            <a:endParaRPr lang="en-US" dirty="0"/>
          </a:p>
        </p:txBody>
      </p:sp>
      <p:sp>
        <p:nvSpPr>
          <p:cNvPr id="46" name="Shape 22">
            <a:extLst>
              <a:ext uri="{FF2B5EF4-FFF2-40B4-BE49-F238E27FC236}">
                <a16:creationId xmlns:a16="http://schemas.microsoft.com/office/drawing/2014/main" id="{01D0E4EB-6224-91BC-52BE-900EC4169631}"/>
              </a:ext>
            </a:extLst>
          </p:cNvPr>
          <p:cNvSpPr/>
          <p:nvPr/>
        </p:nvSpPr>
        <p:spPr>
          <a:xfrm>
            <a:off x="6199632" y="4183380"/>
            <a:ext cx="384048" cy="384048"/>
          </a:xfrm>
          <a:prstGeom prst="ellipse">
            <a:avLst/>
          </a:prstGeom>
          <a:solidFill>
            <a:srgbClr val="3CB4E6"/>
          </a:solidFill>
          <a:ln/>
        </p:spPr>
        <p:txBody>
          <a:bodyPr/>
          <a:lstStyle/>
          <a:p>
            <a:endParaRPr lang="it-IT"/>
          </a:p>
        </p:txBody>
      </p:sp>
      <p:sp>
        <p:nvSpPr>
          <p:cNvPr id="48" name="Text 23">
            <a:extLst>
              <a:ext uri="{FF2B5EF4-FFF2-40B4-BE49-F238E27FC236}">
                <a16:creationId xmlns:a16="http://schemas.microsoft.com/office/drawing/2014/main" id="{63F96F2F-6B66-EFD8-C44F-D48448AF1FA3}"/>
              </a:ext>
            </a:extLst>
          </p:cNvPr>
          <p:cNvSpPr/>
          <p:nvPr/>
        </p:nvSpPr>
        <p:spPr>
          <a:xfrm>
            <a:off x="6199632" y="418338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50" name="Text 24">
            <a:extLst>
              <a:ext uri="{FF2B5EF4-FFF2-40B4-BE49-F238E27FC236}">
                <a16:creationId xmlns:a16="http://schemas.microsoft.com/office/drawing/2014/main" id="{4A6FE36E-2B42-99AA-33E5-5F5FEF558376}"/>
              </a:ext>
            </a:extLst>
          </p:cNvPr>
          <p:cNvSpPr/>
          <p:nvPr/>
        </p:nvSpPr>
        <p:spPr>
          <a:xfrm>
            <a:off x="6729984" y="4110228"/>
            <a:ext cx="4910328" cy="948690"/>
          </a:xfrm>
          <a:prstGeom prst="rect">
            <a:avLst/>
          </a:prstGeom>
          <a:noFill/>
          <a:ln/>
        </p:spPr>
        <p:txBody>
          <a:bodyPr wrap="square" rtlCol="0" anchor="ctr"/>
          <a:lstStyle/>
          <a:p>
            <a:pPr>
              <a:lnSpc>
                <a:spcPct val="120000"/>
              </a:lnSpc>
            </a:pPr>
            <a:r>
              <a:rPr lang="en-US">
                <a:solidFill>
                  <a:srgbClr val="16212B"/>
                </a:solidFill>
                <a:latin typeface="Calibri" pitchFamily="34" charset="0"/>
                <a:ea typeface="Calibri" pitchFamily="34" charset="-122"/>
                <a:cs typeface="Calibri" pitchFamily="34" charset="-120"/>
              </a:rPr>
              <a:t>Security Control — Ready Flags for Multi-Parameter Commands: Unlocked Sending Only at Full Flags</a:t>
            </a:r>
            <a:endParaRPr lang="en-US" dirty="0"/>
          </a:p>
        </p:txBody>
      </p:sp>
      <p:sp>
        <p:nvSpPr>
          <p:cNvPr id="52" name="Shape 25">
            <a:extLst>
              <a:ext uri="{FF2B5EF4-FFF2-40B4-BE49-F238E27FC236}">
                <a16:creationId xmlns:a16="http://schemas.microsoft.com/office/drawing/2014/main" id="{D543C3FE-61F6-1B58-C2E2-7CCCBE462AD5}"/>
              </a:ext>
            </a:extLst>
          </p:cNvPr>
          <p:cNvSpPr/>
          <p:nvPr/>
        </p:nvSpPr>
        <p:spPr>
          <a:xfrm>
            <a:off x="6199632" y="5223510"/>
            <a:ext cx="384048" cy="384048"/>
          </a:xfrm>
          <a:prstGeom prst="ellipse">
            <a:avLst/>
          </a:prstGeom>
          <a:solidFill>
            <a:srgbClr val="3CB4E6"/>
          </a:solidFill>
          <a:ln/>
        </p:spPr>
        <p:txBody>
          <a:bodyPr/>
          <a:lstStyle/>
          <a:p>
            <a:endParaRPr lang="it-IT"/>
          </a:p>
        </p:txBody>
      </p:sp>
      <p:sp>
        <p:nvSpPr>
          <p:cNvPr id="54" name="Text 26">
            <a:extLst>
              <a:ext uri="{FF2B5EF4-FFF2-40B4-BE49-F238E27FC236}">
                <a16:creationId xmlns:a16="http://schemas.microsoft.com/office/drawing/2014/main" id="{F2B76B9E-F62E-12D9-DA45-DB4E82CEA2A6}"/>
              </a:ext>
            </a:extLst>
          </p:cNvPr>
          <p:cNvSpPr/>
          <p:nvPr/>
        </p:nvSpPr>
        <p:spPr>
          <a:xfrm>
            <a:off x="6199632" y="5223510"/>
            <a:ext cx="384048" cy="38404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56" name="Text 27">
            <a:extLst>
              <a:ext uri="{FF2B5EF4-FFF2-40B4-BE49-F238E27FC236}">
                <a16:creationId xmlns:a16="http://schemas.microsoft.com/office/drawing/2014/main" id="{D3D62AAF-4371-FE24-C5BC-E3D89E9CD765}"/>
              </a:ext>
            </a:extLst>
          </p:cNvPr>
          <p:cNvSpPr/>
          <p:nvPr/>
        </p:nvSpPr>
        <p:spPr>
          <a:xfrm>
            <a:off x="6729984" y="5068824"/>
            <a:ext cx="4910328" cy="948690"/>
          </a:xfrm>
          <a:prstGeom prst="rect">
            <a:avLst/>
          </a:prstGeom>
          <a:noFill/>
          <a:ln/>
        </p:spPr>
        <p:txBody>
          <a:bodyPr wrap="square" rtlCol="0" anchor="ctr"/>
          <a:lstStyle/>
          <a:p>
            <a:pPr>
              <a:lnSpc>
                <a:spcPct val="120000"/>
              </a:lnSpc>
            </a:pPr>
            <a:r>
              <a:rPr lang="en-US">
                <a:solidFill>
                  <a:srgbClr val="16212B"/>
                </a:solidFill>
                <a:latin typeface="Calibri" pitchFamily="34" charset="0"/>
                <a:ea typeface="Calibri" pitchFamily="34" charset="-122"/>
                <a:cs typeface="Calibri" pitchFamily="34" charset="-120"/>
              </a:rPr>
              <a:t>Assembly according to the . DBC and hardware transmission on the CAN bus</a:t>
            </a:r>
            <a:endParaRPr lang="en-US" dirty="0"/>
          </a:p>
        </p:txBody>
      </p:sp>
      <p:sp>
        <p:nvSpPr>
          <p:cNvPr id="7" name="Text 0">
            <a:extLst>
              <a:ext uri="{FF2B5EF4-FFF2-40B4-BE49-F238E27FC236}">
                <a16:creationId xmlns:a16="http://schemas.microsoft.com/office/drawing/2014/main" id="{9E31FF70-A969-E751-6469-B0E0A69856F1}"/>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4120983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ABCD0-6AC7-FFE2-5992-2EF251637C65}"/>
            </a:ext>
          </a:extLst>
        </p:cNvPr>
        <p:cNvGrpSpPr/>
        <p:nvPr/>
      </p:nvGrpSpPr>
      <p:grpSpPr>
        <a:xfrm>
          <a:off x="0" y="0"/>
          <a:ext cx="0" cy="0"/>
          <a:chOff x="0" y="0"/>
          <a:chExt cx="0" cy="0"/>
        </a:xfrm>
      </p:grpSpPr>
      <p:sp>
        <p:nvSpPr>
          <p:cNvPr id="2" name="Titolo 2">
            <a:extLst>
              <a:ext uri="{FF2B5EF4-FFF2-40B4-BE49-F238E27FC236}">
                <a16:creationId xmlns:a16="http://schemas.microsoft.com/office/drawing/2014/main" id="{E9116D74-9DE8-6BAD-101C-D06ABEE19B07}"/>
              </a:ext>
            </a:extLst>
          </p:cNvPr>
          <p:cNvSpPr>
            <a:spLocks noGrp="1"/>
          </p:cNvSpPr>
          <p:nvPr>
            <p:ph type="title"/>
          </p:nvPr>
        </p:nvSpPr>
        <p:spPr>
          <a:xfrm>
            <a:off x="300037" y="-1"/>
            <a:ext cx="11609159" cy="1304925"/>
          </a:xfrm>
        </p:spPr>
        <p:txBody>
          <a:bodyPr/>
          <a:lstStyle/>
          <a:p>
            <a:r>
              <a:rPr lang="en-US" b="1">
                <a:solidFill>
                  <a:srgbClr val="03234B"/>
                </a:solidFill>
                <a:latin typeface="Calibri" pitchFamily="34" charset="0"/>
                <a:ea typeface="Calibri" pitchFamily="34" charset="-122"/>
                <a:cs typeface="Calibri" pitchFamily="34" charset="-120"/>
              </a:rPr>
              <a:t>CAPL code</a:t>
            </a:r>
            <a:endParaRPr lang="it-IT" dirty="0"/>
          </a:p>
        </p:txBody>
      </p:sp>
      <p:sp>
        <p:nvSpPr>
          <p:cNvPr id="6" name="Text 3">
            <a:extLst>
              <a:ext uri="{FF2B5EF4-FFF2-40B4-BE49-F238E27FC236}">
                <a16:creationId xmlns:a16="http://schemas.microsoft.com/office/drawing/2014/main" id="{05799A01-EFD3-BEE6-1F55-24D78230C69F}"/>
              </a:ext>
            </a:extLst>
          </p:cNvPr>
          <p:cNvSpPr/>
          <p:nvPr/>
        </p:nvSpPr>
        <p:spPr>
          <a:xfrm>
            <a:off x="502920" y="1074126"/>
            <a:ext cx="11155680" cy="365760"/>
          </a:xfrm>
          <a:prstGeom prst="rect">
            <a:avLst/>
          </a:prstGeom>
          <a:noFill/>
          <a:ln/>
        </p:spPr>
        <p:txBody>
          <a:bodyPr wrap="square" rtlCol="0" anchor="t"/>
          <a:lstStyle/>
          <a:p>
            <a:r>
              <a:rPr lang="en-US">
                <a:solidFill>
                  <a:srgbClr val="51606E"/>
                </a:solidFill>
                <a:latin typeface="Calibri" pitchFamily="34" charset="0"/>
                <a:ea typeface="Calibri" pitchFamily="34" charset="-122"/>
                <a:cs typeface="Calibri" pitchFamily="34" charset="-120"/>
              </a:rPr>
              <a:t>CAPL events observe the system variables written by the GUI and, once the security conditions are met, assemble and transmit the frame on the CAN bus.</a:t>
            </a:r>
            <a:endParaRPr lang="en-US" dirty="0"/>
          </a:p>
        </p:txBody>
      </p:sp>
      <p:sp>
        <p:nvSpPr>
          <p:cNvPr id="8" name="Shape 4">
            <a:extLst>
              <a:ext uri="{FF2B5EF4-FFF2-40B4-BE49-F238E27FC236}">
                <a16:creationId xmlns:a16="http://schemas.microsoft.com/office/drawing/2014/main" id="{F4DF4746-77C4-FCA0-DAC0-8DF8073DBA80}"/>
              </a:ext>
            </a:extLst>
          </p:cNvPr>
          <p:cNvSpPr/>
          <p:nvPr/>
        </p:nvSpPr>
        <p:spPr>
          <a:xfrm>
            <a:off x="502920" y="1737360"/>
            <a:ext cx="11183112" cy="4525217"/>
          </a:xfrm>
          <a:prstGeom prst="roundRect">
            <a:avLst>
              <a:gd name="adj" fmla="val 1600"/>
            </a:avLst>
          </a:prstGeom>
          <a:solidFill>
            <a:srgbClr val="0A19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8A97A3"/>
              </a:solidFill>
              <a:effectLst/>
              <a:uLnTx/>
              <a:uFillTx/>
              <a:latin typeface="Consolas" pitchFamily="34" charset="0"/>
              <a:ea typeface="Consolas" pitchFamily="34" charset="-122"/>
              <a:cs typeface="Consolas"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7A3"/>
                </a:solidFill>
                <a:effectLst/>
                <a:uLnTx/>
                <a:uFillTx/>
                <a:latin typeface="Consolas" pitchFamily="34" charset="0"/>
                <a:ea typeface="Consolas" pitchFamily="34" charset="-122"/>
                <a:cs typeface="Consolas" pitchFamily="34" charset="-120"/>
              </a:rPr>
              <a:t>// CAPL: COMANDI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7A3"/>
                </a:solidFill>
                <a:effectLst/>
                <a:uLnTx/>
                <a:uFillTx/>
                <a:latin typeface="Consolas" pitchFamily="34" charset="0"/>
                <a:ea typeface="Consolas" pitchFamily="34" charset="-122"/>
                <a:cs typeface="Consolas" pitchFamily="34" charset="-120"/>
              </a:rPr>
              <a:t>
</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on </a:t>
            </a:r>
            <a:r>
              <a:rPr kumimoji="0" lang="en-US" sz="1100" b="0" i="0" u="none" strike="noStrike" kern="1200" cap="none" spc="0" normalizeH="0" baseline="0" noProof="0" dirty="0" err="1">
                <a:ln>
                  <a:noFill/>
                </a:ln>
                <a:solidFill>
                  <a:srgbClr val="3CB4E6"/>
                </a:solidFill>
                <a:effectLst/>
                <a:uLnTx/>
                <a:uFillTx/>
                <a:latin typeface="Consolas" pitchFamily="34" charset="0"/>
                <a:ea typeface="Consolas" pitchFamily="34" charset="-122"/>
                <a:cs typeface="Consolas" pitchFamily="34" charset="-120"/>
              </a:rPr>
              <a:t>sysvar</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 SET_SPEED_RAMP::SET_RAMP
</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message SET_RAMP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msgSpeedRamp</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if (@this == 1 &amp;&amp;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is_finalSpeed_ready</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1 &amp;&amp;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is_durSpeed_ready</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1)
  {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msgSpeedRamp.FinalSpeed_execrmp</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g_finalSpeed_value</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msgSpeedRamp.Duration_execrmp</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g_durSpeed_value</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a:t>
            </a:r>
            <a:r>
              <a:rPr kumimoji="0" lang="en-US" sz="1100" b="0" i="0" u="none" strike="noStrike" kern="1200" cap="none" spc="0" normalizeH="0" baseline="0" noProof="0" dirty="0">
                <a:ln>
                  <a:noFill/>
                </a:ln>
                <a:solidFill>
                  <a:srgbClr val="8A97A3"/>
                </a:solidFill>
                <a:effectLst/>
                <a:uLnTx/>
                <a:uFillTx/>
                <a:latin typeface="Consolas" pitchFamily="34" charset="0"/>
                <a:ea typeface="Consolas" pitchFamily="34" charset="-122"/>
                <a:cs typeface="Consolas" pitchFamily="34" charset="-120"/>
              </a:rPr>
              <a:t>
</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output(</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msgSpeedRamp</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
</a:t>
            </a:r>
            <a:r>
              <a:rPr kumimoji="0" lang="en-US" sz="1100" b="0" i="0" u="none" strike="noStrike" kern="1200" cap="none" spc="0" normalizeH="0" baseline="0" noProof="0" dirty="0">
                <a:ln>
                  <a:noFill/>
                </a:ln>
                <a:solidFill>
                  <a:srgbClr val="8A97A3"/>
                </a:solidFill>
                <a:effectLst/>
                <a:uLnTx/>
                <a:uFillTx/>
                <a:latin typeface="Consolas" pitchFamily="34" charset="0"/>
                <a:ea typeface="Consolas" pitchFamily="34" charset="-122"/>
                <a:cs typeface="Consolas" pitchFamily="34" charset="-120"/>
              </a:rPr>
              <a:t>// SET_REG: 
</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void </a:t>
            </a:r>
            <a:r>
              <a:rPr kumimoji="0" lang="en-US" sz="1100" b="0" i="0" u="none" strike="noStrike" kern="1200" cap="none" spc="0" normalizeH="0" baseline="0" noProof="0" dirty="0" err="1">
                <a:ln>
                  <a:noFill/>
                </a:ln>
                <a:solidFill>
                  <a:srgbClr val="3CB4E6"/>
                </a:solidFill>
                <a:effectLst/>
                <a:uLnTx/>
                <a:uFillTx/>
                <a:latin typeface="Consolas" pitchFamily="34" charset="0"/>
                <a:ea typeface="Consolas" pitchFamily="34" charset="-122"/>
                <a:cs typeface="Consolas" pitchFamily="34" charset="-120"/>
              </a:rPr>
              <a:t>send_pi_message</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(word </a:t>
            </a:r>
            <a:r>
              <a:rPr kumimoji="0" lang="en-US" sz="1100" b="0" i="0" u="none" strike="noStrike" kern="1200" cap="none" spc="0" normalizeH="0" baseline="0" noProof="0" dirty="0" err="1">
                <a:ln>
                  <a:noFill/>
                </a:ln>
                <a:solidFill>
                  <a:srgbClr val="3CB4E6"/>
                </a:solidFill>
                <a:effectLst/>
                <a:uLnTx/>
                <a:uFillTx/>
                <a:latin typeface="Consolas" pitchFamily="34" charset="0"/>
                <a:ea typeface="Consolas" pitchFamily="34" charset="-122"/>
                <a:cs typeface="Consolas" pitchFamily="34" charset="-120"/>
              </a:rPr>
              <a:t>reg_id</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 int </a:t>
            </a:r>
            <a:r>
              <a:rPr kumimoji="0" lang="en-US" sz="1100" b="0" i="0" u="none" strike="noStrike" kern="1200" cap="none" spc="0" normalizeH="0" baseline="0" noProof="0" dirty="0" err="1">
                <a:ln>
                  <a:noFill/>
                </a:ln>
                <a:solidFill>
                  <a:srgbClr val="3CB4E6"/>
                </a:solidFill>
                <a:effectLst/>
                <a:uLnTx/>
                <a:uFillTx/>
                <a:latin typeface="Consolas" pitchFamily="34" charset="0"/>
                <a:ea typeface="Consolas" pitchFamily="34" charset="-122"/>
                <a:cs typeface="Consolas" pitchFamily="34" charset="-120"/>
              </a:rPr>
              <a:t>val</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 int </a:t>
            </a:r>
            <a:r>
              <a:rPr kumimoji="0" lang="en-US" sz="1100" b="0" i="0" u="none" strike="noStrike" kern="1200" cap="none" spc="0" normalizeH="0" baseline="0" noProof="0" dirty="0" err="1">
                <a:ln>
                  <a:noFill/>
                </a:ln>
                <a:solidFill>
                  <a:srgbClr val="3CB4E6"/>
                </a:solidFill>
                <a:effectLst/>
                <a:uLnTx/>
                <a:uFillTx/>
                <a:latin typeface="Consolas" pitchFamily="34" charset="0"/>
                <a:ea typeface="Consolas" pitchFamily="34" charset="-122"/>
                <a:cs typeface="Consolas" pitchFamily="34" charset="-120"/>
              </a:rPr>
              <a:t>denom</a:t>
            </a:r>
            <a:r>
              <a:rPr kumimoji="0" lang="en-US" sz="1100" b="0" i="0" u="none" strike="noStrike" kern="1200" cap="none" spc="0" normalizeH="0" baseline="0" noProof="0" dirty="0">
                <a:ln>
                  <a:noFill/>
                </a:ln>
                <a:solidFill>
                  <a:srgbClr val="3CB4E6"/>
                </a:solidFill>
                <a:effectLst/>
                <a:uLnTx/>
                <a:uFillTx/>
                <a:latin typeface="Consolas" pitchFamily="34" charset="0"/>
                <a:ea typeface="Consolas" pitchFamily="34" charset="-122"/>
                <a:cs typeface="Consolas" pitchFamily="34" charset="-120"/>
              </a:rPr>
              <a:t>)
</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message SET_REG msg;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msg.REGISTER_ID</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reg_id</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msg.REGISTER_VALUE</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val</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msg.REGISTER_VALUE_DENOM</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 </a:t>
            </a:r>
            <a:r>
              <a:rPr kumimoji="0" lang="en-US" sz="1100" b="0" i="0" u="none" strike="noStrike" kern="1200" cap="none" spc="0" normalizeH="0" baseline="0" noProof="0" dirty="0" err="1">
                <a:ln>
                  <a:noFill/>
                </a:ln>
                <a:solidFill>
                  <a:srgbClr val="FFFFFF"/>
                </a:solidFill>
                <a:effectLst/>
                <a:uLnTx/>
                <a:uFillTx/>
                <a:latin typeface="Consolas" pitchFamily="34" charset="0"/>
                <a:ea typeface="Consolas" pitchFamily="34" charset="-122"/>
                <a:cs typeface="Consolas" pitchFamily="34" charset="-120"/>
              </a:rPr>
              <a:t>denom</a:t>
            </a: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
  output(msg);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5">
            <a:extLst>
              <a:ext uri="{FF2B5EF4-FFF2-40B4-BE49-F238E27FC236}">
                <a16:creationId xmlns:a16="http://schemas.microsoft.com/office/drawing/2014/main" id="{9874BAF9-65FD-10EC-E659-A55346F8271C}"/>
              </a:ext>
            </a:extLst>
          </p:cNvPr>
          <p:cNvSpPr/>
          <p:nvPr/>
        </p:nvSpPr>
        <p:spPr>
          <a:xfrm>
            <a:off x="7290262" y="1899873"/>
            <a:ext cx="4555375" cy="4059936"/>
          </a:xfrm>
          <a:prstGeom prst="rect">
            <a:avLst/>
          </a:prstGeom>
          <a:noFill/>
          <a:ln/>
        </p:spPr>
        <p:txBody>
          <a:bodyPr wrap="square" rtlCol="0" anchor="t"/>
          <a:lstStyle/>
          <a:p>
            <a:pPr>
              <a:lnSpc>
                <a:spcPct val="115000"/>
              </a:lnSpc>
              <a:spcAft>
                <a:spcPts val="800"/>
              </a:spcAft>
              <a:buNone/>
            </a:pPr>
            <a:r>
              <a:rPr lang="en-US" sz="1300" dirty="0">
                <a:solidFill>
                  <a:srgbClr val="8A97A3"/>
                </a:solidFill>
                <a:latin typeface="Consolas" pitchFamily="34" charset="0"/>
                <a:ea typeface="Consolas" pitchFamily="34" charset="-122"/>
                <a:cs typeface="Consolas" pitchFamily="34" charset="-120"/>
              </a:rPr>
              <a:t>// CAPL: DIAGNOSTICA
</a:t>
            </a:r>
            <a:r>
              <a:rPr lang="en-US" sz="1300" dirty="0">
                <a:solidFill>
                  <a:srgbClr val="3CB4E6"/>
                </a:solidFill>
                <a:latin typeface="Consolas" panose="020B0609020204030204" pitchFamily="49" charset="0"/>
                <a:ea typeface="Consolas" pitchFamily="34" charset="-122"/>
                <a:cs typeface="Consolas" pitchFamily="34" charset="-120"/>
              </a:rPr>
              <a:t>on </a:t>
            </a:r>
            <a:r>
              <a:rPr lang="en-US" sz="1300" dirty="0" err="1">
                <a:solidFill>
                  <a:srgbClr val="3CB4E6"/>
                </a:solidFill>
                <a:latin typeface="Consolas" panose="020B0609020204030204" pitchFamily="49" charset="0"/>
                <a:ea typeface="Consolas" pitchFamily="34" charset="-122"/>
                <a:cs typeface="Consolas" pitchFamily="34" charset="-120"/>
              </a:rPr>
              <a:t>sysvar</a:t>
            </a:r>
            <a:r>
              <a:rPr lang="en-US" sz="1300" dirty="0">
                <a:solidFill>
                  <a:srgbClr val="3CB4E6"/>
                </a:solidFill>
                <a:latin typeface="Consolas" panose="020B0609020204030204" pitchFamily="49" charset="0"/>
                <a:ea typeface="Consolas" pitchFamily="34" charset="-122"/>
                <a:cs typeface="Consolas" pitchFamily="34" charset="-120"/>
              </a:rPr>
              <a:t> SET_SPEED_RAMP::SET_RAMP
</a:t>
            </a:r>
            <a:r>
              <a:rPr lang="en-US" sz="1300" dirty="0">
                <a:solidFill>
                  <a:schemeClr val="bg1"/>
                </a:solidFill>
                <a:latin typeface="Consolas" panose="020B0609020204030204" pitchFamily="49" charset="0"/>
                <a:ea typeface="Consolas" pitchFamily="34" charset="-122"/>
                <a:cs typeface="Consolas" pitchFamily="34" charset="-120"/>
              </a:rPr>
              <a:t>{
</a:t>
            </a: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on message DIAG_TORQUE_REF</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  @DIAG_MESSAGES::TORQUE_REF = </a:t>
            </a:r>
            <a:r>
              <a:rPr lang="en-US" sz="1300" kern="100" dirty="0" err="1">
                <a:solidFill>
                  <a:schemeClr val="bg1"/>
                </a:solidFill>
                <a:effectLst/>
                <a:latin typeface="Consolas" panose="020B0609020204030204" pitchFamily="49" charset="0"/>
                <a:ea typeface="Aptos" panose="020B0004020202020204" pitchFamily="34" charset="0"/>
                <a:cs typeface="Times New Roman" panose="02020603050405020304" pitchFamily="18" charset="0"/>
              </a:rPr>
              <a:t>this.DWord</a:t>
            </a: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(0);</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 </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rgbClr val="00B0F0"/>
                </a:solidFill>
                <a:effectLst/>
                <a:latin typeface="Consolas" panose="020B0609020204030204" pitchFamily="49" charset="0"/>
                <a:ea typeface="Aptos" panose="020B0004020202020204" pitchFamily="34" charset="0"/>
                <a:cs typeface="Times New Roman" panose="02020603050405020304" pitchFamily="18" charset="0"/>
              </a:rPr>
              <a:t>on message REG_VALUE</a:t>
            </a:r>
            <a:endParaRPr lang="it-IT" sz="1300" kern="100" dirty="0">
              <a:solidFill>
                <a:srgbClr val="00B0F0"/>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  @GET_REG::K_num = </a:t>
            </a:r>
            <a:r>
              <a:rPr lang="en-US" sz="1300" kern="100" dirty="0" err="1">
                <a:solidFill>
                  <a:schemeClr val="bg1"/>
                </a:solidFill>
                <a:effectLst/>
                <a:latin typeface="Consolas" panose="020B0609020204030204" pitchFamily="49" charset="0"/>
                <a:ea typeface="Aptos" panose="020B0004020202020204" pitchFamily="34" charset="0"/>
                <a:cs typeface="Times New Roman" panose="02020603050405020304" pitchFamily="18" charset="0"/>
              </a:rPr>
              <a:t>this.GET_K_NUMERATOR</a:t>
            </a: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  @GET_REG::K_den = </a:t>
            </a:r>
            <a:r>
              <a:rPr lang="en-US" sz="1300" kern="100" dirty="0" err="1">
                <a:solidFill>
                  <a:schemeClr val="bg1"/>
                </a:solidFill>
                <a:effectLst/>
                <a:latin typeface="Consolas" panose="020B0609020204030204" pitchFamily="49" charset="0"/>
                <a:ea typeface="Aptos" panose="020B0004020202020204" pitchFamily="34" charset="0"/>
                <a:cs typeface="Times New Roman" panose="02020603050405020304" pitchFamily="18" charset="0"/>
              </a:rPr>
              <a:t>this.GET_K_DENOMINATOR</a:t>
            </a: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a:lnSpc>
                <a:spcPct val="115000"/>
              </a:lnSpc>
              <a:spcAft>
                <a:spcPts val="800"/>
              </a:spcAft>
              <a:buNone/>
            </a:pPr>
            <a:r>
              <a:rPr lang="en-US"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rPr>
              <a:t>}</a:t>
            </a:r>
            <a:endParaRPr lang="it-IT" sz="130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p>
            <a:pPr marL="0" indent="0">
              <a:lnSpc>
                <a:spcPct val="100000"/>
              </a:lnSpc>
              <a:buNone/>
            </a:pPr>
            <a:endParaRPr lang="en-US" sz="1300" dirty="0"/>
          </a:p>
        </p:txBody>
      </p:sp>
      <p:sp>
        <p:nvSpPr>
          <p:cNvPr id="5" name="Text 0">
            <a:extLst>
              <a:ext uri="{FF2B5EF4-FFF2-40B4-BE49-F238E27FC236}">
                <a16:creationId xmlns:a16="http://schemas.microsoft.com/office/drawing/2014/main" id="{25581BBE-C4B9-D1F3-A082-9F63848523E4}"/>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764567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E92E-8F1D-05F4-C620-2BD0DAEEB522}"/>
            </a:ext>
          </a:extLst>
        </p:cNvPr>
        <p:cNvGrpSpPr/>
        <p:nvPr/>
      </p:nvGrpSpPr>
      <p:grpSpPr>
        <a:xfrm>
          <a:off x="0" y="0"/>
          <a:ext cx="0" cy="0"/>
          <a:chOff x="0" y="0"/>
          <a:chExt cx="0" cy="0"/>
        </a:xfrm>
      </p:grpSpPr>
      <p:sp>
        <p:nvSpPr>
          <p:cNvPr id="2" name="Titolo 2">
            <a:extLst>
              <a:ext uri="{FF2B5EF4-FFF2-40B4-BE49-F238E27FC236}">
                <a16:creationId xmlns:a16="http://schemas.microsoft.com/office/drawing/2014/main" id="{779AF3F8-AB06-0501-F55D-060E2EAEFE70}"/>
              </a:ext>
            </a:extLst>
          </p:cNvPr>
          <p:cNvSpPr>
            <a:spLocks noGrp="1"/>
          </p:cNvSpPr>
          <p:nvPr>
            <p:ph type="title"/>
          </p:nvPr>
        </p:nvSpPr>
        <p:spPr>
          <a:xfrm>
            <a:off x="300037" y="-1"/>
            <a:ext cx="11609159" cy="1304925"/>
          </a:xfrm>
        </p:spPr>
        <p:txBody>
          <a:bodyPr/>
          <a:lstStyle/>
          <a:p>
            <a:r>
              <a:rPr lang="en-US" b="1" dirty="0">
                <a:solidFill>
                  <a:srgbClr val="03234B"/>
                </a:solidFill>
                <a:latin typeface="Calibri" pitchFamily="34" charset="0"/>
                <a:ea typeface="Calibri" pitchFamily="34" charset="-122"/>
                <a:cs typeface="Calibri" pitchFamily="34" charset="-120"/>
              </a:rPr>
              <a:t>Motor Control Panel</a:t>
            </a:r>
            <a:endParaRPr lang="it-IT" dirty="0"/>
          </a:p>
        </p:txBody>
      </p:sp>
      <p:sp>
        <p:nvSpPr>
          <p:cNvPr id="5" name="Text 3">
            <a:extLst>
              <a:ext uri="{FF2B5EF4-FFF2-40B4-BE49-F238E27FC236}">
                <a16:creationId xmlns:a16="http://schemas.microsoft.com/office/drawing/2014/main" id="{DBB156A0-B4D9-F780-1251-6B05E0FD5084}"/>
              </a:ext>
            </a:extLst>
          </p:cNvPr>
          <p:cNvSpPr txBox="1"/>
          <p:nvPr/>
        </p:nvSpPr>
        <p:spPr>
          <a:xfrm>
            <a:off x="550163" y="1435825"/>
            <a:ext cx="11753537" cy="1533983"/>
          </a:xfrm>
          <a:prstGeom prst="rect">
            <a:avLst/>
          </a:prstGeom>
          <a:noFill/>
          <a:ln/>
        </p:spPr>
        <p:txBody>
          <a:bodyPr wrap="square" lIns="0" tIns="0" rIns="0" bIns="0" rtlCol="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buFont typeface="Arial" pitchFamily="34" charset="0"/>
              <a:buChar char="•"/>
            </a:pPr>
            <a:r>
              <a:rPr lang="en-US" sz="1600" b="1" dirty="0">
                <a:solidFill>
                  <a:srgbClr val="16212B"/>
                </a:solidFill>
                <a:latin typeface="Calibri" pitchFamily="34" charset="0"/>
                <a:ea typeface="Calibri" pitchFamily="34" charset="-122"/>
                <a:cs typeface="Calibri" pitchFamily="34" charset="-120"/>
              </a:rPr>
              <a:t>CAN Bus: </a:t>
            </a:r>
            <a:r>
              <a:rPr lang="en-US" sz="1600" dirty="0">
                <a:solidFill>
                  <a:srgbClr val="16212B"/>
                </a:solidFill>
                <a:latin typeface="Calibri" pitchFamily="34" charset="0"/>
                <a:ea typeface="Calibri" pitchFamily="34" charset="-122"/>
                <a:cs typeface="Calibri" pitchFamily="34" charset="-120"/>
              </a:rPr>
              <a:t>Connection status displayed in the top panel</a:t>
            </a:r>
            <a:r>
              <a:rPr lang="en-US" sz="1600" b="1" dirty="0">
                <a:solidFill>
                  <a:srgbClr val="16212B"/>
                </a:solidFill>
                <a:latin typeface="Calibri" pitchFamily="34" charset="0"/>
                <a:ea typeface="Calibri" pitchFamily="34" charset="-122"/>
                <a:cs typeface="Calibri" pitchFamily="34" charset="-120"/>
              </a:rPr>
              <a:t>
Start Motor / Stop Motor: </a:t>
            </a:r>
            <a:r>
              <a:rPr lang="en-US" sz="1600" dirty="0">
                <a:solidFill>
                  <a:srgbClr val="16212B"/>
                </a:solidFill>
                <a:latin typeface="Calibri" pitchFamily="34" charset="0"/>
                <a:ea typeface="Calibri" pitchFamily="34" charset="-122"/>
                <a:cs typeface="Calibri" pitchFamily="34" charset="-120"/>
              </a:rPr>
              <a:t>Motor start and stop commands</a:t>
            </a:r>
            <a:r>
              <a:rPr lang="en-US" sz="1600" b="1" dirty="0">
                <a:solidFill>
                  <a:srgbClr val="16212B"/>
                </a:solidFill>
                <a:latin typeface="Calibri" pitchFamily="34" charset="0"/>
                <a:ea typeface="Calibri" pitchFamily="34" charset="-122"/>
                <a:cs typeface="Calibri" pitchFamily="34" charset="-120"/>
              </a:rPr>
              <a:t>
Temperature / DC Bus Voltage: </a:t>
            </a:r>
            <a:r>
              <a:rPr lang="en-US" sz="1600" dirty="0">
                <a:solidFill>
                  <a:srgbClr val="16212B"/>
                </a:solidFill>
                <a:latin typeface="Calibri" pitchFamily="34" charset="0"/>
                <a:ea typeface="Calibri" pitchFamily="34" charset="-122"/>
                <a:cs typeface="Calibri" pitchFamily="34" charset="-120"/>
              </a:rPr>
              <a:t>Real-time DC bus temperature and voltage</a:t>
            </a:r>
            <a:r>
              <a:rPr lang="en-US" sz="1600" b="1" dirty="0">
                <a:solidFill>
                  <a:srgbClr val="16212B"/>
                </a:solidFill>
                <a:latin typeface="Calibri" pitchFamily="34" charset="0"/>
                <a:ea typeface="Calibri" pitchFamily="34" charset="-122"/>
                <a:cs typeface="Calibri" pitchFamily="34" charset="-120"/>
              </a:rPr>
              <a:t>
MC State / Reset Fault: </a:t>
            </a:r>
            <a:r>
              <a:rPr lang="en-US" sz="1600" dirty="0">
                <a:solidFill>
                  <a:srgbClr val="16212B"/>
                </a:solidFill>
                <a:latin typeface="Calibri" pitchFamily="34" charset="0"/>
                <a:ea typeface="Calibri" pitchFamily="34" charset="-122"/>
                <a:cs typeface="Calibri" pitchFamily="34" charset="-120"/>
              </a:rPr>
              <a:t>Controller Status and Fault Management</a:t>
            </a:r>
            <a:endParaRPr lang="en-US" sz="1600" dirty="0"/>
          </a:p>
        </p:txBody>
      </p:sp>
      <p:pic>
        <p:nvPicPr>
          <p:cNvPr id="8" name="Image 2">
            <a:extLst>
              <a:ext uri="{FF2B5EF4-FFF2-40B4-BE49-F238E27FC236}">
                <a16:creationId xmlns:a16="http://schemas.microsoft.com/office/drawing/2014/main" id="{F4E40354-DAAD-4E3B-ED74-4F564BBDBA23}"/>
              </a:ext>
            </a:extLst>
          </p:cNvPr>
          <p:cNvPicPr>
            <a:picLocks noChangeAspect="1"/>
          </p:cNvPicPr>
          <p:nvPr/>
        </p:nvPicPr>
        <p:blipFill>
          <a:blip r:embed="rId2"/>
          <a:stretch>
            <a:fillRect/>
          </a:stretch>
        </p:blipFill>
        <p:spPr>
          <a:xfrm>
            <a:off x="383340" y="3574082"/>
            <a:ext cx="11596740" cy="2044005"/>
          </a:xfrm>
          <a:prstGeom prst="rect">
            <a:avLst/>
          </a:prstGeom>
        </p:spPr>
      </p:pic>
      <p:sp>
        <p:nvSpPr>
          <p:cNvPr id="6" name="Text 0">
            <a:extLst>
              <a:ext uri="{FF2B5EF4-FFF2-40B4-BE49-F238E27FC236}">
                <a16:creationId xmlns:a16="http://schemas.microsoft.com/office/drawing/2014/main" id="{487C3C84-C7CD-1DF9-68B7-471D4BC154CC}"/>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3279070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1FC6A-4B0C-1C58-BA45-4D11DB37B5C0}"/>
            </a:ext>
          </a:extLst>
        </p:cNvPr>
        <p:cNvGrpSpPr/>
        <p:nvPr/>
      </p:nvGrpSpPr>
      <p:grpSpPr>
        <a:xfrm>
          <a:off x="0" y="0"/>
          <a:ext cx="0" cy="0"/>
          <a:chOff x="0" y="0"/>
          <a:chExt cx="0" cy="0"/>
        </a:xfrm>
      </p:grpSpPr>
      <p:sp>
        <p:nvSpPr>
          <p:cNvPr id="5" name="Titolo 2">
            <a:extLst>
              <a:ext uri="{FF2B5EF4-FFF2-40B4-BE49-F238E27FC236}">
                <a16:creationId xmlns:a16="http://schemas.microsoft.com/office/drawing/2014/main" id="{5C5280CB-3E36-9EA6-4674-0D08EA089932}"/>
              </a:ext>
            </a:extLst>
          </p:cNvPr>
          <p:cNvSpPr>
            <a:spLocks noGrp="1"/>
          </p:cNvSpPr>
          <p:nvPr>
            <p:ph type="title"/>
          </p:nvPr>
        </p:nvSpPr>
        <p:spPr>
          <a:xfrm>
            <a:off x="300037" y="-1"/>
            <a:ext cx="11609159" cy="1304925"/>
          </a:xfrm>
        </p:spPr>
        <p:txBody>
          <a:bodyPr/>
          <a:lstStyle/>
          <a:p>
            <a:r>
              <a:rPr lang="en-US" b="1" dirty="0">
                <a:solidFill>
                  <a:srgbClr val="03234B"/>
                </a:solidFill>
                <a:latin typeface="Calibri" pitchFamily="34" charset="0"/>
                <a:ea typeface="Calibri" pitchFamily="34" charset="-122"/>
                <a:cs typeface="Calibri" pitchFamily="34" charset="-120"/>
              </a:rPr>
              <a:t>Tab Speed Control</a:t>
            </a:r>
            <a:endParaRPr lang="it-IT" dirty="0"/>
          </a:p>
        </p:txBody>
      </p:sp>
      <p:sp>
        <p:nvSpPr>
          <p:cNvPr id="7" name="Text 3">
            <a:extLst>
              <a:ext uri="{FF2B5EF4-FFF2-40B4-BE49-F238E27FC236}">
                <a16:creationId xmlns:a16="http://schemas.microsoft.com/office/drawing/2014/main" id="{7183C5B1-A337-8D09-5320-4B318EC2E5E8}"/>
              </a:ext>
            </a:extLst>
          </p:cNvPr>
          <p:cNvSpPr txBox="1"/>
          <p:nvPr/>
        </p:nvSpPr>
        <p:spPr>
          <a:xfrm>
            <a:off x="550164" y="1074420"/>
            <a:ext cx="11091672" cy="1188720"/>
          </a:xfrm>
          <a:prstGeom prst="rect">
            <a:avLst/>
          </a:prstGeom>
          <a:noFill/>
          <a:ln/>
        </p:spPr>
        <p:txBody>
          <a:bodyPr wrap="square" lIns="0" tIns="0" rIns="0" bIns="0" rtlCol="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00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Final Velocity (RPM):  </a:t>
            </a:r>
            <a:r>
              <a:rPr lang="en-US" dirty="0">
                <a:solidFill>
                  <a:srgbClr val="16212B"/>
                </a:solidFill>
                <a:latin typeface="Calibri" pitchFamily="34" charset="0"/>
                <a:ea typeface="Calibri" pitchFamily="34" charset="-122"/>
                <a:cs typeface="Calibri" pitchFamily="34" charset="-120"/>
              </a:rPr>
              <a:t>Final speed SET</a:t>
            </a:r>
            <a:endParaRPr lang="en-US" dirty="0"/>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Ramp Duration (</a:t>
            </a:r>
            <a:r>
              <a:rPr lang="en-US" b="1" dirty="0" err="1">
                <a:solidFill>
                  <a:srgbClr val="16212B"/>
                </a:solidFill>
                <a:latin typeface="Calibri" pitchFamily="34" charset="0"/>
                <a:ea typeface="Calibri" pitchFamily="34" charset="-122"/>
                <a:cs typeface="Calibri" pitchFamily="34" charset="-120"/>
              </a:rPr>
              <a:t>ms</a:t>
            </a:r>
            <a:r>
              <a:rPr lang="en-US" b="1" dirty="0">
                <a:solidFill>
                  <a:srgbClr val="16212B"/>
                </a:solidFill>
                <a:latin typeface="Calibri" pitchFamily="34" charset="0"/>
                <a:ea typeface="Calibri" pitchFamily="34" charset="-122"/>
                <a:cs typeface="Calibri" pitchFamily="34" charset="-120"/>
              </a:rPr>
              <a:t>): </a:t>
            </a:r>
            <a:r>
              <a:rPr lang="en-US" dirty="0">
                <a:solidFill>
                  <a:srgbClr val="16212B"/>
                </a:solidFill>
                <a:latin typeface="Calibri" pitchFamily="34" charset="0"/>
                <a:ea typeface="Calibri" pitchFamily="34" charset="-122"/>
                <a:cs typeface="Calibri" pitchFamily="34" charset="-120"/>
              </a:rPr>
              <a:t>Duration of the ramp SET</a:t>
            </a:r>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Apply Speed Ramp: </a:t>
            </a:r>
            <a:r>
              <a:rPr lang="en-US" dirty="0">
                <a:solidFill>
                  <a:srgbClr val="16212B"/>
                </a:solidFill>
                <a:latin typeface="Calibri" pitchFamily="34" charset="0"/>
                <a:ea typeface="Calibri" pitchFamily="34" charset="-122"/>
                <a:cs typeface="Calibri" pitchFamily="34" charset="-120"/>
              </a:rPr>
              <a:t>Apply the set values to the Motor</a:t>
            </a:r>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Gauge: </a:t>
            </a:r>
            <a:r>
              <a:rPr lang="en-US" dirty="0">
                <a:solidFill>
                  <a:srgbClr val="16212B"/>
                </a:solidFill>
                <a:latin typeface="Calibri" pitchFamily="34" charset="0"/>
                <a:ea typeface="Calibri" pitchFamily="34" charset="-122"/>
                <a:cs typeface="Calibri" pitchFamily="34" charset="-120"/>
              </a:rPr>
              <a:t>shows real-time reference value (REF) and current value (ACT)</a:t>
            </a:r>
            <a:endParaRPr lang="en-US" dirty="0"/>
          </a:p>
        </p:txBody>
      </p:sp>
      <p:pic>
        <p:nvPicPr>
          <p:cNvPr id="8" name="Image 2">
            <a:extLst>
              <a:ext uri="{FF2B5EF4-FFF2-40B4-BE49-F238E27FC236}">
                <a16:creationId xmlns:a16="http://schemas.microsoft.com/office/drawing/2014/main" id="{FF05D8CF-DA50-99D1-3F35-B0A573498B9A}"/>
              </a:ext>
            </a:extLst>
          </p:cNvPr>
          <p:cNvPicPr>
            <a:picLocks noChangeAspect="1"/>
          </p:cNvPicPr>
          <p:nvPr/>
        </p:nvPicPr>
        <p:blipFill>
          <a:blip r:embed="rId2"/>
          <a:stretch>
            <a:fillRect/>
          </a:stretch>
        </p:blipFill>
        <p:spPr>
          <a:xfrm>
            <a:off x="2687059" y="2491740"/>
            <a:ext cx="6820625" cy="3291840"/>
          </a:xfrm>
          <a:prstGeom prst="rect">
            <a:avLst/>
          </a:prstGeom>
        </p:spPr>
      </p:pic>
      <p:sp>
        <p:nvSpPr>
          <p:cNvPr id="3" name="Text 0">
            <a:extLst>
              <a:ext uri="{FF2B5EF4-FFF2-40B4-BE49-F238E27FC236}">
                <a16:creationId xmlns:a16="http://schemas.microsoft.com/office/drawing/2014/main" id="{0E93D2AD-1554-FCD1-187B-77AC8BC3FFB4}"/>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3512339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743EB-3528-190A-F7CD-1478205D5D10}"/>
            </a:ext>
          </a:extLst>
        </p:cNvPr>
        <p:cNvGrpSpPr/>
        <p:nvPr/>
      </p:nvGrpSpPr>
      <p:grpSpPr>
        <a:xfrm>
          <a:off x="0" y="0"/>
          <a:ext cx="0" cy="0"/>
          <a:chOff x="0" y="0"/>
          <a:chExt cx="0" cy="0"/>
        </a:xfrm>
      </p:grpSpPr>
      <p:sp>
        <p:nvSpPr>
          <p:cNvPr id="2" name="Titolo 2">
            <a:extLst>
              <a:ext uri="{FF2B5EF4-FFF2-40B4-BE49-F238E27FC236}">
                <a16:creationId xmlns:a16="http://schemas.microsoft.com/office/drawing/2014/main" id="{BF88DFD3-5E4C-AFBC-E04D-A0F337BB044A}"/>
              </a:ext>
            </a:extLst>
          </p:cNvPr>
          <p:cNvSpPr>
            <a:spLocks noGrp="1"/>
          </p:cNvSpPr>
          <p:nvPr>
            <p:ph type="title"/>
          </p:nvPr>
        </p:nvSpPr>
        <p:spPr>
          <a:xfrm>
            <a:off x="300037" y="-1"/>
            <a:ext cx="11609159" cy="1304925"/>
          </a:xfrm>
        </p:spPr>
        <p:txBody>
          <a:bodyPr/>
          <a:lstStyle/>
          <a:p>
            <a:r>
              <a:rPr lang="en-US" b="1" dirty="0">
                <a:solidFill>
                  <a:srgbClr val="03234B"/>
                </a:solidFill>
                <a:latin typeface="Calibri" pitchFamily="34" charset="0"/>
                <a:ea typeface="Calibri" pitchFamily="34" charset="-122"/>
                <a:cs typeface="Calibri" pitchFamily="34" charset="-120"/>
              </a:rPr>
              <a:t>PI Controller</a:t>
            </a:r>
            <a:endParaRPr lang="it-IT" dirty="0"/>
          </a:p>
        </p:txBody>
      </p:sp>
      <p:sp>
        <p:nvSpPr>
          <p:cNvPr id="5" name="Text 3">
            <a:extLst>
              <a:ext uri="{FF2B5EF4-FFF2-40B4-BE49-F238E27FC236}">
                <a16:creationId xmlns:a16="http://schemas.microsoft.com/office/drawing/2014/main" id="{00E310ED-990B-28B2-D8D5-A1C802D6BE26}"/>
              </a:ext>
            </a:extLst>
          </p:cNvPr>
          <p:cNvSpPr txBox="1"/>
          <p:nvPr/>
        </p:nvSpPr>
        <p:spPr>
          <a:xfrm>
            <a:off x="300037" y="1304924"/>
            <a:ext cx="11091672" cy="1188720"/>
          </a:xfrm>
          <a:prstGeom prst="rect">
            <a:avLst/>
          </a:prstGeom>
          <a:noFill/>
          <a:ln/>
        </p:spPr>
        <p:txBody>
          <a:bodyPr wrap="square" lIns="0" tIns="0" rIns="0" bIns="0" rtlCol="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Speed / Flux / Torque Regulator: </a:t>
            </a:r>
            <a:r>
              <a:rPr lang="en-US" dirty="0">
                <a:solidFill>
                  <a:srgbClr val="16212B"/>
                </a:solidFill>
                <a:latin typeface="Calibri" pitchFamily="34" charset="0"/>
                <a:ea typeface="Calibri" pitchFamily="34" charset="-122"/>
                <a:cs typeface="Calibri" pitchFamily="34" charset="-120"/>
              </a:rPr>
              <a:t>Sections for the three control loops</a:t>
            </a:r>
            <a:endParaRPr lang="en-US" dirty="0"/>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Kp / Ki: </a:t>
            </a:r>
            <a:r>
              <a:rPr lang="en-US" dirty="0">
                <a:solidFill>
                  <a:srgbClr val="16212B"/>
                </a:solidFill>
                <a:latin typeface="Calibri" pitchFamily="34" charset="0"/>
                <a:ea typeface="Calibri" pitchFamily="34" charset="-122"/>
                <a:cs typeface="Calibri" pitchFamily="34" charset="-120"/>
              </a:rPr>
              <a:t>proportional and integral gains of each ring</a:t>
            </a:r>
            <a:endParaRPr lang="en-US" dirty="0"/>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Num / Den POW2: </a:t>
            </a:r>
            <a:r>
              <a:rPr lang="en-US" dirty="0">
                <a:solidFill>
                  <a:srgbClr val="16212B"/>
                </a:solidFill>
                <a:latin typeface="Calibri" pitchFamily="34" charset="0"/>
                <a:ea typeface="Calibri" pitchFamily="34" charset="-122"/>
                <a:cs typeface="Calibri" pitchFamily="34" charset="-120"/>
              </a:rPr>
              <a:t>numerator and denominator (power of 2) of each controller</a:t>
            </a:r>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Set: </a:t>
            </a:r>
            <a:r>
              <a:rPr lang="en-US" dirty="0">
                <a:solidFill>
                  <a:srgbClr val="16212B"/>
                </a:solidFill>
                <a:latin typeface="Calibri" pitchFamily="34" charset="0"/>
                <a:ea typeface="Calibri" pitchFamily="34" charset="-122"/>
                <a:cs typeface="Calibri" pitchFamily="34" charset="-120"/>
              </a:rPr>
              <a:t>Apply set values</a:t>
            </a:r>
            <a:endParaRPr lang="en-US" dirty="0"/>
          </a:p>
        </p:txBody>
      </p:sp>
      <p:pic>
        <p:nvPicPr>
          <p:cNvPr id="7" name="Immagine 6">
            <a:extLst>
              <a:ext uri="{FF2B5EF4-FFF2-40B4-BE49-F238E27FC236}">
                <a16:creationId xmlns:a16="http://schemas.microsoft.com/office/drawing/2014/main" id="{28B49A49-7952-CAED-F16A-3D509C456C49}"/>
              </a:ext>
            </a:extLst>
          </p:cNvPr>
          <p:cNvPicPr>
            <a:picLocks noChangeAspect="1"/>
          </p:cNvPicPr>
          <p:nvPr/>
        </p:nvPicPr>
        <p:blipFill>
          <a:blip r:embed="rId2"/>
          <a:stretch>
            <a:fillRect/>
          </a:stretch>
        </p:blipFill>
        <p:spPr>
          <a:xfrm>
            <a:off x="1797779" y="2777590"/>
            <a:ext cx="8096188" cy="3173533"/>
          </a:xfrm>
          <a:prstGeom prst="rect">
            <a:avLst/>
          </a:prstGeom>
        </p:spPr>
      </p:pic>
      <p:sp>
        <p:nvSpPr>
          <p:cNvPr id="6" name="Text 0">
            <a:extLst>
              <a:ext uri="{FF2B5EF4-FFF2-40B4-BE49-F238E27FC236}">
                <a16:creationId xmlns:a16="http://schemas.microsoft.com/office/drawing/2014/main" id="{0E074830-C535-634A-A798-9BC236EFA3CC}"/>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101644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3394-38B2-EB99-9CCD-FED4CBB14C64}"/>
            </a:ext>
          </a:extLst>
        </p:cNvPr>
        <p:cNvGrpSpPr/>
        <p:nvPr/>
      </p:nvGrpSpPr>
      <p:grpSpPr>
        <a:xfrm>
          <a:off x="0" y="0"/>
          <a:ext cx="0" cy="0"/>
          <a:chOff x="0" y="0"/>
          <a:chExt cx="0" cy="0"/>
        </a:xfrm>
      </p:grpSpPr>
      <p:sp>
        <p:nvSpPr>
          <p:cNvPr id="2" name="Titolo 2">
            <a:extLst>
              <a:ext uri="{FF2B5EF4-FFF2-40B4-BE49-F238E27FC236}">
                <a16:creationId xmlns:a16="http://schemas.microsoft.com/office/drawing/2014/main" id="{823C3E51-5D2B-1F3E-BEEA-18C5A6B05969}"/>
              </a:ext>
            </a:extLst>
          </p:cNvPr>
          <p:cNvSpPr>
            <a:spLocks noGrp="1"/>
          </p:cNvSpPr>
          <p:nvPr>
            <p:ph type="title"/>
          </p:nvPr>
        </p:nvSpPr>
        <p:spPr>
          <a:xfrm>
            <a:off x="300037" y="-1"/>
            <a:ext cx="11609159" cy="1304925"/>
          </a:xfrm>
        </p:spPr>
        <p:txBody>
          <a:bodyPr/>
          <a:lstStyle/>
          <a:p>
            <a:r>
              <a:rPr lang="en-US" b="1" dirty="0">
                <a:solidFill>
                  <a:srgbClr val="03234B"/>
                </a:solidFill>
                <a:latin typeface="Calibri" pitchFamily="34" charset="0"/>
                <a:ea typeface="Calibri" pitchFamily="34" charset="-122"/>
                <a:cs typeface="Calibri" pitchFamily="34" charset="-120"/>
              </a:rPr>
              <a:t>Tab Current Control</a:t>
            </a:r>
            <a:endParaRPr lang="it-IT" dirty="0"/>
          </a:p>
        </p:txBody>
      </p:sp>
      <p:sp>
        <p:nvSpPr>
          <p:cNvPr id="5" name="Text 3">
            <a:extLst>
              <a:ext uri="{FF2B5EF4-FFF2-40B4-BE49-F238E27FC236}">
                <a16:creationId xmlns:a16="http://schemas.microsoft.com/office/drawing/2014/main" id="{93E219D5-99E1-A023-4C9F-C4D867CEA343}"/>
              </a:ext>
            </a:extLst>
          </p:cNvPr>
          <p:cNvSpPr txBox="1"/>
          <p:nvPr/>
        </p:nvSpPr>
        <p:spPr>
          <a:xfrm>
            <a:off x="550164" y="1165860"/>
            <a:ext cx="11091672" cy="1188720"/>
          </a:xfrm>
          <a:prstGeom prst="rect">
            <a:avLst/>
          </a:prstGeom>
          <a:noFill/>
          <a:ln/>
        </p:spPr>
        <p:txBody>
          <a:bodyPr wrap="square" lIns="0" tIns="0" rIns="0" bIns="0" rtlCol="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IQ Value (A): </a:t>
            </a:r>
            <a:r>
              <a:rPr lang="en-US" dirty="0">
                <a:solidFill>
                  <a:srgbClr val="16212B"/>
                </a:solidFill>
                <a:latin typeface="Calibri" pitchFamily="34" charset="0"/>
                <a:ea typeface="Calibri" pitchFamily="34" charset="-122"/>
                <a:cs typeface="Calibri" pitchFamily="34" charset="-120"/>
              </a:rPr>
              <a:t>Torque-producing current setpoint</a:t>
            </a:r>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ID Value (A): </a:t>
            </a:r>
            <a:r>
              <a:rPr lang="en-US" dirty="0">
                <a:solidFill>
                  <a:srgbClr val="16212B"/>
                </a:solidFill>
                <a:latin typeface="Calibri" pitchFamily="34" charset="0"/>
                <a:ea typeface="Calibri" pitchFamily="34" charset="-122"/>
                <a:cs typeface="Calibri" pitchFamily="34" charset="-120"/>
              </a:rPr>
              <a:t>Flux-producing current setpoint</a:t>
            </a:r>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IQ Ramp / ID Ramp: </a:t>
            </a:r>
            <a:r>
              <a:rPr lang="en-US" dirty="0">
                <a:solidFill>
                  <a:srgbClr val="16212B"/>
                </a:solidFill>
                <a:latin typeface="Calibri" pitchFamily="34" charset="0"/>
                <a:ea typeface="Calibri" pitchFamily="34" charset="-122"/>
                <a:cs typeface="Calibri" pitchFamily="34" charset="-120"/>
              </a:rPr>
              <a:t>Configurable independent ramps for each current component</a:t>
            </a:r>
            <a:endParaRPr lang="en-US" dirty="0"/>
          </a:p>
          <a:p>
            <a:pPr marL="228600" indent="-228600">
              <a:lnSpc>
                <a:spcPct val="100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Charts: </a:t>
            </a:r>
            <a:r>
              <a:rPr lang="en-US" dirty="0">
                <a:solidFill>
                  <a:srgbClr val="16212B"/>
                </a:solidFill>
                <a:latin typeface="Calibri" pitchFamily="34" charset="0"/>
                <a:ea typeface="Calibri" pitchFamily="34" charset="-122"/>
                <a:cs typeface="Calibri" pitchFamily="34" charset="-120"/>
              </a:rPr>
              <a:t>Real-time plot of reference and measured currents over time</a:t>
            </a:r>
            <a:endParaRPr lang="en-US" dirty="0"/>
          </a:p>
        </p:txBody>
      </p:sp>
      <p:pic>
        <p:nvPicPr>
          <p:cNvPr id="6" name="Image 2">
            <a:extLst>
              <a:ext uri="{FF2B5EF4-FFF2-40B4-BE49-F238E27FC236}">
                <a16:creationId xmlns:a16="http://schemas.microsoft.com/office/drawing/2014/main" id="{04C8F355-831E-C493-8044-E27D07820F7B}"/>
              </a:ext>
            </a:extLst>
          </p:cNvPr>
          <p:cNvPicPr>
            <a:picLocks noChangeAspect="1"/>
          </p:cNvPicPr>
          <p:nvPr/>
        </p:nvPicPr>
        <p:blipFill>
          <a:blip r:embed="rId2"/>
          <a:stretch>
            <a:fillRect/>
          </a:stretch>
        </p:blipFill>
        <p:spPr>
          <a:xfrm>
            <a:off x="2005719" y="2583180"/>
            <a:ext cx="8183305" cy="3108960"/>
          </a:xfrm>
          <a:prstGeom prst="rect">
            <a:avLst/>
          </a:prstGeom>
        </p:spPr>
      </p:pic>
      <p:sp>
        <p:nvSpPr>
          <p:cNvPr id="7" name="Text 0">
            <a:extLst>
              <a:ext uri="{FF2B5EF4-FFF2-40B4-BE49-F238E27FC236}">
                <a16:creationId xmlns:a16="http://schemas.microsoft.com/office/drawing/2014/main" id="{9FC48158-D04E-64B3-8136-7152BE7CBD28}"/>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42016460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8EEA3-312C-2DAE-0BB2-3609F2215DF6}"/>
            </a:ext>
          </a:extLst>
        </p:cNvPr>
        <p:cNvGrpSpPr/>
        <p:nvPr/>
      </p:nvGrpSpPr>
      <p:grpSpPr>
        <a:xfrm>
          <a:off x="0" y="0"/>
          <a:ext cx="0" cy="0"/>
          <a:chOff x="0" y="0"/>
          <a:chExt cx="0" cy="0"/>
        </a:xfrm>
      </p:grpSpPr>
      <p:sp>
        <p:nvSpPr>
          <p:cNvPr id="2" name="Titolo 2">
            <a:extLst>
              <a:ext uri="{FF2B5EF4-FFF2-40B4-BE49-F238E27FC236}">
                <a16:creationId xmlns:a16="http://schemas.microsoft.com/office/drawing/2014/main" id="{F2028596-806E-A1E6-C459-950567C78E3A}"/>
              </a:ext>
            </a:extLst>
          </p:cNvPr>
          <p:cNvSpPr>
            <a:spLocks noGrp="1"/>
          </p:cNvSpPr>
          <p:nvPr>
            <p:ph type="title"/>
          </p:nvPr>
        </p:nvSpPr>
        <p:spPr>
          <a:xfrm>
            <a:off x="300037" y="-1"/>
            <a:ext cx="11609159" cy="1304925"/>
          </a:xfrm>
        </p:spPr>
        <p:txBody>
          <a:bodyPr/>
          <a:lstStyle/>
          <a:p>
            <a:r>
              <a:rPr lang="en-US" b="1" dirty="0">
                <a:solidFill>
                  <a:srgbClr val="03234B"/>
                </a:solidFill>
                <a:latin typeface="Calibri" pitchFamily="34" charset="0"/>
                <a:ea typeface="Calibri" pitchFamily="34" charset="-122"/>
                <a:cs typeface="Calibri" pitchFamily="34" charset="-120"/>
              </a:rPr>
              <a:t>Tab Live Charts</a:t>
            </a:r>
            <a:endParaRPr lang="it-IT" dirty="0"/>
          </a:p>
        </p:txBody>
      </p:sp>
      <p:sp>
        <p:nvSpPr>
          <p:cNvPr id="5" name="Text 3">
            <a:extLst>
              <a:ext uri="{FF2B5EF4-FFF2-40B4-BE49-F238E27FC236}">
                <a16:creationId xmlns:a16="http://schemas.microsoft.com/office/drawing/2014/main" id="{3C617789-9BDB-8620-320B-0A7522D396C6}"/>
              </a:ext>
            </a:extLst>
          </p:cNvPr>
          <p:cNvSpPr txBox="1"/>
          <p:nvPr/>
        </p:nvSpPr>
        <p:spPr>
          <a:xfrm>
            <a:off x="550164" y="1074420"/>
            <a:ext cx="11091672" cy="1188720"/>
          </a:xfrm>
          <a:prstGeom prst="rect">
            <a:avLst/>
          </a:prstGeom>
          <a:noFill/>
          <a:ln/>
        </p:spPr>
        <p:txBody>
          <a:bodyPr wrap="square" lIns="0" tIns="0" rIns="0" bIns="0" rtlCol="0" anchor="ct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Speed Overview:  </a:t>
            </a:r>
            <a:r>
              <a:rPr lang="en-US" dirty="0">
                <a:solidFill>
                  <a:srgbClr val="16212B"/>
                </a:solidFill>
                <a:latin typeface="Calibri" pitchFamily="34" charset="0"/>
                <a:ea typeface="Calibri" pitchFamily="34" charset="-122"/>
                <a:cs typeface="Calibri" pitchFamily="34" charset="-120"/>
              </a:rPr>
              <a:t>Real-time speed gauge</a:t>
            </a:r>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IQ - Torque Current: </a:t>
            </a:r>
            <a:r>
              <a:rPr lang="en-US" dirty="0">
                <a:solidFill>
                  <a:srgbClr val="16212B"/>
                </a:solidFill>
                <a:latin typeface="Calibri" pitchFamily="34" charset="0"/>
                <a:ea typeface="Calibri" pitchFamily="34" charset="-122"/>
                <a:cs typeface="Calibri" pitchFamily="34" charset="-120"/>
              </a:rPr>
              <a:t>Torque Current Graph</a:t>
            </a:r>
            <a:endParaRPr lang="en-US" dirty="0"/>
          </a:p>
          <a:p>
            <a:pPr marL="228600" indent="-228600">
              <a:lnSpc>
                <a:spcPct val="115000"/>
              </a:lnSpc>
              <a:buFont typeface="Arial" pitchFamily="34" charset="0"/>
              <a:buChar char="•"/>
            </a:pPr>
            <a:r>
              <a:rPr lang="en-US" b="1" dirty="0">
                <a:solidFill>
                  <a:srgbClr val="16212B"/>
                </a:solidFill>
                <a:latin typeface="Calibri" pitchFamily="34" charset="0"/>
                <a:ea typeface="Calibri" pitchFamily="34" charset="-122"/>
                <a:cs typeface="Calibri" pitchFamily="34" charset="-120"/>
              </a:rPr>
              <a:t>ID - Flux Current: </a:t>
            </a:r>
            <a:r>
              <a:rPr lang="en-US" dirty="0">
                <a:solidFill>
                  <a:srgbClr val="16212B"/>
                </a:solidFill>
                <a:latin typeface="Calibri" pitchFamily="34" charset="0"/>
                <a:ea typeface="Calibri" pitchFamily="34" charset="-122"/>
                <a:cs typeface="Calibri" pitchFamily="34" charset="-120"/>
              </a:rPr>
              <a:t>Flux current graph</a:t>
            </a:r>
          </a:p>
        </p:txBody>
      </p:sp>
      <p:pic>
        <p:nvPicPr>
          <p:cNvPr id="6" name="Image 2">
            <a:extLst>
              <a:ext uri="{FF2B5EF4-FFF2-40B4-BE49-F238E27FC236}">
                <a16:creationId xmlns:a16="http://schemas.microsoft.com/office/drawing/2014/main" id="{D9F241BD-C855-3154-6422-F3F4A8F85DBF}"/>
              </a:ext>
            </a:extLst>
          </p:cNvPr>
          <p:cNvPicPr>
            <a:picLocks noChangeAspect="1"/>
          </p:cNvPicPr>
          <p:nvPr/>
        </p:nvPicPr>
        <p:blipFill>
          <a:blip r:embed="rId2"/>
          <a:stretch>
            <a:fillRect/>
          </a:stretch>
        </p:blipFill>
        <p:spPr>
          <a:xfrm>
            <a:off x="2675370" y="2491740"/>
            <a:ext cx="6844004" cy="3291840"/>
          </a:xfrm>
          <a:prstGeom prst="rect">
            <a:avLst/>
          </a:prstGeom>
        </p:spPr>
      </p:pic>
      <p:sp>
        <p:nvSpPr>
          <p:cNvPr id="7" name="Text 0">
            <a:extLst>
              <a:ext uri="{FF2B5EF4-FFF2-40B4-BE49-F238E27FC236}">
                <a16:creationId xmlns:a16="http://schemas.microsoft.com/office/drawing/2014/main" id="{BBF145F4-F8AB-29C3-83E2-D734F4D4396D}"/>
              </a:ext>
            </a:extLst>
          </p:cNvPr>
          <p:cNvSpPr/>
          <p:nvPr/>
        </p:nvSpPr>
        <p:spPr>
          <a:xfrm>
            <a:off x="10195560" y="228600"/>
            <a:ext cx="7315200" cy="274320"/>
          </a:xfrm>
          <a:prstGeom prst="rect">
            <a:avLst/>
          </a:prstGeom>
          <a:noFill/>
          <a:ln/>
        </p:spPr>
        <p:txBody>
          <a:bodyPr wrap="square" rtlCol="0" anchor="ctr"/>
          <a:lstStyle/>
          <a:p>
            <a:pPr marL="0" indent="0">
              <a:buNone/>
            </a:pPr>
            <a:r>
              <a:rPr lang="en-US" sz="1100" b="1" kern="0" spc="200" dirty="0">
                <a:solidFill>
                  <a:srgbClr val="0E7DAD"/>
                </a:solidFill>
                <a:latin typeface="Calibri" pitchFamily="34" charset="0"/>
                <a:ea typeface="Calibri" pitchFamily="34" charset="-122"/>
                <a:cs typeface="Calibri" pitchFamily="34" charset="-120"/>
              </a:rPr>
              <a:t>CANALYZER &amp; GUI</a:t>
            </a:r>
            <a:endParaRPr lang="en-US" sz="1100" dirty="0">
              <a:solidFill>
                <a:srgbClr val="0E7DAD"/>
              </a:solidFill>
            </a:endParaRPr>
          </a:p>
        </p:txBody>
      </p:sp>
    </p:spTree>
    <p:extLst>
      <p:ext uri="{BB962C8B-B14F-4D97-AF65-F5344CB8AC3E}">
        <p14:creationId xmlns:p14="http://schemas.microsoft.com/office/powerpoint/2010/main" val="3111906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99CF-B1D7-774A-849F-3C220CAB82F9}"/>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14EE6574-E702-20D0-5429-FF96588912F7}"/>
              </a:ext>
            </a:extLst>
          </p:cNvPr>
          <p:cNvSpPr>
            <a:spLocks noGrp="1"/>
          </p:cNvSpPr>
          <p:nvPr>
            <p:ph type="title"/>
          </p:nvPr>
        </p:nvSpPr>
        <p:spPr/>
        <p:txBody>
          <a:bodyPr/>
          <a:lstStyle/>
          <a:p>
            <a:r>
              <a:rPr lang="en-US" b="1" dirty="0">
                <a:solidFill>
                  <a:srgbClr val="03234B"/>
                </a:solidFill>
                <a:latin typeface="Calibri" pitchFamily="34" charset="0"/>
                <a:ea typeface="Calibri" pitchFamily="34" charset="-122"/>
                <a:cs typeface="Calibri" pitchFamily="34" charset="-120"/>
              </a:rPr>
              <a:t>Conclusions and results</a:t>
            </a:r>
            <a:endParaRPr lang="it-IT" dirty="0"/>
          </a:p>
        </p:txBody>
      </p:sp>
      <p:sp>
        <p:nvSpPr>
          <p:cNvPr id="4" name="Text 0">
            <a:extLst>
              <a:ext uri="{FF2B5EF4-FFF2-40B4-BE49-F238E27FC236}">
                <a16:creationId xmlns:a16="http://schemas.microsoft.com/office/drawing/2014/main" id="{F4683945-E9E1-4EF0-3E0F-68A73B1649D7}"/>
              </a:ext>
            </a:extLst>
          </p:cNvPr>
          <p:cNvSpPr/>
          <p:nvPr/>
        </p:nvSpPr>
        <p:spPr>
          <a:xfrm>
            <a:off x="10639125" y="191543"/>
            <a:ext cx="9601200" cy="274320"/>
          </a:xfrm>
          <a:prstGeom prst="rect">
            <a:avLst/>
          </a:prstGeom>
          <a:noFill/>
          <a:ln/>
        </p:spPr>
        <p:txBody>
          <a:bodyPr wrap="square" rtlCol="0" anchor="ctr"/>
          <a:lstStyle/>
          <a:p>
            <a:r>
              <a:rPr lang="en-US" sz="1100" b="1" kern="0" spc="200">
                <a:solidFill>
                  <a:srgbClr val="0E7DAD"/>
                </a:solidFill>
                <a:latin typeface="Calibri" pitchFamily="34" charset="0"/>
                <a:ea typeface="Calibri" pitchFamily="34" charset="-122"/>
                <a:cs typeface="Calibri" pitchFamily="34" charset="-120"/>
              </a:rPr>
              <a:t>CONCLUSIONS</a:t>
            </a:r>
            <a:endParaRPr lang="en-US" sz="1100" dirty="0">
              <a:solidFill>
                <a:srgbClr val="0E7DAD"/>
              </a:solidFill>
            </a:endParaRPr>
          </a:p>
        </p:txBody>
      </p:sp>
      <p:sp>
        <p:nvSpPr>
          <p:cNvPr id="6" name="Shape 2">
            <a:extLst>
              <a:ext uri="{FF2B5EF4-FFF2-40B4-BE49-F238E27FC236}">
                <a16:creationId xmlns:a16="http://schemas.microsoft.com/office/drawing/2014/main" id="{B45229CA-B2A4-2CFB-7836-A8B08C663878}"/>
              </a:ext>
            </a:extLst>
          </p:cNvPr>
          <p:cNvSpPr/>
          <p:nvPr/>
        </p:nvSpPr>
        <p:spPr>
          <a:xfrm>
            <a:off x="548640" y="1828800"/>
            <a:ext cx="5166360" cy="1874520"/>
          </a:xfrm>
          <a:prstGeom prst="rect">
            <a:avLst/>
          </a:prstGeom>
          <a:solidFill>
            <a:srgbClr val="F2F7FB"/>
          </a:solidFill>
          <a:ln w="12700">
            <a:solidFill>
              <a:srgbClr val="DCE7F0"/>
            </a:solidFill>
            <a:prstDash val="solid"/>
          </a:ln>
        </p:spPr>
        <p:txBody>
          <a:bodyPr/>
          <a:lstStyle/>
          <a:p>
            <a:endParaRPr lang="it-IT"/>
          </a:p>
        </p:txBody>
      </p:sp>
      <p:sp>
        <p:nvSpPr>
          <p:cNvPr id="8" name="Shape 3">
            <a:extLst>
              <a:ext uri="{FF2B5EF4-FFF2-40B4-BE49-F238E27FC236}">
                <a16:creationId xmlns:a16="http://schemas.microsoft.com/office/drawing/2014/main" id="{A277BB3B-E7E6-0210-906E-5D5B2F6A707A}"/>
              </a:ext>
            </a:extLst>
          </p:cNvPr>
          <p:cNvSpPr/>
          <p:nvPr/>
        </p:nvSpPr>
        <p:spPr>
          <a:xfrm>
            <a:off x="822960" y="2103120"/>
            <a:ext cx="457200" cy="457200"/>
          </a:xfrm>
          <a:prstGeom prst="ellipse">
            <a:avLst/>
          </a:prstGeom>
          <a:solidFill>
            <a:srgbClr val="03234B"/>
          </a:solidFill>
          <a:ln/>
        </p:spPr>
        <p:txBody>
          <a:bodyPr/>
          <a:lstStyle/>
          <a:p>
            <a:endParaRPr lang="it-IT"/>
          </a:p>
        </p:txBody>
      </p:sp>
      <p:sp>
        <p:nvSpPr>
          <p:cNvPr id="10" name="Text 4">
            <a:extLst>
              <a:ext uri="{FF2B5EF4-FFF2-40B4-BE49-F238E27FC236}">
                <a16:creationId xmlns:a16="http://schemas.microsoft.com/office/drawing/2014/main" id="{21FA5552-2495-D3BD-ED9F-899339CDBE79}"/>
              </a:ext>
            </a:extLst>
          </p:cNvPr>
          <p:cNvSpPr/>
          <p:nvPr/>
        </p:nvSpPr>
        <p:spPr>
          <a:xfrm>
            <a:off x="822960" y="2103120"/>
            <a:ext cx="457200" cy="457200"/>
          </a:xfrm>
          <a:prstGeom prst="rect">
            <a:avLst/>
          </a:prstGeom>
          <a:noFill/>
          <a:ln/>
        </p:spPr>
        <p:txBody>
          <a:bodyPr wrap="square" rtlCol="0" anchor="ctr"/>
          <a:lstStyle/>
          <a:p>
            <a:pPr marL="0" indent="0" algn="ctr">
              <a:buNone/>
            </a:pPr>
            <a:r>
              <a:rPr lang="en-US" b="1" dirty="0">
                <a:solidFill>
                  <a:srgbClr val="3CB4E6"/>
                </a:solidFill>
                <a:latin typeface="Calibri" pitchFamily="34" charset="0"/>
                <a:ea typeface="Calibri" pitchFamily="34" charset="-122"/>
                <a:cs typeface="Calibri" pitchFamily="34" charset="-120"/>
              </a:rPr>
              <a:t>✓</a:t>
            </a:r>
            <a:endParaRPr lang="en-US" dirty="0"/>
          </a:p>
        </p:txBody>
      </p:sp>
      <p:sp>
        <p:nvSpPr>
          <p:cNvPr id="12" name="Text 5">
            <a:extLst>
              <a:ext uri="{FF2B5EF4-FFF2-40B4-BE49-F238E27FC236}">
                <a16:creationId xmlns:a16="http://schemas.microsoft.com/office/drawing/2014/main" id="{B235FBA6-7ECF-5A1D-10DC-5EC5D589E128}"/>
              </a:ext>
            </a:extLst>
          </p:cNvPr>
          <p:cNvSpPr/>
          <p:nvPr/>
        </p:nvSpPr>
        <p:spPr>
          <a:xfrm>
            <a:off x="1463040" y="2084832"/>
            <a:ext cx="3977640" cy="457200"/>
          </a:xfrm>
          <a:prstGeom prst="rect">
            <a:avLst/>
          </a:prstGeom>
          <a:noFill/>
          <a:ln/>
        </p:spPr>
        <p:txBody>
          <a:bodyPr wrap="square" rtlCol="0" anchor="ctr"/>
          <a:lstStyle/>
          <a:p>
            <a:r>
              <a:rPr lang="en-US" b="1" dirty="0">
                <a:solidFill>
                  <a:srgbClr val="03234B"/>
                </a:solidFill>
                <a:latin typeface="Calibri" pitchFamily="34" charset="0"/>
                <a:ea typeface="Calibri" pitchFamily="34" charset="-122"/>
                <a:cs typeface="Calibri" pitchFamily="34" charset="-120"/>
              </a:rPr>
              <a:t>CAN Library Validated</a:t>
            </a:r>
            <a:endParaRPr lang="en-US" dirty="0"/>
          </a:p>
        </p:txBody>
      </p:sp>
      <p:sp>
        <p:nvSpPr>
          <p:cNvPr id="14" name="Text 6">
            <a:extLst>
              <a:ext uri="{FF2B5EF4-FFF2-40B4-BE49-F238E27FC236}">
                <a16:creationId xmlns:a16="http://schemas.microsoft.com/office/drawing/2014/main" id="{A42C22C3-F0DC-CEFC-8051-3F9ED3424D99}"/>
              </a:ext>
            </a:extLst>
          </p:cNvPr>
          <p:cNvSpPr/>
          <p:nvPr/>
        </p:nvSpPr>
        <p:spPr>
          <a:xfrm>
            <a:off x="822960" y="2743200"/>
            <a:ext cx="4617720" cy="777240"/>
          </a:xfrm>
          <a:prstGeom prst="rect">
            <a:avLst/>
          </a:prstGeom>
          <a:noFill/>
          <a:ln/>
        </p:spPr>
        <p:txBody>
          <a:bodyPr wrap="square" rtlCol="0" anchor="ctr"/>
          <a:lstStyle/>
          <a:p>
            <a:pPr>
              <a:lnSpc>
                <a:spcPct val="120000"/>
              </a:lnSpc>
            </a:pPr>
            <a:r>
              <a:rPr lang="en-US" dirty="0">
                <a:solidFill>
                  <a:srgbClr val="51606E"/>
                </a:solidFill>
                <a:latin typeface="Calibri" pitchFamily="34" charset="0"/>
                <a:ea typeface="Calibri" pitchFamily="34" charset="-122"/>
                <a:cs typeface="Calibri" pitchFamily="34" charset="-120"/>
              </a:rPr>
              <a:t>Resolved critical issues in ID mapping and registers decoding.</a:t>
            </a:r>
            <a:endParaRPr lang="en-US" dirty="0"/>
          </a:p>
        </p:txBody>
      </p:sp>
      <p:sp>
        <p:nvSpPr>
          <p:cNvPr id="16" name="Shape 7">
            <a:extLst>
              <a:ext uri="{FF2B5EF4-FFF2-40B4-BE49-F238E27FC236}">
                <a16:creationId xmlns:a16="http://schemas.microsoft.com/office/drawing/2014/main" id="{2BE9C716-DC94-367E-18E5-6465E8DC192D}"/>
              </a:ext>
            </a:extLst>
          </p:cNvPr>
          <p:cNvSpPr/>
          <p:nvPr/>
        </p:nvSpPr>
        <p:spPr>
          <a:xfrm>
            <a:off x="6035040" y="1828800"/>
            <a:ext cx="5166360" cy="1874520"/>
          </a:xfrm>
          <a:prstGeom prst="rect">
            <a:avLst/>
          </a:prstGeom>
          <a:solidFill>
            <a:srgbClr val="F2F7FB"/>
          </a:solidFill>
          <a:ln w="12700">
            <a:solidFill>
              <a:srgbClr val="DCE7F0"/>
            </a:solidFill>
            <a:prstDash val="solid"/>
          </a:ln>
        </p:spPr>
        <p:txBody>
          <a:bodyPr/>
          <a:lstStyle/>
          <a:p>
            <a:endParaRPr lang="it-IT"/>
          </a:p>
        </p:txBody>
      </p:sp>
      <p:sp>
        <p:nvSpPr>
          <p:cNvPr id="18" name="Shape 8">
            <a:extLst>
              <a:ext uri="{FF2B5EF4-FFF2-40B4-BE49-F238E27FC236}">
                <a16:creationId xmlns:a16="http://schemas.microsoft.com/office/drawing/2014/main" id="{26B0C32E-D861-89FD-8471-B24735609323}"/>
              </a:ext>
            </a:extLst>
          </p:cNvPr>
          <p:cNvSpPr/>
          <p:nvPr/>
        </p:nvSpPr>
        <p:spPr>
          <a:xfrm>
            <a:off x="6309360" y="2103120"/>
            <a:ext cx="457200" cy="457200"/>
          </a:xfrm>
          <a:prstGeom prst="ellipse">
            <a:avLst/>
          </a:prstGeom>
          <a:solidFill>
            <a:srgbClr val="03234B"/>
          </a:solidFill>
          <a:ln/>
        </p:spPr>
        <p:txBody>
          <a:bodyPr/>
          <a:lstStyle/>
          <a:p>
            <a:endParaRPr lang="it-IT"/>
          </a:p>
        </p:txBody>
      </p:sp>
      <p:sp>
        <p:nvSpPr>
          <p:cNvPr id="20" name="Text 9">
            <a:extLst>
              <a:ext uri="{FF2B5EF4-FFF2-40B4-BE49-F238E27FC236}">
                <a16:creationId xmlns:a16="http://schemas.microsoft.com/office/drawing/2014/main" id="{C972FA2E-574C-64BB-C102-47AF33F160BF}"/>
              </a:ext>
            </a:extLst>
          </p:cNvPr>
          <p:cNvSpPr/>
          <p:nvPr/>
        </p:nvSpPr>
        <p:spPr>
          <a:xfrm>
            <a:off x="6309360" y="2103120"/>
            <a:ext cx="457200" cy="457200"/>
          </a:xfrm>
          <a:prstGeom prst="rect">
            <a:avLst/>
          </a:prstGeom>
          <a:noFill/>
          <a:ln/>
        </p:spPr>
        <p:txBody>
          <a:bodyPr wrap="square" rtlCol="0" anchor="ctr"/>
          <a:lstStyle/>
          <a:p>
            <a:pPr marL="0" indent="0" algn="ctr">
              <a:buNone/>
            </a:pPr>
            <a:r>
              <a:rPr lang="en-US" b="1" dirty="0">
                <a:solidFill>
                  <a:srgbClr val="3CB4E6"/>
                </a:solidFill>
                <a:latin typeface="Calibri" pitchFamily="34" charset="0"/>
                <a:ea typeface="Calibri" pitchFamily="34" charset="-122"/>
                <a:cs typeface="Calibri" pitchFamily="34" charset="-120"/>
              </a:rPr>
              <a:t>✓</a:t>
            </a:r>
            <a:endParaRPr lang="en-US" dirty="0"/>
          </a:p>
        </p:txBody>
      </p:sp>
      <p:sp>
        <p:nvSpPr>
          <p:cNvPr id="22" name="Text 10">
            <a:extLst>
              <a:ext uri="{FF2B5EF4-FFF2-40B4-BE49-F238E27FC236}">
                <a16:creationId xmlns:a16="http://schemas.microsoft.com/office/drawing/2014/main" id="{A5B62DDF-A31D-5B47-3243-729419515921}"/>
              </a:ext>
            </a:extLst>
          </p:cNvPr>
          <p:cNvSpPr/>
          <p:nvPr/>
        </p:nvSpPr>
        <p:spPr>
          <a:xfrm>
            <a:off x="6949440" y="2084832"/>
            <a:ext cx="3977640" cy="457200"/>
          </a:xfrm>
          <a:prstGeom prst="rect">
            <a:avLst/>
          </a:prstGeom>
          <a:noFill/>
          <a:ln/>
        </p:spPr>
        <p:txBody>
          <a:bodyPr wrap="square" rtlCol="0" anchor="ctr"/>
          <a:lstStyle/>
          <a:p>
            <a:r>
              <a:rPr lang="en-US" b="1" dirty="0">
                <a:solidFill>
                  <a:srgbClr val="03234B"/>
                </a:solidFill>
                <a:latin typeface="Calibri" pitchFamily="34" charset="0"/>
                <a:ea typeface="Calibri" pitchFamily="34" charset="-122"/>
                <a:cs typeface="Calibri" pitchFamily="34" charset="-120"/>
              </a:rPr>
              <a:t>New features</a:t>
            </a:r>
            <a:endParaRPr lang="en-US" dirty="0"/>
          </a:p>
        </p:txBody>
      </p:sp>
      <p:sp>
        <p:nvSpPr>
          <p:cNvPr id="24" name="Text 11">
            <a:extLst>
              <a:ext uri="{FF2B5EF4-FFF2-40B4-BE49-F238E27FC236}">
                <a16:creationId xmlns:a16="http://schemas.microsoft.com/office/drawing/2014/main" id="{D94E9747-B4F3-DB09-1DBE-1DF57D29D877}"/>
              </a:ext>
            </a:extLst>
          </p:cNvPr>
          <p:cNvSpPr/>
          <p:nvPr/>
        </p:nvSpPr>
        <p:spPr>
          <a:xfrm>
            <a:off x="6309360" y="2743200"/>
            <a:ext cx="4617720" cy="777240"/>
          </a:xfrm>
          <a:prstGeom prst="rect">
            <a:avLst/>
          </a:prstGeom>
          <a:noFill/>
          <a:ln/>
        </p:spPr>
        <p:txBody>
          <a:bodyPr wrap="square" rtlCol="0" anchor="ctr"/>
          <a:lstStyle/>
          <a:p>
            <a:pPr>
              <a:lnSpc>
                <a:spcPct val="120000"/>
              </a:lnSpc>
            </a:pPr>
            <a:r>
              <a:rPr lang="en-US" dirty="0">
                <a:solidFill>
                  <a:srgbClr val="51606E"/>
                </a:solidFill>
                <a:latin typeface="Calibri" pitchFamily="34" charset="0"/>
                <a:ea typeface="Calibri" pitchFamily="34" charset="-122"/>
                <a:cs typeface="Calibri" pitchFamily="34" charset="-120"/>
              </a:rPr>
              <a:t>Independent </a:t>
            </a:r>
            <a:r>
              <a:rPr lang="en-US" dirty="0" err="1">
                <a:solidFill>
                  <a:srgbClr val="51606E"/>
                </a:solidFill>
                <a:latin typeface="Calibri" pitchFamily="34" charset="0"/>
                <a:ea typeface="Calibri" pitchFamily="34" charset="-122"/>
                <a:cs typeface="Calibri" pitchFamily="34" charset="-120"/>
              </a:rPr>
              <a:t>I_d</a:t>
            </a:r>
            <a:r>
              <a:rPr lang="en-US" dirty="0">
                <a:solidFill>
                  <a:srgbClr val="51606E"/>
                </a:solidFill>
                <a:latin typeface="Calibri" pitchFamily="34" charset="0"/>
                <a:ea typeface="Calibri" pitchFamily="34" charset="-122"/>
                <a:cs typeface="Calibri" pitchFamily="34" charset="-120"/>
              </a:rPr>
              <a:t>/</a:t>
            </a:r>
            <a:r>
              <a:rPr lang="en-US" dirty="0" err="1">
                <a:solidFill>
                  <a:srgbClr val="51606E"/>
                </a:solidFill>
                <a:latin typeface="Calibri" pitchFamily="34" charset="0"/>
                <a:ea typeface="Calibri" pitchFamily="34" charset="-122"/>
                <a:cs typeface="Calibri" pitchFamily="34" charset="-120"/>
              </a:rPr>
              <a:t>I_q</a:t>
            </a:r>
            <a:r>
              <a:rPr lang="en-US" dirty="0">
                <a:solidFill>
                  <a:srgbClr val="51606E"/>
                </a:solidFill>
                <a:latin typeface="Calibri" pitchFamily="34" charset="0"/>
                <a:ea typeface="Calibri" pitchFamily="34" charset="-122"/>
                <a:cs typeface="Calibri" pitchFamily="34" charset="-120"/>
              </a:rPr>
              <a:t> control, flux ramp, PI tuning via CAN.</a:t>
            </a:r>
            <a:endParaRPr lang="en-US" dirty="0"/>
          </a:p>
        </p:txBody>
      </p:sp>
      <p:sp>
        <p:nvSpPr>
          <p:cNvPr id="26" name="Shape 12">
            <a:extLst>
              <a:ext uri="{FF2B5EF4-FFF2-40B4-BE49-F238E27FC236}">
                <a16:creationId xmlns:a16="http://schemas.microsoft.com/office/drawing/2014/main" id="{F9083481-D037-5F8C-66EA-143277F4B352}"/>
              </a:ext>
            </a:extLst>
          </p:cNvPr>
          <p:cNvSpPr/>
          <p:nvPr/>
        </p:nvSpPr>
        <p:spPr>
          <a:xfrm>
            <a:off x="548640" y="4023360"/>
            <a:ext cx="5166360" cy="1874520"/>
          </a:xfrm>
          <a:prstGeom prst="rect">
            <a:avLst/>
          </a:prstGeom>
          <a:solidFill>
            <a:srgbClr val="F2F7FB"/>
          </a:solidFill>
          <a:ln w="12700">
            <a:solidFill>
              <a:srgbClr val="DCE7F0"/>
            </a:solidFill>
            <a:prstDash val="solid"/>
          </a:ln>
        </p:spPr>
        <p:txBody>
          <a:bodyPr/>
          <a:lstStyle/>
          <a:p>
            <a:endParaRPr lang="it-IT"/>
          </a:p>
        </p:txBody>
      </p:sp>
      <p:sp>
        <p:nvSpPr>
          <p:cNvPr id="28" name="Shape 13">
            <a:extLst>
              <a:ext uri="{FF2B5EF4-FFF2-40B4-BE49-F238E27FC236}">
                <a16:creationId xmlns:a16="http://schemas.microsoft.com/office/drawing/2014/main" id="{7C53F6B2-485C-97F3-D709-80B4C29298A7}"/>
              </a:ext>
            </a:extLst>
          </p:cNvPr>
          <p:cNvSpPr/>
          <p:nvPr/>
        </p:nvSpPr>
        <p:spPr>
          <a:xfrm>
            <a:off x="822960" y="4297680"/>
            <a:ext cx="457200" cy="457200"/>
          </a:xfrm>
          <a:prstGeom prst="ellipse">
            <a:avLst/>
          </a:prstGeom>
          <a:solidFill>
            <a:srgbClr val="03234B"/>
          </a:solidFill>
          <a:ln/>
        </p:spPr>
        <p:txBody>
          <a:bodyPr/>
          <a:lstStyle/>
          <a:p>
            <a:endParaRPr lang="it-IT"/>
          </a:p>
        </p:txBody>
      </p:sp>
      <p:sp>
        <p:nvSpPr>
          <p:cNvPr id="30" name="Text 14">
            <a:extLst>
              <a:ext uri="{FF2B5EF4-FFF2-40B4-BE49-F238E27FC236}">
                <a16:creationId xmlns:a16="http://schemas.microsoft.com/office/drawing/2014/main" id="{DDAA302B-10EC-DDC6-FD26-C8135D167AEC}"/>
              </a:ext>
            </a:extLst>
          </p:cNvPr>
          <p:cNvSpPr/>
          <p:nvPr/>
        </p:nvSpPr>
        <p:spPr>
          <a:xfrm>
            <a:off x="822960" y="4297680"/>
            <a:ext cx="457200" cy="457200"/>
          </a:xfrm>
          <a:prstGeom prst="rect">
            <a:avLst/>
          </a:prstGeom>
          <a:noFill/>
          <a:ln/>
        </p:spPr>
        <p:txBody>
          <a:bodyPr wrap="square" rtlCol="0" anchor="ctr"/>
          <a:lstStyle/>
          <a:p>
            <a:pPr marL="0" indent="0" algn="ctr">
              <a:buNone/>
            </a:pPr>
            <a:r>
              <a:rPr lang="en-US" b="1" dirty="0">
                <a:solidFill>
                  <a:srgbClr val="3CB4E6"/>
                </a:solidFill>
                <a:latin typeface="Calibri" pitchFamily="34" charset="0"/>
                <a:ea typeface="Calibri" pitchFamily="34" charset="-122"/>
                <a:cs typeface="Calibri" pitchFamily="34" charset="-120"/>
              </a:rPr>
              <a:t>✓</a:t>
            </a:r>
            <a:endParaRPr lang="en-US" dirty="0"/>
          </a:p>
        </p:txBody>
      </p:sp>
      <p:sp>
        <p:nvSpPr>
          <p:cNvPr id="32" name="Text 15">
            <a:extLst>
              <a:ext uri="{FF2B5EF4-FFF2-40B4-BE49-F238E27FC236}">
                <a16:creationId xmlns:a16="http://schemas.microsoft.com/office/drawing/2014/main" id="{BC9D90EB-CD10-F6F4-4EDD-58CF5E6F8A15}"/>
              </a:ext>
            </a:extLst>
          </p:cNvPr>
          <p:cNvSpPr/>
          <p:nvPr/>
        </p:nvSpPr>
        <p:spPr>
          <a:xfrm>
            <a:off x="1463040" y="4279392"/>
            <a:ext cx="3977640" cy="457200"/>
          </a:xfrm>
          <a:prstGeom prst="rect">
            <a:avLst/>
          </a:prstGeom>
          <a:noFill/>
          <a:ln/>
        </p:spPr>
        <p:txBody>
          <a:bodyPr wrap="square" rtlCol="0" anchor="ctr"/>
          <a:lstStyle/>
          <a:p>
            <a:r>
              <a:rPr lang="en-US" b="1" dirty="0">
                <a:solidFill>
                  <a:srgbClr val="03234B"/>
                </a:solidFill>
                <a:latin typeface="Calibri" pitchFamily="34" charset="0"/>
                <a:ea typeface="Calibri" pitchFamily="34" charset="-122"/>
                <a:cs typeface="Calibri" pitchFamily="34" charset="-120"/>
              </a:rPr>
              <a:t>DBC Refactored</a:t>
            </a:r>
            <a:endParaRPr lang="en-US" dirty="0"/>
          </a:p>
        </p:txBody>
      </p:sp>
      <p:sp>
        <p:nvSpPr>
          <p:cNvPr id="34" name="Text 16">
            <a:extLst>
              <a:ext uri="{FF2B5EF4-FFF2-40B4-BE49-F238E27FC236}">
                <a16:creationId xmlns:a16="http://schemas.microsoft.com/office/drawing/2014/main" id="{FF57F64D-4A9A-B368-FDE3-0793B4FB3969}"/>
              </a:ext>
            </a:extLst>
          </p:cNvPr>
          <p:cNvSpPr/>
          <p:nvPr/>
        </p:nvSpPr>
        <p:spPr>
          <a:xfrm>
            <a:off x="822960" y="4937760"/>
            <a:ext cx="4617720" cy="777240"/>
          </a:xfrm>
          <a:prstGeom prst="rect">
            <a:avLst/>
          </a:prstGeom>
          <a:noFill/>
          <a:ln/>
        </p:spPr>
        <p:txBody>
          <a:bodyPr wrap="square" rtlCol="0" anchor="ctr"/>
          <a:lstStyle/>
          <a:p>
            <a:pPr>
              <a:lnSpc>
                <a:spcPct val="120000"/>
              </a:lnSpc>
            </a:pPr>
            <a:r>
              <a:rPr lang="en-US">
                <a:solidFill>
                  <a:srgbClr val="51606E"/>
                </a:solidFill>
                <a:latin typeface="Calibri" pitchFamily="34" charset="0"/>
                <a:ea typeface="Calibri" pitchFamily="34" charset="-122"/>
                <a:cs typeface="Calibri" pitchFamily="34" charset="-120"/>
              </a:rPr>
              <a:t>Messages aligned to the library, correct ACK/NACK responses.</a:t>
            </a:r>
            <a:endParaRPr lang="en-US" dirty="0"/>
          </a:p>
        </p:txBody>
      </p:sp>
      <p:sp>
        <p:nvSpPr>
          <p:cNvPr id="36" name="Shape 17">
            <a:extLst>
              <a:ext uri="{FF2B5EF4-FFF2-40B4-BE49-F238E27FC236}">
                <a16:creationId xmlns:a16="http://schemas.microsoft.com/office/drawing/2014/main" id="{A80F8A9D-E358-E6F2-4B44-AA7FDF6E30FA}"/>
              </a:ext>
            </a:extLst>
          </p:cNvPr>
          <p:cNvSpPr/>
          <p:nvPr/>
        </p:nvSpPr>
        <p:spPr>
          <a:xfrm>
            <a:off x="6035040" y="4000500"/>
            <a:ext cx="5166360" cy="1874520"/>
          </a:xfrm>
          <a:prstGeom prst="rect">
            <a:avLst/>
          </a:prstGeom>
          <a:solidFill>
            <a:srgbClr val="F2F7FB"/>
          </a:solidFill>
          <a:ln w="12700">
            <a:solidFill>
              <a:srgbClr val="DCE7F0"/>
            </a:solidFill>
            <a:prstDash val="solid"/>
          </a:ln>
        </p:spPr>
        <p:txBody>
          <a:bodyPr/>
          <a:lstStyle/>
          <a:p>
            <a:endParaRPr lang="it-IT" dirty="0"/>
          </a:p>
        </p:txBody>
      </p:sp>
      <p:sp>
        <p:nvSpPr>
          <p:cNvPr id="38" name="Shape 18">
            <a:extLst>
              <a:ext uri="{FF2B5EF4-FFF2-40B4-BE49-F238E27FC236}">
                <a16:creationId xmlns:a16="http://schemas.microsoft.com/office/drawing/2014/main" id="{372FCD34-87F1-4CE4-E8E6-A31C89B7FBB0}"/>
              </a:ext>
            </a:extLst>
          </p:cNvPr>
          <p:cNvSpPr/>
          <p:nvPr/>
        </p:nvSpPr>
        <p:spPr>
          <a:xfrm>
            <a:off x="6309360" y="4274820"/>
            <a:ext cx="457200" cy="457200"/>
          </a:xfrm>
          <a:prstGeom prst="ellipse">
            <a:avLst/>
          </a:prstGeom>
          <a:solidFill>
            <a:srgbClr val="03234B"/>
          </a:solidFill>
          <a:ln/>
        </p:spPr>
        <p:txBody>
          <a:bodyPr/>
          <a:lstStyle/>
          <a:p>
            <a:endParaRPr lang="it-IT"/>
          </a:p>
        </p:txBody>
      </p:sp>
      <p:sp>
        <p:nvSpPr>
          <p:cNvPr id="40" name="Text 19">
            <a:extLst>
              <a:ext uri="{FF2B5EF4-FFF2-40B4-BE49-F238E27FC236}">
                <a16:creationId xmlns:a16="http://schemas.microsoft.com/office/drawing/2014/main" id="{6AB32553-54F2-61E1-52FB-68E8F422EACE}"/>
              </a:ext>
            </a:extLst>
          </p:cNvPr>
          <p:cNvSpPr/>
          <p:nvPr/>
        </p:nvSpPr>
        <p:spPr>
          <a:xfrm>
            <a:off x="6309360" y="4274820"/>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3CB4E6"/>
                </a:solidFill>
                <a:latin typeface="Calibri" pitchFamily="34" charset="0"/>
                <a:ea typeface="Calibri" pitchFamily="34" charset="-122"/>
                <a:cs typeface="Calibri" pitchFamily="34" charset="-120"/>
              </a:rPr>
              <a:t>✓</a:t>
            </a:r>
            <a:endParaRPr lang="en-US" dirty="0"/>
          </a:p>
        </p:txBody>
      </p:sp>
      <p:sp>
        <p:nvSpPr>
          <p:cNvPr id="42" name="Text 20">
            <a:extLst>
              <a:ext uri="{FF2B5EF4-FFF2-40B4-BE49-F238E27FC236}">
                <a16:creationId xmlns:a16="http://schemas.microsoft.com/office/drawing/2014/main" id="{704979B5-DB16-2AE6-A1BE-7B2CD37AFD02}"/>
              </a:ext>
            </a:extLst>
          </p:cNvPr>
          <p:cNvSpPr/>
          <p:nvPr/>
        </p:nvSpPr>
        <p:spPr>
          <a:xfrm>
            <a:off x="6949440" y="4256532"/>
            <a:ext cx="397764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3234B"/>
                </a:solidFill>
                <a:latin typeface="Calibri" pitchFamily="34" charset="0"/>
                <a:ea typeface="Calibri" pitchFamily="34" charset="-122"/>
                <a:cs typeface="Calibri" pitchFamily="34" charset="-120"/>
              </a:rPr>
              <a:t>GUI Development</a:t>
            </a:r>
            <a:endParaRPr lang="en-US" dirty="0"/>
          </a:p>
        </p:txBody>
      </p:sp>
      <p:sp>
        <p:nvSpPr>
          <p:cNvPr id="44" name="Text 21">
            <a:extLst>
              <a:ext uri="{FF2B5EF4-FFF2-40B4-BE49-F238E27FC236}">
                <a16:creationId xmlns:a16="http://schemas.microsoft.com/office/drawing/2014/main" id="{4101FB83-4E02-5458-9B8E-A3D63D9A5F00}"/>
              </a:ext>
            </a:extLst>
          </p:cNvPr>
          <p:cNvSpPr/>
          <p:nvPr/>
        </p:nvSpPr>
        <p:spPr>
          <a:xfrm>
            <a:off x="6309360" y="4914900"/>
            <a:ext cx="4617720" cy="7772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solidFill>
                  <a:srgbClr val="51606E"/>
                </a:solidFill>
                <a:latin typeface="Calibri" pitchFamily="34" charset="0"/>
                <a:ea typeface="Calibri" pitchFamily="34" charset="-122"/>
                <a:cs typeface="Calibri" pitchFamily="34" charset="-120"/>
              </a:rPr>
              <a:t>Python GUI + Vector CANalyzer for complete real-time testing.</a:t>
            </a:r>
            <a:endParaRPr lang="en-US" dirty="0"/>
          </a:p>
        </p:txBody>
      </p:sp>
    </p:spTree>
    <p:extLst>
      <p:ext uri="{BB962C8B-B14F-4D97-AF65-F5344CB8AC3E}">
        <p14:creationId xmlns:p14="http://schemas.microsoft.com/office/powerpoint/2010/main" val="2898780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EF3D03A-A9C6-23ED-D421-D8DBD91504B1}"/>
              </a:ext>
            </a:extLst>
          </p:cNvPr>
          <p:cNvGrpSpPr/>
          <p:nvPr/>
        </p:nvGrpSpPr>
        <p:grpSpPr>
          <a:xfrm>
            <a:off x="2771951" y="4347316"/>
            <a:ext cx="6420472" cy="952500"/>
            <a:chOff x="2414184" y="4286537"/>
            <a:chExt cx="6420472" cy="952500"/>
          </a:xfrm>
        </p:grpSpPr>
        <p:sp>
          <p:nvSpPr>
            <p:cNvPr id="8" name="TextBox 7">
              <a:extLst>
                <a:ext uri="{FF2B5EF4-FFF2-40B4-BE49-F238E27FC236}">
                  <a16:creationId xmlns:a16="http://schemas.microsoft.com/office/drawing/2014/main" id="{BB9E9B98-996A-C191-F84C-7450EBE0923D}"/>
                </a:ext>
              </a:extLst>
            </p:cNvPr>
            <p:cNvSpPr txBox="1"/>
            <p:nvPr/>
          </p:nvSpPr>
          <p:spPr>
            <a:xfrm>
              <a:off x="3366684" y="4470400"/>
              <a:ext cx="5467972" cy="584775"/>
            </a:xfrm>
            <a:prstGeom prst="rect">
              <a:avLst/>
            </a:prstGeom>
            <a:noFill/>
          </p:spPr>
          <p:txBody>
            <a:bodyPr wrap="none" rtlCol="0">
              <a:spAutoFit/>
            </a:bodyPr>
            <a:lstStyle/>
            <a:p>
              <a:r>
                <a:rPr lang="en-US" sz="3200" dirty="0">
                  <a:solidFill>
                    <a:schemeClr val="bg1"/>
                  </a:solidFill>
                </a:rPr>
                <a:t>Find out more at </a:t>
              </a:r>
              <a:r>
                <a:rPr lang="en-US" sz="3200" dirty="0">
                  <a:solidFill>
                    <a:schemeClr val="accent3"/>
                  </a:solidFill>
                  <a:hlinkClick r:id="rId2"/>
                </a:rPr>
                <a:t>www.st.com</a:t>
              </a:r>
              <a:endParaRPr lang="en-US" sz="3200" dirty="0">
                <a:solidFill>
                  <a:schemeClr val="accent3"/>
                </a:solidFill>
              </a:endParaRPr>
            </a:p>
          </p:txBody>
        </p:sp>
        <p:pic>
          <p:nvPicPr>
            <p:cNvPr id="9" name="Graphic 8">
              <a:extLst>
                <a:ext uri="{FF2B5EF4-FFF2-40B4-BE49-F238E27FC236}">
                  <a16:creationId xmlns:a16="http://schemas.microsoft.com/office/drawing/2014/main" id="{C88344D3-877E-1588-F71C-5C1F9E8B0C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4184" y="4286537"/>
              <a:ext cx="952500" cy="952500"/>
            </a:xfrm>
            <a:prstGeom prst="rect">
              <a:avLst/>
            </a:prstGeom>
          </p:spPr>
        </p:pic>
      </p:grpSp>
    </p:spTree>
    <p:extLst>
      <p:ext uri="{BB962C8B-B14F-4D97-AF65-F5344CB8AC3E}">
        <p14:creationId xmlns:p14="http://schemas.microsoft.com/office/powerpoint/2010/main" val="19752377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BF0139B-0BEB-449C-B1F7-80D4F54F3FC1}"/>
              </a:ext>
            </a:extLst>
          </p:cNvPr>
          <p:cNvGrpSpPr/>
          <p:nvPr/>
        </p:nvGrpSpPr>
        <p:grpSpPr>
          <a:xfrm>
            <a:off x="4688541" y="0"/>
            <a:ext cx="7503459" cy="6858000"/>
            <a:chOff x="4688541" y="0"/>
            <a:chExt cx="7503459" cy="6858000"/>
          </a:xfrm>
        </p:grpSpPr>
        <p:pic>
          <p:nvPicPr>
            <p:cNvPr id="4" name="Picture 3">
              <a:extLst>
                <a:ext uri="{FF2B5EF4-FFF2-40B4-BE49-F238E27FC236}">
                  <a16:creationId xmlns:a16="http://schemas.microsoft.com/office/drawing/2014/main" id="{55975067-3004-4E25-8B69-CACB0B1963BA}"/>
                </a:ext>
              </a:extLst>
            </p:cNvPr>
            <p:cNvPicPr>
              <a:picLocks noChangeAspect="1"/>
            </p:cNvPicPr>
            <p:nvPr/>
          </p:nvPicPr>
          <p:blipFill>
            <a:blip r:embed="rId3"/>
            <a:stretch>
              <a:fillRect/>
            </a:stretch>
          </p:blipFill>
          <p:spPr>
            <a:xfrm>
              <a:off x="4688541" y="0"/>
              <a:ext cx="7503459" cy="6858000"/>
            </a:xfrm>
            <a:prstGeom prst="rect">
              <a:avLst/>
            </a:prstGeom>
          </p:spPr>
        </p:pic>
        <p:sp>
          <p:nvSpPr>
            <p:cNvPr id="11" name="Rectangle 10">
              <a:extLst>
                <a:ext uri="{FF2B5EF4-FFF2-40B4-BE49-F238E27FC236}">
                  <a16:creationId xmlns:a16="http://schemas.microsoft.com/office/drawing/2014/main" id="{1C8AF24E-0C24-4EB7-8B46-271260356B65}"/>
                </a:ext>
              </a:extLst>
            </p:cNvPr>
            <p:cNvSpPr/>
            <p:nvPr/>
          </p:nvSpPr>
          <p:spPr>
            <a:xfrm>
              <a:off x="11640457" y="0"/>
              <a:ext cx="551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14" name="TextBox 13">
            <a:extLst>
              <a:ext uri="{FF2B5EF4-FFF2-40B4-BE49-F238E27FC236}">
                <a16:creationId xmlns:a16="http://schemas.microsoft.com/office/drawing/2014/main" id="{AB759B23-2AC6-4702-845A-24B397B67FAF}"/>
              </a:ext>
            </a:extLst>
          </p:cNvPr>
          <p:cNvSpPr txBox="1"/>
          <p:nvPr/>
        </p:nvSpPr>
        <p:spPr>
          <a:xfrm>
            <a:off x="188686" y="2513364"/>
            <a:ext cx="4325257" cy="183127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800" b="0" i="0" u="none" strike="noStrike" kern="1200" cap="none" spc="0" normalizeH="0" baseline="0" noProof="0" dirty="0">
                <a:ln>
                  <a:noFill/>
                </a:ln>
                <a:solidFill>
                  <a:srgbClr val="03234B"/>
                </a:solidFill>
                <a:effectLst/>
                <a:uLnTx/>
                <a:uFillTx/>
                <a:latin typeface="Arial"/>
                <a:ea typeface="+mn-ea"/>
                <a:cs typeface="+mn-cs"/>
              </a:rPr>
              <a:t>For further support in creating a PowerPoint presentation, including graphic assets, formatting tools and additional information on the ST brand</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800" b="1" i="0" u="none" strike="noStrike" kern="1200" cap="none" spc="0" normalizeH="0" baseline="0" noProof="0" dirty="0">
                <a:ln>
                  <a:noFill/>
                </a:ln>
                <a:solidFill>
                  <a:srgbClr val="03234B"/>
                </a:solidFill>
                <a:effectLst/>
                <a:uLnTx/>
                <a:uFillTx/>
                <a:latin typeface="Arial"/>
                <a:ea typeface="+mn-ea"/>
                <a:cs typeface="+mn-cs"/>
              </a:rPr>
              <a:t>you can visit the ST Brand Portal</a:t>
            </a:r>
            <a:br>
              <a:rPr kumimoji="0" lang="en-US" sz="1800" b="0" i="0" u="none" strike="noStrike" kern="1200" cap="none" spc="0" normalizeH="0" baseline="0" noProof="0" dirty="0">
                <a:ln>
                  <a:noFill/>
                </a:ln>
                <a:solidFill>
                  <a:srgbClr val="03234B"/>
                </a:solidFill>
                <a:effectLst/>
                <a:uLnTx/>
                <a:uFillTx/>
                <a:latin typeface="Arial"/>
                <a:ea typeface="+mn-ea"/>
                <a:cs typeface="+mn-cs"/>
              </a:rPr>
            </a:br>
            <a:r>
              <a:rPr kumimoji="0" lang="en-US" sz="1800" b="0" i="0" u="none" strike="noStrike" kern="1200" cap="none" spc="0" normalizeH="0" baseline="0" noProof="0" dirty="0">
                <a:ln>
                  <a:noFill/>
                </a:ln>
                <a:solidFill>
                  <a:srgbClr val="03234B"/>
                </a:solidFill>
                <a:effectLst/>
                <a:uLnTx/>
                <a:uFillTx/>
                <a:latin typeface="Arial"/>
                <a:ea typeface="+mn-ea"/>
                <a:cs typeface="+mn-cs"/>
                <a:hlinkClick r:id="rId4"/>
              </a:rPr>
              <a:t>https://brandportal.st.com</a:t>
            </a:r>
            <a:endParaRPr kumimoji="0" lang="en-US" sz="1800" b="0" i="0" u="none" strike="noStrike" kern="1200" cap="none" spc="0" normalizeH="0" baseline="0" noProof="0" dirty="0">
              <a:ln>
                <a:noFill/>
              </a:ln>
              <a:solidFill>
                <a:srgbClr val="03234B"/>
              </a:solidFill>
              <a:effectLst/>
              <a:uLnTx/>
              <a:uFillTx/>
              <a:latin typeface="Arial"/>
              <a:ea typeface="+mn-ea"/>
              <a:cs typeface="+mn-cs"/>
            </a:endParaRPr>
          </a:p>
        </p:txBody>
      </p:sp>
    </p:spTree>
    <p:extLst>
      <p:ext uri="{BB962C8B-B14F-4D97-AF65-F5344CB8AC3E}">
        <p14:creationId xmlns:p14="http://schemas.microsoft.com/office/powerpoint/2010/main" val="3332923148"/>
      </p:ext>
    </p:extLst>
  </p:cSld>
  <p:clrMapOvr>
    <a:masterClrMapping/>
  </p:clrMapOvr>
</p:sld>
</file>

<file path=ppt/theme/theme1.xml><?xml version="1.0" encoding="utf-8"?>
<a:theme xmlns:a="http://schemas.openxmlformats.org/drawingml/2006/main" name="ST PowerPoint Template 16x9">
  <a:themeElements>
    <a:clrScheme name="ST2024">
      <a:dk1>
        <a:srgbClr val="03234B"/>
      </a:dk1>
      <a:lt1>
        <a:srgbClr val="FFFFFF"/>
      </a:lt1>
      <a:dk2>
        <a:srgbClr val="525A63"/>
      </a:dk2>
      <a:lt2>
        <a:srgbClr val="EEEFF1"/>
      </a:lt2>
      <a:accent1>
        <a:srgbClr val="03234B"/>
      </a:accent1>
      <a:accent2>
        <a:srgbClr val="E6007E"/>
      </a:accent2>
      <a:accent3>
        <a:srgbClr val="3CB4E6"/>
      </a:accent3>
      <a:accent4>
        <a:srgbClr val="FFD200"/>
      </a:accent4>
      <a:accent5>
        <a:srgbClr val="49B170"/>
      </a:accent5>
      <a:accent6>
        <a:srgbClr val="04572F"/>
      </a:accent6>
      <a:hlink>
        <a:srgbClr val="3CB4E6"/>
      </a:hlink>
      <a:folHlink>
        <a:srgbClr val="8191A5"/>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 [16-9].potx" id="{1D6C4797-0390-488F-934B-6361D727849A}" vid="{E0CC9EDB-CDC5-4C80-AA9A-B10AD2A9AA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f8c7287-838c-46dd-b281-b1140229e67a}" enabled="1" method="Privileged" siteId="{75e027c9-20d5-47d5-b82f-77d7cd041e8f}" contentBits="0" removed="0"/>
</clbl:labelList>
</file>

<file path=docProps/app.xml><?xml version="1.0" encoding="utf-8"?>
<Properties xmlns="http://schemas.openxmlformats.org/officeDocument/2006/extended-properties" xmlns:vt="http://schemas.openxmlformats.org/officeDocument/2006/docPropsVTypes">
  <Template>blank</Template>
  <TotalTime>807</TotalTime>
  <Words>4985</Words>
  <Application>Microsoft Office PowerPoint</Application>
  <PresentationFormat>Widescreen</PresentationFormat>
  <Paragraphs>616</Paragraphs>
  <Slides>41</Slides>
  <Notes>2</Notes>
  <HiddenSlides>1</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41</vt:i4>
      </vt:variant>
    </vt:vector>
  </HeadingPairs>
  <TitlesOfParts>
    <vt:vector size="47" baseType="lpstr">
      <vt:lpstr>Arial</vt:lpstr>
      <vt:lpstr>Calibri</vt:lpstr>
      <vt:lpstr>Cambria</vt:lpstr>
      <vt:lpstr>Consolas</vt:lpstr>
      <vt:lpstr>Courier New</vt:lpstr>
      <vt:lpstr>ST PowerPoint Template 16x9</vt:lpstr>
      <vt:lpstr>CAN Interface for Automation of the Dyno Bench </vt:lpstr>
      <vt:lpstr>Index of topics</vt:lpstr>
      <vt:lpstr>Objective of the work</vt:lpstr>
      <vt:lpstr>Validation of existing CAN library</vt:lpstr>
      <vt:lpstr>Architecture and offset rule</vt:lpstr>
      <vt:lpstr>Periodic diagnostics— Send_Status</vt:lpstr>
      <vt:lpstr>Transmission and Reception Mechanisms</vt:lpstr>
      <vt:lpstr>CAN Command Mapping</vt:lpstr>
      <vt:lpstr>Implemented Changes and Developments</vt:lpstr>
      <vt:lpstr>Command Handling Refactoring</vt:lpstr>
      <vt:lpstr>Code comparison — EXECUTE_COMMAND</vt:lpstr>
      <vt:lpstr>Independent control of I_d/I_q currents</vt:lpstr>
      <vt:lpstr>I_q Ramp</vt:lpstr>
      <vt:lpstr>I_d Ramp</vt:lpstr>
      <vt:lpstr>I_d Ramp — Implementation </vt:lpstr>
      <vt:lpstr>PI Registers Decoding</vt:lpstr>
      <vt:lpstr>Reading and Writing registers — UI_SetReg / UI_GetReg</vt:lpstr>
      <vt:lpstr>ACK/NACK and GET REG Response Separation</vt:lpstr>
      <vt:lpstr>Validation and Advanced Debugging</vt:lpstr>
      <vt:lpstr>PCAN-View &amp; TRACE32 Debugging</vt:lpstr>
      <vt:lpstr>PCAN-View Transmit Message List</vt:lpstr>
      <vt:lpstr>Hardware setup and basic diagnostics verification</vt:lpstr>
      <vt:lpstr>DW Protocol vs SR5E1 library Discrepancy</vt:lpstr>
      <vt:lpstr>DBC file</vt:lpstr>
      <vt:lpstr>What is the .DBC file used for?</vt:lpstr>
      <vt:lpstr>Examples of Parameters in CAN Messages</vt:lpstr>
      <vt:lpstr>Library Alignment — +0x30/+0x40 Offset</vt:lpstr>
      <vt:lpstr>Response messages and structural correction</vt:lpstr>
      <vt:lpstr>CANalyzer &amp; GUI Interface</vt:lpstr>
      <vt:lpstr>Connection architecture: CAN Bus to Python GUI</vt:lpstr>
      <vt:lpstr>CANalyzer</vt:lpstr>
      <vt:lpstr>Flow of commands and telemetry</vt:lpstr>
      <vt:lpstr>CAPL code</vt:lpstr>
      <vt:lpstr>Motor Control Panel</vt:lpstr>
      <vt:lpstr>Tab Speed Control</vt:lpstr>
      <vt:lpstr>PI Controller</vt:lpstr>
      <vt:lpstr>Tab Current Control</vt:lpstr>
      <vt:lpstr>Tab Live Charts</vt:lpstr>
      <vt:lpstr>Conclusions and results</vt:lpstr>
      <vt:lpstr>Presentazione standard di PowerPoint</vt:lpstr>
      <vt:lpstr>Presentazione standard di PowerPoint</vt:lpstr>
    </vt:vector>
  </TitlesOfParts>
  <Manager/>
  <Company>STMicroelectronics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Michele IMBARRATO</dc:creator>
  <cp:keywords/>
  <cp:lastModifiedBy>Michele Imbarrato</cp:lastModifiedBy>
  <cp:revision>18</cp:revision>
  <dcterms:created xsi:type="dcterms:W3CDTF">2026-06-16T19:07:37Z</dcterms:created>
  <dcterms:modified xsi:type="dcterms:W3CDTF">2026-08-29T17:25:20Z</dcterms:modified>
</cp:coreProperties>
</file>